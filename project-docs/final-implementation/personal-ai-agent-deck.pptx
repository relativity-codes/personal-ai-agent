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context: this is not a chatbot — it's an agent system that actually executes tasks across your tools. Today covers architecture, agent pipeline, MCP tools, and GCP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topics, roughly 90 seconds each. Deeper dives on the agent pipeline and GCP deployment sections — those are where the most recent engineering work landed.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differentiator is execution, not conversation. The agent decomposes requests, calls the right tools in dependency order, and returns structured output. No manual steps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runs in one container in production — FastAPI serves both the API and the Next.js static export. The LLM model is configurable via OPENROUTER_DEFAULT_MODEL env var.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between Action and Planner enables multi-step, dependency-aware execution — e.g., 'create Notion page' waits for calendar and PR tasks first. The Response agent was separated from the Managerial agent to keep prompts focused.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 Contract approach — where the planner sees live schemas and the action agent validates before calling — prevents the most common failure class: malformed LLM-generated tool arguments.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strict layers top-to-bottom: FastAPI entrypoint → API routers → core/db/services → agents + MCP tools. The lifespan handler initialises DB, Redis, OpenRouter client, and MCPAltRegistry at startup. Agents/ is the LangGraph graph; mcp_alt/ holds the FastMCP tool servers consumed by the action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routes total: 7 public, 13 protected behind Next.js middleware. Static export means no Node server in production — FastAPI serves the built files from ./static. Zustand handles global state; sonner provides toast feedback; the WebSocket at /ws/chat drives the real-time streaming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 is Google-only for user sign-in; MCP integrations use a separate OAuth flow per service. Swagger is live at /docs in every environment — useful for QA without a frontend.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Single container serves the entire product. Internal traffic stays on private IP via VPC connector. All secrets come from Secret Manager — never in plain env. URL from: terraform output -raw cloud_run_url.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Two-pass pattern is documented: placeholder URL first apply, then real URL after retrieving the Cloud Run URL, then re-apply. Migrations require VPC access — use Cloud Shell or a bastion.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validation gate is the most impactful change — surfaces schema mismatches before any external API is called. Combining live schema injection with validation closes the loop between what the planner generates and what the action agent can safely execute.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Separating prompts from code matters for a multi-agent system — intent classification, task decomposition, and response generation have very different requirements. Markdown makes them reviewable by non-engineers and easier to A/B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the core engineering is shipped. The remaining gaps are operational hardening (rate limits, monitoring) and new integrations. The Terraform module makes spinning up a new environment repeatable.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F3D"/>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6B6D4"/>
          </a:solidFill>
          <a:ln w="12700">
            <a:solidFill>
              <a:srgbClr val="06B6D4"/>
            </a:solidFill>
            <a:prstDash val="solid"/>
          </a:ln>
        </p:spPr>
      </p:sp>
      <p:sp>
        <p:nvSpPr>
          <p:cNvPr id="3" name="Shape 1"/>
          <p:cNvSpPr/>
          <p:nvPr/>
        </p:nvSpPr>
        <p:spPr>
          <a:xfrm>
            <a:off x="6858000" y="365760"/>
            <a:ext cx="73152" cy="73152"/>
          </a:xfrm>
          <a:prstGeom prst="oval">
            <a:avLst/>
          </a:prstGeom>
          <a:solidFill>
            <a:srgbClr val="06B6D4">
              <a:alpha val="30000"/>
            </a:srgbClr>
          </a:solidFill>
          <a:ln w="12700">
            <a:solidFill>
              <a:srgbClr val="06B6D4">
                <a:alpha val="30000"/>
              </a:srgbClr>
            </a:solidFill>
            <a:prstDash val="solid"/>
          </a:ln>
        </p:spPr>
      </p:sp>
      <p:sp>
        <p:nvSpPr>
          <p:cNvPr id="4" name="Shape 2"/>
          <p:cNvSpPr/>
          <p:nvPr/>
        </p:nvSpPr>
        <p:spPr>
          <a:xfrm>
            <a:off x="7178040" y="365760"/>
            <a:ext cx="73152" cy="73152"/>
          </a:xfrm>
          <a:prstGeom prst="oval">
            <a:avLst/>
          </a:prstGeom>
          <a:solidFill>
            <a:srgbClr val="06B6D4">
              <a:alpha val="30000"/>
            </a:srgbClr>
          </a:solidFill>
          <a:ln w="12700">
            <a:solidFill>
              <a:srgbClr val="06B6D4">
                <a:alpha val="30000"/>
              </a:srgbClr>
            </a:solidFill>
            <a:prstDash val="solid"/>
          </a:ln>
        </p:spPr>
      </p:sp>
      <p:sp>
        <p:nvSpPr>
          <p:cNvPr id="5" name="Shape 3"/>
          <p:cNvSpPr/>
          <p:nvPr/>
        </p:nvSpPr>
        <p:spPr>
          <a:xfrm>
            <a:off x="7498080" y="365760"/>
            <a:ext cx="73152" cy="73152"/>
          </a:xfrm>
          <a:prstGeom prst="oval">
            <a:avLst/>
          </a:prstGeom>
          <a:solidFill>
            <a:srgbClr val="06B6D4">
              <a:alpha val="30000"/>
            </a:srgbClr>
          </a:solidFill>
          <a:ln w="12700">
            <a:solidFill>
              <a:srgbClr val="06B6D4">
                <a:alpha val="30000"/>
              </a:srgbClr>
            </a:solidFill>
            <a:prstDash val="solid"/>
          </a:ln>
        </p:spPr>
      </p:sp>
      <p:sp>
        <p:nvSpPr>
          <p:cNvPr id="6" name="Shape 4"/>
          <p:cNvSpPr/>
          <p:nvPr/>
        </p:nvSpPr>
        <p:spPr>
          <a:xfrm>
            <a:off x="7818120" y="365760"/>
            <a:ext cx="73152" cy="73152"/>
          </a:xfrm>
          <a:prstGeom prst="oval">
            <a:avLst/>
          </a:prstGeom>
          <a:solidFill>
            <a:srgbClr val="06B6D4">
              <a:alpha val="30000"/>
            </a:srgbClr>
          </a:solidFill>
          <a:ln w="12700">
            <a:solidFill>
              <a:srgbClr val="06B6D4">
                <a:alpha val="30000"/>
              </a:srgbClr>
            </a:solidFill>
            <a:prstDash val="solid"/>
          </a:ln>
        </p:spPr>
      </p:sp>
      <p:sp>
        <p:nvSpPr>
          <p:cNvPr id="7" name="Shape 5"/>
          <p:cNvSpPr/>
          <p:nvPr/>
        </p:nvSpPr>
        <p:spPr>
          <a:xfrm>
            <a:off x="8138160" y="365760"/>
            <a:ext cx="73152" cy="73152"/>
          </a:xfrm>
          <a:prstGeom prst="oval">
            <a:avLst/>
          </a:prstGeom>
          <a:solidFill>
            <a:srgbClr val="06B6D4">
              <a:alpha val="30000"/>
            </a:srgbClr>
          </a:solidFill>
          <a:ln w="12700">
            <a:solidFill>
              <a:srgbClr val="06B6D4">
                <a:alpha val="30000"/>
              </a:srgbClr>
            </a:solidFill>
            <a:prstDash val="solid"/>
          </a:ln>
        </p:spPr>
      </p:sp>
      <p:sp>
        <p:nvSpPr>
          <p:cNvPr id="8" name="Shape 6"/>
          <p:cNvSpPr/>
          <p:nvPr/>
        </p:nvSpPr>
        <p:spPr>
          <a:xfrm>
            <a:off x="8458200" y="365760"/>
            <a:ext cx="73152" cy="73152"/>
          </a:xfrm>
          <a:prstGeom prst="oval">
            <a:avLst/>
          </a:prstGeom>
          <a:solidFill>
            <a:srgbClr val="06B6D4">
              <a:alpha val="30000"/>
            </a:srgbClr>
          </a:solidFill>
          <a:ln w="12700">
            <a:solidFill>
              <a:srgbClr val="06B6D4">
                <a:alpha val="30000"/>
              </a:srgbClr>
            </a:solidFill>
            <a:prstDash val="solid"/>
          </a:ln>
        </p:spPr>
      </p:sp>
      <p:sp>
        <p:nvSpPr>
          <p:cNvPr id="9" name="Shape 7"/>
          <p:cNvSpPr/>
          <p:nvPr/>
        </p:nvSpPr>
        <p:spPr>
          <a:xfrm>
            <a:off x="6858000" y="685800"/>
            <a:ext cx="73152" cy="73152"/>
          </a:xfrm>
          <a:prstGeom prst="oval">
            <a:avLst/>
          </a:prstGeom>
          <a:solidFill>
            <a:srgbClr val="06B6D4">
              <a:alpha val="30000"/>
            </a:srgbClr>
          </a:solidFill>
          <a:ln w="12700">
            <a:solidFill>
              <a:srgbClr val="06B6D4">
                <a:alpha val="30000"/>
              </a:srgbClr>
            </a:solidFill>
            <a:prstDash val="solid"/>
          </a:ln>
        </p:spPr>
      </p:sp>
      <p:sp>
        <p:nvSpPr>
          <p:cNvPr id="10" name="Shape 8"/>
          <p:cNvSpPr/>
          <p:nvPr/>
        </p:nvSpPr>
        <p:spPr>
          <a:xfrm>
            <a:off x="7178040" y="685800"/>
            <a:ext cx="73152" cy="73152"/>
          </a:xfrm>
          <a:prstGeom prst="oval">
            <a:avLst/>
          </a:prstGeom>
          <a:solidFill>
            <a:srgbClr val="06B6D4">
              <a:alpha val="30000"/>
            </a:srgbClr>
          </a:solidFill>
          <a:ln w="12700">
            <a:solidFill>
              <a:srgbClr val="06B6D4">
                <a:alpha val="30000"/>
              </a:srgbClr>
            </a:solidFill>
            <a:prstDash val="solid"/>
          </a:ln>
        </p:spPr>
      </p:sp>
      <p:sp>
        <p:nvSpPr>
          <p:cNvPr id="11" name="Shape 9"/>
          <p:cNvSpPr/>
          <p:nvPr/>
        </p:nvSpPr>
        <p:spPr>
          <a:xfrm>
            <a:off x="7498080" y="685800"/>
            <a:ext cx="73152" cy="73152"/>
          </a:xfrm>
          <a:prstGeom prst="oval">
            <a:avLst/>
          </a:prstGeom>
          <a:solidFill>
            <a:srgbClr val="06B6D4">
              <a:alpha val="30000"/>
            </a:srgbClr>
          </a:solidFill>
          <a:ln w="12700">
            <a:solidFill>
              <a:srgbClr val="06B6D4">
                <a:alpha val="30000"/>
              </a:srgbClr>
            </a:solidFill>
            <a:prstDash val="solid"/>
          </a:ln>
        </p:spPr>
      </p:sp>
      <p:sp>
        <p:nvSpPr>
          <p:cNvPr id="12" name="Shape 10"/>
          <p:cNvSpPr/>
          <p:nvPr/>
        </p:nvSpPr>
        <p:spPr>
          <a:xfrm>
            <a:off x="7818120" y="685800"/>
            <a:ext cx="73152" cy="73152"/>
          </a:xfrm>
          <a:prstGeom prst="oval">
            <a:avLst/>
          </a:prstGeom>
          <a:solidFill>
            <a:srgbClr val="06B6D4">
              <a:alpha val="30000"/>
            </a:srgbClr>
          </a:solidFill>
          <a:ln w="12700">
            <a:solidFill>
              <a:srgbClr val="06B6D4">
                <a:alpha val="30000"/>
              </a:srgbClr>
            </a:solidFill>
            <a:prstDash val="solid"/>
          </a:ln>
        </p:spPr>
      </p:sp>
      <p:sp>
        <p:nvSpPr>
          <p:cNvPr id="13" name="Shape 11"/>
          <p:cNvSpPr/>
          <p:nvPr/>
        </p:nvSpPr>
        <p:spPr>
          <a:xfrm>
            <a:off x="8138160" y="685800"/>
            <a:ext cx="73152" cy="73152"/>
          </a:xfrm>
          <a:prstGeom prst="oval">
            <a:avLst/>
          </a:prstGeom>
          <a:solidFill>
            <a:srgbClr val="06B6D4">
              <a:alpha val="30000"/>
            </a:srgbClr>
          </a:solidFill>
          <a:ln w="12700">
            <a:solidFill>
              <a:srgbClr val="06B6D4">
                <a:alpha val="30000"/>
              </a:srgbClr>
            </a:solidFill>
            <a:prstDash val="solid"/>
          </a:ln>
        </p:spPr>
      </p:sp>
      <p:sp>
        <p:nvSpPr>
          <p:cNvPr id="14" name="Shape 12"/>
          <p:cNvSpPr/>
          <p:nvPr/>
        </p:nvSpPr>
        <p:spPr>
          <a:xfrm>
            <a:off x="8458200" y="685800"/>
            <a:ext cx="73152" cy="73152"/>
          </a:xfrm>
          <a:prstGeom prst="oval">
            <a:avLst/>
          </a:prstGeom>
          <a:solidFill>
            <a:srgbClr val="06B6D4">
              <a:alpha val="30000"/>
            </a:srgbClr>
          </a:solidFill>
          <a:ln w="12700">
            <a:solidFill>
              <a:srgbClr val="06B6D4">
                <a:alpha val="30000"/>
              </a:srgbClr>
            </a:solidFill>
            <a:prstDash val="solid"/>
          </a:ln>
        </p:spPr>
      </p:sp>
      <p:sp>
        <p:nvSpPr>
          <p:cNvPr id="15" name="Shape 13"/>
          <p:cNvSpPr/>
          <p:nvPr/>
        </p:nvSpPr>
        <p:spPr>
          <a:xfrm>
            <a:off x="6858000" y="1005840"/>
            <a:ext cx="73152" cy="73152"/>
          </a:xfrm>
          <a:prstGeom prst="oval">
            <a:avLst/>
          </a:prstGeom>
          <a:solidFill>
            <a:srgbClr val="06B6D4">
              <a:alpha val="30000"/>
            </a:srgbClr>
          </a:solidFill>
          <a:ln w="12700">
            <a:solidFill>
              <a:srgbClr val="06B6D4">
                <a:alpha val="30000"/>
              </a:srgbClr>
            </a:solidFill>
            <a:prstDash val="solid"/>
          </a:ln>
        </p:spPr>
      </p:sp>
      <p:sp>
        <p:nvSpPr>
          <p:cNvPr id="16" name="Shape 14"/>
          <p:cNvSpPr/>
          <p:nvPr/>
        </p:nvSpPr>
        <p:spPr>
          <a:xfrm>
            <a:off x="7178040" y="1005840"/>
            <a:ext cx="73152" cy="73152"/>
          </a:xfrm>
          <a:prstGeom prst="oval">
            <a:avLst/>
          </a:prstGeom>
          <a:solidFill>
            <a:srgbClr val="06B6D4">
              <a:alpha val="30000"/>
            </a:srgbClr>
          </a:solidFill>
          <a:ln w="12700">
            <a:solidFill>
              <a:srgbClr val="06B6D4">
                <a:alpha val="30000"/>
              </a:srgbClr>
            </a:solidFill>
            <a:prstDash val="solid"/>
          </a:ln>
        </p:spPr>
      </p:sp>
      <p:sp>
        <p:nvSpPr>
          <p:cNvPr id="17" name="Shape 15"/>
          <p:cNvSpPr/>
          <p:nvPr/>
        </p:nvSpPr>
        <p:spPr>
          <a:xfrm>
            <a:off x="7498080" y="1005840"/>
            <a:ext cx="73152" cy="73152"/>
          </a:xfrm>
          <a:prstGeom prst="oval">
            <a:avLst/>
          </a:prstGeom>
          <a:solidFill>
            <a:srgbClr val="06B6D4">
              <a:alpha val="30000"/>
            </a:srgbClr>
          </a:solidFill>
          <a:ln w="12700">
            <a:solidFill>
              <a:srgbClr val="06B6D4">
                <a:alpha val="30000"/>
              </a:srgbClr>
            </a:solidFill>
            <a:prstDash val="solid"/>
          </a:ln>
        </p:spPr>
      </p:sp>
      <p:sp>
        <p:nvSpPr>
          <p:cNvPr id="18" name="Shape 16"/>
          <p:cNvSpPr/>
          <p:nvPr/>
        </p:nvSpPr>
        <p:spPr>
          <a:xfrm>
            <a:off x="7818120" y="1005840"/>
            <a:ext cx="73152" cy="73152"/>
          </a:xfrm>
          <a:prstGeom prst="oval">
            <a:avLst/>
          </a:prstGeom>
          <a:solidFill>
            <a:srgbClr val="06B6D4">
              <a:alpha val="30000"/>
            </a:srgbClr>
          </a:solidFill>
          <a:ln w="12700">
            <a:solidFill>
              <a:srgbClr val="06B6D4">
                <a:alpha val="30000"/>
              </a:srgbClr>
            </a:solidFill>
            <a:prstDash val="solid"/>
          </a:ln>
        </p:spPr>
      </p:sp>
      <p:sp>
        <p:nvSpPr>
          <p:cNvPr id="19" name="Shape 17"/>
          <p:cNvSpPr/>
          <p:nvPr/>
        </p:nvSpPr>
        <p:spPr>
          <a:xfrm>
            <a:off x="8138160" y="1005840"/>
            <a:ext cx="73152" cy="73152"/>
          </a:xfrm>
          <a:prstGeom prst="oval">
            <a:avLst/>
          </a:prstGeom>
          <a:solidFill>
            <a:srgbClr val="06B6D4">
              <a:alpha val="30000"/>
            </a:srgbClr>
          </a:solidFill>
          <a:ln w="12700">
            <a:solidFill>
              <a:srgbClr val="06B6D4">
                <a:alpha val="30000"/>
              </a:srgbClr>
            </a:solidFill>
            <a:prstDash val="solid"/>
          </a:ln>
        </p:spPr>
      </p:sp>
      <p:sp>
        <p:nvSpPr>
          <p:cNvPr id="20" name="Shape 18"/>
          <p:cNvSpPr/>
          <p:nvPr/>
        </p:nvSpPr>
        <p:spPr>
          <a:xfrm>
            <a:off x="8458200" y="1005840"/>
            <a:ext cx="73152" cy="73152"/>
          </a:xfrm>
          <a:prstGeom prst="oval">
            <a:avLst/>
          </a:prstGeom>
          <a:solidFill>
            <a:srgbClr val="06B6D4">
              <a:alpha val="30000"/>
            </a:srgbClr>
          </a:solidFill>
          <a:ln w="12700">
            <a:solidFill>
              <a:srgbClr val="06B6D4">
                <a:alpha val="30000"/>
              </a:srgbClr>
            </a:solidFill>
            <a:prstDash val="solid"/>
          </a:ln>
        </p:spPr>
      </p:sp>
      <p:sp>
        <p:nvSpPr>
          <p:cNvPr id="21" name="Shape 19"/>
          <p:cNvSpPr/>
          <p:nvPr/>
        </p:nvSpPr>
        <p:spPr>
          <a:xfrm>
            <a:off x="6858000" y="1325880"/>
            <a:ext cx="73152" cy="73152"/>
          </a:xfrm>
          <a:prstGeom prst="oval">
            <a:avLst/>
          </a:prstGeom>
          <a:solidFill>
            <a:srgbClr val="06B6D4">
              <a:alpha val="30000"/>
            </a:srgbClr>
          </a:solidFill>
          <a:ln w="12700">
            <a:solidFill>
              <a:srgbClr val="06B6D4">
                <a:alpha val="30000"/>
              </a:srgbClr>
            </a:solidFill>
            <a:prstDash val="solid"/>
          </a:ln>
        </p:spPr>
      </p:sp>
      <p:sp>
        <p:nvSpPr>
          <p:cNvPr id="22" name="Shape 20"/>
          <p:cNvSpPr/>
          <p:nvPr/>
        </p:nvSpPr>
        <p:spPr>
          <a:xfrm>
            <a:off x="7178040" y="1325880"/>
            <a:ext cx="73152" cy="73152"/>
          </a:xfrm>
          <a:prstGeom prst="oval">
            <a:avLst/>
          </a:prstGeom>
          <a:solidFill>
            <a:srgbClr val="06B6D4">
              <a:alpha val="30000"/>
            </a:srgbClr>
          </a:solidFill>
          <a:ln w="12700">
            <a:solidFill>
              <a:srgbClr val="06B6D4">
                <a:alpha val="30000"/>
              </a:srgbClr>
            </a:solidFill>
            <a:prstDash val="solid"/>
          </a:ln>
        </p:spPr>
      </p:sp>
      <p:sp>
        <p:nvSpPr>
          <p:cNvPr id="23" name="Shape 21"/>
          <p:cNvSpPr/>
          <p:nvPr/>
        </p:nvSpPr>
        <p:spPr>
          <a:xfrm>
            <a:off x="7498080" y="1325880"/>
            <a:ext cx="73152" cy="73152"/>
          </a:xfrm>
          <a:prstGeom prst="oval">
            <a:avLst/>
          </a:prstGeom>
          <a:solidFill>
            <a:srgbClr val="06B6D4">
              <a:alpha val="30000"/>
            </a:srgbClr>
          </a:solidFill>
          <a:ln w="12700">
            <a:solidFill>
              <a:srgbClr val="06B6D4">
                <a:alpha val="30000"/>
              </a:srgbClr>
            </a:solidFill>
            <a:prstDash val="solid"/>
          </a:ln>
        </p:spPr>
      </p:sp>
      <p:sp>
        <p:nvSpPr>
          <p:cNvPr id="24" name="Shape 22"/>
          <p:cNvSpPr/>
          <p:nvPr/>
        </p:nvSpPr>
        <p:spPr>
          <a:xfrm>
            <a:off x="7818120" y="1325880"/>
            <a:ext cx="73152" cy="73152"/>
          </a:xfrm>
          <a:prstGeom prst="oval">
            <a:avLst/>
          </a:prstGeom>
          <a:solidFill>
            <a:srgbClr val="06B6D4">
              <a:alpha val="30000"/>
            </a:srgbClr>
          </a:solidFill>
          <a:ln w="12700">
            <a:solidFill>
              <a:srgbClr val="06B6D4">
                <a:alpha val="30000"/>
              </a:srgbClr>
            </a:solidFill>
            <a:prstDash val="solid"/>
          </a:ln>
        </p:spPr>
      </p:sp>
      <p:sp>
        <p:nvSpPr>
          <p:cNvPr id="25" name="Shape 23"/>
          <p:cNvSpPr/>
          <p:nvPr/>
        </p:nvSpPr>
        <p:spPr>
          <a:xfrm>
            <a:off x="8138160" y="1325880"/>
            <a:ext cx="73152" cy="73152"/>
          </a:xfrm>
          <a:prstGeom prst="oval">
            <a:avLst/>
          </a:prstGeom>
          <a:solidFill>
            <a:srgbClr val="06B6D4">
              <a:alpha val="30000"/>
            </a:srgbClr>
          </a:solidFill>
          <a:ln w="12700">
            <a:solidFill>
              <a:srgbClr val="06B6D4">
                <a:alpha val="30000"/>
              </a:srgbClr>
            </a:solidFill>
            <a:prstDash val="solid"/>
          </a:ln>
        </p:spPr>
      </p:sp>
      <p:sp>
        <p:nvSpPr>
          <p:cNvPr id="26" name="Shape 24"/>
          <p:cNvSpPr/>
          <p:nvPr/>
        </p:nvSpPr>
        <p:spPr>
          <a:xfrm>
            <a:off x="8458200" y="1325880"/>
            <a:ext cx="73152" cy="73152"/>
          </a:xfrm>
          <a:prstGeom prst="oval">
            <a:avLst/>
          </a:prstGeom>
          <a:solidFill>
            <a:srgbClr val="06B6D4">
              <a:alpha val="30000"/>
            </a:srgbClr>
          </a:solidFill>
          <a:ln w="12700">
            <a:solidFill>
              <a:srgbClr val="06B6D4">
                <a:alpha val="30000"/>
              </a:srgbClr>
            </a:solidFill>
            <a:prstDash val="solid"/>
          </a:ln>
        </p:spPr>
      </p:sp>
      <p:sp>
        <p:nvSpPr>
          <p:cNvPr id="27" name="Text 25"/>
          <p:cNvSpPr/>
          <p:nvPr/>
        </p:nvSpPr>
        <p:spPr>
          <a:xfrm>
            <a:off x="457200" y="1097280"/>
            <a:ext cx="6858000" cy="914400"/>
          </a:xfrm>
          <a:prstGeom prst="rect">
            <a:avLst/>
          </a:prstGeom>
          <a:noFill/>
          <a:ln/>
        </p:spPr>
        <p:txBody>
          <a:bodyPr wrap="square"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Personal AI Agent</a:t>
            </a:r>
            <a:endParaRPr lang="en-US" sz="4200" dirty="0"/>
          </a:p>
        </p:txBody>
      </p:sp>
      <p:sp>
        <p:nvSpPr>
          <p:cNvPr id="28" name="Text 26"/>
          <p:cNvSpPr/>
          <p:nvPr/>
        </p:nvSpPr>
        <p:spPr>
          <a:xfrm>
            <a:off x="457200" y="2103120"/>
            <a:ext cx="6858000" cy="822960"/>
          </a:xfrm>
          <a:prstGeom prst="rect">
            <a:avLst/>
          </a:prstGeom>
          <a:noFill/>
          <a:ln/>
        </p:spPr>
        <p:txBody>
          <a:bodyPr wrap="square" rtlCol="0" anchor="ctr"/>
          <a:lstStyle/>
          <a:p>
            <a:pPr indent="0" marL="0">
              <a:buNone/>
            </a:pPr>
            <a:r>
              <a:rPr lang="en-US" sz="1700" dirty="0">
                <a:solidFill>
                  <a:srgbClr val="9ECFFF"/>
                </a:solidFill>
                <a:latin typeface="Calibri" pitchFamily="34" charset="0"/>
                <a:ea typeface="Calibri" pitchFamily="34" charset="-122"/>
                <a:cs typeface="Calibri" pitchFamily="34" charset="-120"/>
              </a:rPr>
              <a:t>A multi-agent system that executes cross-tool workflows</a:t>
            </a:r>
            <a:endParaRPr lang="en-US" sz="1700" dirty="0"/>
          </a:p>
          <a:p>
            <a:pPr indent="0" marL="0">
              <a:buNone/>
            </a:pPr>
            <a:r>
              <a:rPr lang="en-US" sz="1700" dirty="0">
                <a:solidFill>
                  <a:srgbClr val="9ECFFF"/>
                </a:solidFill>
                <a:latin typeface="Calibri" pitchFamily="34" charset="0"/>
                <a:ea typeface="Calibri" pitchFamily="34" charset="-122"/>
                <a:cs typeface="Calibri" pitchFamily="34" charset="-120"/>
              </a:rPr>
              <a:t>from natural language</a:t>
            </a:r>
            <a:endParaRPr lang="en-US" sz="1700" dirty="0"/>
          </a:p>
        </p:txBody>
      </p:sp>
      <p:sp>
        <p:nvSpPr>
          <p:cNvPr id="29" name="Shape 27"/>
          <p:cNvSpPr/>
          <p:nvPr/>
        </p:nvSpPr>
        <p:spPr>
          <a:xfrm>
            <a:off x="457200" y="3200400"/>
            <a:ext cx="2377440" cy="365760"/>
          </a:xfrm>
          <a:prstGeom prst="roundRect">
            <a:avLst>
              <a:gd name="adj" fmla="val 50000"/>
            </a:avLst>
          </a:prstGeom>
          <a:solidFill>
            <a:srgbClr val="1A56DB">
              <a:alpha val="30000"/>
            </a:srgbClr>
          </a:solidFill>
          <a:ln w="9525">
            <a:solidFill>
              <a:srgbClr val="06B6D4"/>
            </a:solidFill>
            <a:prstDash val="solid"/>
          </a:ln>
        </p:spPr>
      </p:sp>
      <p:sp>
        <p:nvSpPr>
          <p:cNvPr id="30" name="Text 28"/>
          <p:cNvSpPr/>
          <p:nvPr/>
        </p:nvSpPr>
        <p:spPr>
          <a:xfrm>
            <a:off x="457200" y="3200400"/>
            <a:ext cx="2377440" cy="365760"/>
          </a:xfrm>
          <a:prstGeom prst="rect">
            <a:avLst/>
          </a:prstGeom>
          <a:noFill/>
          <a:ln/>
        </p:spPr>
        <p:txBody>
          <a:bodyPr wrap="square" lIns="0" tIns="0" rIns="0" bIns="0" rtlCol="0" anchor="ctr"/>
          <a:lstStyle/>
          <a:p>
            <a:pPr algn="ctr" indent="0" marL="0">
              <a:buNone/>
            </a:pPr>
            <a:r>
              <a:rPr lang="en-US" sz="1100" b="1" dirty="0">
                <a:solidFill>
                  <a:srgbClr val="FFFFFF"/>
                </a:solidFill>
              </a:rPr>
              <a:t>FastAPI + LangGraph</a:t>
            </a:r>
            <a:endParaRPr lang="en-US" sz="1100" dirty="0"/>
          </a:p>
        </p:txBody>
      </p:sp>
      <p:sp>
        <p:nvSpPr>
          <p:cNvPr id="31" name="Shape 29"/>
          <p:cNvSpPr/>
          <p:nvPr/>
        </p:nvSpPr>
        <p:spPr>
          <a:xfrm>
            <a:off x="3017520" y="3200400"/>
            <a:ext cx="2377440" cy="365760"/>
          </a:xfrm>
          <a:prstGeom prst="roundRect">
            <a:avLst>
              <a:gd name="adj" fmla="val 50000"/>
            </a:avLst>
          </a:prstGeom>
          <a:solidFill>
            <a:srgbClr val="1A56DB">
              <a:alpha val="30000"/>
            </a:srgbClr>
          </a:solidFill>
          <a:ln w="9525">
            <a:solidFill>
              <a:srgbClr val="06B6D4"/>
            </a:solidFill>
            <a:prstDash val="solid"/>
          </a:ln>
        </p:spPr>
      </p:sp>
      <p:sp>
        <p:nvSpPr>
          <p:cNvPr id="32" name="Text 30"/>
          <p:cNvSpPr/>
          <p:nvPr/>
        </p:nvSpPr>
        <p:spPr>
          <a:xfrm>
            <a:off x="3017520" y="3200400"/>
            <a:ext cx="2377440" cy="365760"/>
          </a:xfrm>
          <a:prstGeom prst="rect">
            <a:avLst/>
          </a:prstGeom>
          <a:noFill/>
          <a:ln/>
        </p:spPr>
        <p:txBody>
          <a:bodyPr wrap="square" lIns="0" tIns="0" rIns="0" bIns="0" rtlCol="0" anchor="ctr"/>
          <a:lstStyle/>
          <a:p>
            <a:pPr algn="ctr" indent="0" marL="0">
              <a:buNone/>
            </a:pPr>
            <a:r>
              <a:rPr lang="en-US" sz="1100" b="1" dirty="0">
                <a:solidFill>
                  <a:srgbClr val="FFFFFF"/>
                </a:solidFill>
              </a:rPr>
              <a:t>Next.js Frontend</a:t>
            </a:r>
            <a:endParaRPr lang="en-US" sz="1100" dirty="0"/>
          </a:p>
        </p:txBody>
      </p:sp>
      <p:sp>
        <p:nvSpPr>
          <p:cNvPr id="33" name="Shape 31"/>
          <p:cNvSpPr/>
          <p:nvPr/>
        </p:nvSpPr>
        <p:spPr>
          <a:xfrm>
            <a:off x="5577840" y="3200400"/>
            <a:ext cx="2377440" cy="365760"/>
          </a:xfrm>
          <a:prstGeom prst="roundRect">
            <a:avLst>
              <a:gd name="adj" fmla="val 50000"/>
            </a:avLst>
          </a:prstGeom>
          <a:solidFill>
            <a:srgbClr val="1A56DB">
              <a:alpha val="30000"/>
            </a:srgbClr>
          </a:solidFill>
          <a:ln w="9525">
            <a:solidFill>
              <a:srgbClr val="06B6D4"/>
            </a:solidFill>
            <a:prstDash val="solid"/>
          </a:ln>
        </p:spPr>
      </p:sp>
      <p:sp>
        <p:nvSpPr>
          <p:cNvPr id="34" name="Text 32"/>
          <p:cNvSpPr/>
          <p:nvPr/>
        </p:nvSpPr>
        <p:spPr>
          <a:xfrm>
            <a:off x="5577840" y="3200400"/>
            <a:ext cx="2377440" cy="365760"/>
          </a:xfrm>
          <a:prstGeom prst="rect">
            <a:avLst/>
          </a:prstGeom>
          <a:noFill/>
          <a:ln/>
        </p:spPr>
        <p:txBody>
          <a:bodyPr wrap="square" lIns="0" tIns="0" rIns="0" bIns="0" rtlCol="0" anchor="ctr"/>
          <a:lstStyle/>
          <a:p>
            <a:pPr algn="ctr" indent="0" marL="0">
              <a:buNone/>
            </a:pPr>
            <a:r>
              <a:rPr lang="en-US" sz="1100" b="1" dirty="0">
                <a:solidFill>
                  <a:srgbClr val="FFFFFF"/>
                </a:solidFill>
              </a:rPr>
              <a:t>GCP Cloud Run</a:t>
            </a:r>
            <a:endParaRPr lang="en-US" sz="1100" dirty="0"/>
          </a:p>
        </p:txBody>
      </p:sp>
      <p:sp>
        <p:nvSpPr>
          <p:cNvPr id="35" name="Text 33"/>
          <p:cNvSpPr/>
          <p:nvPr/>
        </p:nvSpPr>
        <p:spPr>
          <a:xfrm>
            <a:off x="457200" y="4663440"/>
            <a:ext cx="8229600" cy="274320"/>
          </a:xfrm>
          <a:prstGeom prst="rect">
            <a:avLst/>
          </a:prstGeom>
          <a:noFill/>
          <a:ln/>
        </p:spPr>
        <p:txBody>
          <a:bodyPr wrap="square" rtlCol="0" anchor="ctr"/>
          <a:lstStyle/>
          <a:p>
            <a:pPr algn="l" indent="0" marL="0">
              <a:buNone/>
            </a:pPr>
            <a:r>
              <a:rPr lang="en-US" sz="1000" dirty="0">
                <a:solidFill>
                  <a:srgbClr val="94A3B8"/>
                </a:solidFill>
              </a:rPr>
              <a:t>Version 3.0  ·  Internal Engineering Overview</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11480" y="201168"/>
            <a:ext cx="1645920" cy="256032"/>
          </a:xfrm>
          <a:prstGeom prst="roundRect">
            <a:avLst>
              <a:gd name="adj" fmla="val 50000"/>
            </a:avLst>
          </a:prstGeom>
          <a:solidFill>
            <a:srgbClr val="1A56DB">
              <a:alpha val="15000"/>
            </a:srgbClr>
          </a:solidFill>
          <a:ln w="6350">
            <a:solidFill>
              <a:srgbClr val="1A56DB"/>
            </a:solidFill>
            <a:prstDash val="solid"/>
          </a:ln>
        </p:spPr>
      </p:sp>
      <p:sp>
        <p:nvSpPr>
          <p:cNvPr id="3" name="Text 1"/>
          <p:cNvSpPr/>
          <p:nvPr/>
        </p:nvSpPr>
        <p:spPr>
          <a:xfrm>
            <a:off x="411480" y="201168"/>
            <a:ext cx="1645920" cy="256032"/>
          </a:xfrm>
          <a:prstGeom prst="rect">
            <a:avLst/>
          </a:prstGeom>
          <a:noFill/>
          <a:ln/>
        </p:spPr>
        <p:txBody>
          <a:bodyPr wrap="square" lIns="0" tIns="0" rIns="0" bIns="0" rtlCol="0" anchor="ctr"/>
          <a:lstStyle/>
          <a:p>
            <a:pPr algn="ctr" indent="0" marL="0">
              <a:buNone/>
            </a:pPr>
            <a:r>
              <a:rPr lang="en-US" sz="900" b="1" dirty="0">
                <a:solidFill>
                  <a:srgbClr val="1A56DB"/>
                </a:solidFill>
              </a:rPr>
              <a:t>AGENDA</a:t>
            </a:r>
            <a:endParaRPr lang="en-US" sz="900" dirty="0"/>
          </a:p>
        </p:txBody>
      </p:sp>
      <p:sp>
        <p:nvSpPr>
          <p:cNvPr id="4" name="Text 2"/>
          <p:cNvSpPr/>
          <p:nvPr/>
        </p:nvSpPr>
        <p:spPr>
          <a:xfrm>
            <a:off x="411480" y="502920"/>
            <a:ext cx="8321040" cy="640080"/>
          </a:xfrm>
          <a:prstGeom prst="rect">
            <a:avLst/>
          </a:prstGeom>
          <a:noFill/>
          <a:ln/>
        </p:spPr>
        <p:txBody>
          <a:bodyPr wrap="square" rtlCol="0" anchor="ctr"/>
          <a:lstStyle/>
          <a:p>
            <a:pPr indent="0" marL="0">
              <a:buNone/>
            </a:pPr>
            <a:r>
              <a:rPr lang="en-US" sz="3000" b="1" dirty="0">
                <a:solidFill>
                  <a:srgbClr val="1E293B"/>
                </a:solidFill>
              </a:rPr>
              <a:t>What We'll Cover</a:t>
            </a:r>
            <a:endParaRPr lang="en-US" sz="3000" dirty="0"/>
          </a:p>
        </p:txBody>
      </p:sp>
      <p:sp>
        <p:nvSpPr>
          <p:cNvPr id="5" name="Shape 3"/>
          <p:cNvSpPr/>
          <p:nvPr/>
        </p:nvSpPr>
        <p:spPr>
          <a:xfrm>
            <a:off x="411480" y="1280160"/>
            <a:ext cx="4023360" cy="749808"/>
          </a:xfrm>
          <a:prstGeom prst="rect">
            <a:avLst/>
          </a:prstGeom>
          <a:solidFill>
            <a:srgbClr val="FFFFFF"/>
          </a:solidFill>
          <a:ln w="6350">
            <a:solidFill>
              <a:srgbClr val="E2E8F0"/>
            </a:solidFill>
            <a:prstDash val="solid"/>
          </a:ln>
        </p:spPr>
      </p:sp>
      <p:sp>
        <p:nvSpPr>
          <p:cNvPr id="6" name="Shape 4"/>
          <p:cNvSpPr/>
          <p:nvPr/>
        </p:nvSpPr>
        <p:spPr>
          <a:xfrm>
            <a:off x="521208" y="1444752"/>
            <a:ext cx="384048" cy="384048"/>
          </a:xfrm>
          <a:prstGeom prst="roundRect">
            <a:avLst>
              <a:gd name="adj" fmla="val 50000"/>
            </a:avLst>
          </a:prstGeom>
          <a:solidFill>
            <a:srgbClr val="1A56DB"/>
          </a:solidFill>
          <a:ln w="12700">
            <a:solidFill>
              <a:srgbClr val="1A56DB"/>
            </a:solidFill>
            <a:prstDash val="solid"/>
          </a:ln>
        </p:spPr>
      </p:sp>
      <p:sp>
        <p:nvSpPr>
          <p:cNvPr id="7" name="Text 5"/>
          <p:cNvSpPr/>
          <p:nvPr/>
        </p:nvSpPr>
        <p:spPr>
          <a:xfrm>
            <a:off x="521208" y="1444752"/>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rPr>
              <a:t>01</a:t>
            </a:r>
            <a:endParaRPr lang="en-US" sz="1000" dirty="0"/>
          </a:p>
        </p:txBody>
      </p:sp>
      <p:sp>
        <p:nvSpPr>
          <p:cNvPr id="8" name="Text 6"/>
          <p:cNvSpPr/>
          <p:nvPr/>
        </p:nvSpPr>
        <p:spPr>
          <a:xfrm>
            <a:off x="1005840" y="1371600"/>
            <a:ext cx="3337560" cy="274320"/>
          </a:xfrm>
          <a:prstGeom prst="rect">
            <a:avLst/>
          </a:prstGeom>
          <a:noFill/>
          <a:ln/>
        </p:spPr>
        <p:txBody>
          <a:bodyPr wrap="square" rtlCol="0" anchor="ctr"/>
          <a:lstStyle/>
          <a:p>
            <a:pPr indent="0" marL="0">
              <a:buNone/>
            </a:pPr>
            <a:r>
              <a:rPr lang="en-US" sz="1200" b="1" dirty="0">
                <a:solidFill>
                  <a:srgbClr val="1E293B"/>
                </a:solidFill>
              </a:rPr>
              <a:t>Problem &amp; Positioning</a:t>
            </a:r>
            <a:endParaRPr lang="en-US" sz="1200" dirty="0"/>
          </a:p>
        </p:txBody>
      </p:sp>
      <p:sp>
        <p:nvSpPr>
          <p:cNvPr id="9" name="Text 7"/>
          <p:cNvSpPr/>
          <p:nvPr/>
        </p:nvSpPr>
        <p:spPr>
          <a:xfrm>
            <a:off x="1005840" y="1664208"/>
            <a:ext cx="3337560" cy="256032"/>
          </a:xfrm>
          <a:prstGeom prst="rect">
            <a:avLst/>
          </a:prstGeom>
          <a:noFill/>
          <a:ln/>
        </p:spPr>
        <p:txBody>
          <a:bodyPr wrap="square" rtlCol="0" anchor="ctr"/>
          <a:lstStyle/>
          <a:p>
            <a:pPr indent="0" marL="0">
              <a:buNone/>
            </a:pPr>
            <a:r>
              <a:rPr lang="en-US" sz="1000" dirty="0">
                <a:solidFill>
                  <a:srgbClr val="94A3B8"/>
                </a:solidFill>
              </a:rPr>
              <a:t>Why this system exists</a:t>
            </a:r>
            <a:endParaRPr lang="en-US" sz="1000" dirty="0"/>
          </a:p>
        </p:txBody>
      </p:sp>
      <p:sp>
        <p:nvSpPr>
          <p:cNvPr id="10" name="Shape 8"/>
          <p:cNvSpPr/>
          <p:nvPr/>
        </p:nvSpPr>
        <p:spPr>
          <a:xfrm>
            <a:off x="411480" y="2148840"/>
            <a:ext cx="4023360" cy="749808"/>
          </a:xfrm>
          <a:prstGeom prst="rect">
            <a:avLst/>
          </a:prstGeom>
          <a:solidFill>
            <a:srgbClr val="FFFFFF"/>
          </a:solidFill>
          <a:ln w="6350">
            <a:solidFill>
              <a:srgbClr val="E2E8F0"/>
            </a:solidFill>
            <a:prstDash val="solid"/>
          </a:ln>
        </p:spPr>
      </p:sp>
      <p:sp>
        <p:nvSpPr>
          <p:cNvPr id="11" name="Shape 9"/>
          <p:cNvSpPr/>
          <p:nvPr/>
        </p:nvSpPr>
        <p:spPr>
          <a:xfrm>
            <a:off x="521208" y="2313432"/>
            <a:ext cx="384048" cy="384048"/>
          </a:xfrm>
          <a:prstGeom prst="roundRect">
            <a:avLst>
              <a:gd name="adj" fmla="val 50000"/>
            </a:avLst>
          </a:prstGeom>
          <a:solidFill>
            <a:srgbClr val="1A56DB"/>
          </a:solidFill>
          <a:ln w="12700">
            <a:solidFill>
              <a:srgbClr val="1A56DB"/>
            </a:solidFill>
            <a:prstDash val="solid"/>
          </a:ln>
        </p:spPr>
      </p:sp>
      <p:sp>
        <p:nvSpPr>
          <p:cNvPr id="12" name="Text 10"/>
          <p:cNvSpPr/>
          <p:nvPr/>
        </p:nvSpPr>
        <p:spPr>
          <a:xfrm>
            <a:off x="521208" y="2313432"/>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rPr>
              <a:t>02</a:t>
            </a:r>
            <a:endParaRPr lang="en-US" sz="1000" dirty="0"/>
          </a:p>
        </p:txBody>
      </p:sp>
      <p:sp>
        <p:nvSpPr>
          <p:cNvPr id="13" name="Text 11"/>
          <p:cNvSpPr/>
          <p:nvPr/>
        </p:nvSpPr>
        <p:spPr>
          <a:xfrm>
            <a:off x="1005840" y="2240280"/>
            <a:ext cx="3337560" cy="274320"/>
          </a:xfrm>
          <a:prstGeom prst="rect">
            <a:avLst/>
          </a:prstGeom>
          <a:noFill/>
          <a:ln/>
        </p:spPr>
        <p:txBody>
          <a:bodyPr wrap="square" rtlCol="0" anchor="ctr"/>
          <a:lstStyle/>
          <a:p>
            <a:pPr indent="0" marL="0">
              <a:buNone/>
            </a:pPr>
            <a:r>
              <a:rPr lang="en-US" sz="1200" b="1" dirty="0">
                <a:solidFill>
                  <a:srgbClr val="1E293B"/>
                </a:solidFill>
              </a:rPr>
              <a:t>Technology Stack</a:t>
            </a:r>
            <a:endParaRPr lang="en-US" sz="1200" dirty="0"/>
          </a:p>
        </p:txBody>
      </p:sp>
      <p:sp>
        <p:nvSpPr>
          <p:cNvPr id="14" name="Text 12"/>
          <p:cNvSpPr/>
          <p:nvPr/>
        </p:nvSpPr>
        <p:spPr>
          <a:xfrm>
            <a:off x="1005840" y="2532888"/>
            <a:ext cx="3337560" cy="256032"/>
          </a:xfrm>
          <a:prstGeom prst="rect">
            <a:avLst/>
          </a:prstGeom>
          <a:noFill/>
          <a:ln/>
        </p:spPr>
        <p:txBody>
          <a:bodyPr wrap="square" rtlCol="0" anchor="ctr"/>
          <a:lstStyle/>
          <a:p>
            <a:pPr indent="0" marL="0">
              <a:buNone/>
            </a:pPr>
            <a:r>
              <a:rPr lang="en-US" sz="1000" dirty="0">
                <a:solidFill>
                  <a:srgbClr val="94A3B8"/>
                </a:solidFill>
              </a:rPr>
              <a:t>Next.js · FastAPI · LangGraph · OpenRouter</a:t>
            </a:r>
            <a:endParaRPr lang="en-US" sz="1000" dirty="0"/>
          </a:p>
        </p:txBody>
      </p:sp>
      <p:sp>
        <p:nvSpPr>
          <p:cNvPr id="15" name="Shape 13"/>
          <p:cNvSpPr/>
          <p:nvPr/>
        </p:nvSpPr>
        <p:spPr>
          <a:xfrm>
            <a:off x="411480" y="3017520"/>
            <a:ext cx="4023360" cy="749808"/>
          </a:xfrm>
          <a:prstGeom prst="rect">
            <a:avLst/>
          </a:prstGeom>
          <a:solidFill>
            <a:srgbClr val="FFFFFF"/>
          </a:solidFill>
          <a:ln w="6350">
            <a:solidFill>
              <a:srgbClr val="E2E8F0"/>
            </a:solidFill>
            <a:prstDash val="solid"/>
          </a:ln>
        </p:spPr>
      </p:sp>
      <p:sp>
        <p:nvSpPr>
          <p:cNvPr id="16" name="Shape 14"/>
          <p:cNvSpPr/>
          <p:nvPr/>
        </p:nvSpPr>
        <p:spPr>
          <a:xfrm>
            <a:off x="521208" y="3182112"/>
            <a:ext cx="384048" cy="384048"/>
          </a:xfrm>
          <a:prstGeom prst="roundRect">
            <a:avLst>
              <a:gd name="adj" fmla="val 50000"/>
            </a:avLst>
          </a:prstGeom>
          <a:solidFill>
            <a:srgbClr val="1A56DB"/>
          </a:solidFill>
          <a:ln w="12700">
            <a:solidFill>
              <a:srgbClr val="1A56DB"/>
            </a:solidFill>
            <a:prstDash val="solid"/>
          </a:ln>
        </p:spPr>
      </p:sp>
      <p:sp>
        <p:nvSpPr>
          <p:cNvPr id="17" name="Text 15"/>
          <p:cNvSpPr/>
          <p:nvPr/>
        </p:nvSpPr>
        <p:spPr>
          <a:xfrm>
            <a:off x="521208" y="3182112"/>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rPr>
              <a:t>03</a:t>
            </a:r>
            <a:endParaRPr lang="en-US" sz="1000" dirty="0"/>
          </a:p>
        </p:txBody>
      </p:sp>
      <p:sp>
        <p:nvSpPr>
          <p:cNvPr id="18" name="Text 16"/>
          <p:cNvSpPr/>
          <p:nvPr/>
        </p:nvSpPr>
        <p:spPr>
          <a:xfrm>
            <a:off x="1005840" y="3108960"/>
            <a:ext cx="3337560" cy="274320"/>
          </a:xfrm>
          <a:prstGeom prst="rect">
            <a:avLst/>
          </a:prstGeom>
          <a:noFill/>
          <a:ln/>
        </p:spPr>
        <p:txBody>
          <a:bodyPr wrap="square" rtlCol="0" anchor="ctr"/>
          <a:lstStyle/>
          <a:p>
            <a:pPr indent="0" marL="0">
              <a:buNone/>
            </a:pPr>
            <a:r>
              <a:rPr lang="en-US" sz="1200" b="1" dirty="0">
                <a:solidFill>
                  <a:srgbClr val="1E293B"/>
                </a:solidFill>
              </a:rPr>
              <a:t>Agent Pipeline</a:t>
            </a:r>
            <a:endParaRPr lang="en-US" sz="1200" dirty="0"/>
          </a:p>
        </p:txBody>
      </p:sp>
      <p:sp>
        <p:nvSpPr>
          <p:cNvPr id="19" name="Text 17"/>
          <p:cNvSpPr/>
          <p:nvPr/>
        </p:nvSpPr>
        <p:spPr>
          <a:xfrm>
            <a:off x="1005840" y="3401568"/>
            <a:ext cx="3337560" cy="256032"/>
          </a:xfrm>
          <a:prstGeom prst="rect">
            <a:avLst/>
          </a:prstGeom>
          <a:noFill/>
          <a:ln/>
        </p:spPr>
        <p:txBody>
          <a:bodyPr wrap="square" rtlCol="0" anchor="ctr"/>
          <a:lstStyle/>
          <a:p>
            <a:pPr indent="0" marL="0">
              <a:buNone/>
            </a:pPr>
            <a:r>
              <a:rPr lang="en-US" sz="1000" dirty="0">
                <a:solidFill>
                  <a:srgbClr val="94A3B8"/>
                </a:solidFill>
              </a:rPr>
              <a:t>5-node LangGraph state machine</a:t>
            </a:r>
            <a:endParaRPr lang="en-US" sz="1000" dirty="0"/>
          </a:p>
        </p:txBody>
      </p:sp>
      <p:sp>
        <p:nvSpPr>
          <p:cNvPr id="20" name="Shape 18"/>
          <p:cNvSpPr/>
          <p:nvPr/>
        </p:nvSpPr>
        <p:spPr>
          <a:xfrm>
            <a:off x="411480" y="3886200"/>
            <a:ext cx="4023360" cy="749808"/>
          </a:xfrm>
          <a:prstGeom prst="rect">
            <a:avLst/>
          </a:prstGeom>
          <a:solidFill>
            <a:srgbClr val="FFFFFF"/>
          </a:solidFill>
          <a:ln w="6350">
            <a:solidFill>
              <a:srgbClr val="E2E8F0"/>
            </a:solidFill>
            <a:prstDash val="solid"/>
          </a:ln>
        </p:spPr>
      </p:sp>
      <p:sp>
        <p:nvSpPr>
          <p:cNvPr id="21" name="Shape 19"/>
          <p:cNvSpPr/>
          <p:nvPr/>
        </p:nvSpPr>
        <p:spPr>
          <a:xfrm>
            <a:off x="521208" y="4050792"/>
            <a:ext cx="384048" cy="384048"/>
          </a:xfrm>
          <a:prstGeom prst="roundRect">
            <a:avLst>
              <a:gd name="adj" fmla="val 50000"/>
            </a:avLst>
          </a:prstGeom>
          <a:solidFill>
            <a:srgbClr val="1A56DB"/>
          </a:solidFill>
          <a:ln w="12700">
            <a:solidFill>
              <a:srgbClr val="1A56DB"/>
            </a:solidFill>
            <a:prstDash val="solid"/>
          </a:ln>
        </p:spPr>
      </p:sp>
      <p:sp>
        <p:nvSpPr>
          <p:cNvPr id="22" name="Text 20"/>
          <p:cNvSpPr/>
          <p:nvPr/>
        </p:nvSpPr>
        <p:spPr>
          <a:xfrm>
            <a:off x="521208" y="4050792"/>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rPr>
              <a:t>04</a:t>
            </a:r>
            <a:endParaRPr lang="en-US" sz="1000" dirty="0"/>
          </a:p>
        </p:txBody>
      </p:sp>
      <p:sp>
        <p:nvSpPr>
          <p:cNvPr id="23" name="Text 21"/>
          <p:cNvSpPr/>
          <p:nvPr/>
        </p:nvSpPr>
        <p:spPr>
          <a:xfrm>
            <a:off x="1005840" y="3977640"/>
            <a:ext cx="3337560" cy="274320"/>
          </a:xfrm>
          <a:prstGeom prst="rect">
            <a:avLst/>
          </a:prstGeom>
          <a:noFill/>
          <a:ln/>
        </p:spPr>
        <p:txBody>
          <a:bodyPr wrap="square" rtlCol="0" anchor="ctr"/>
          <a:lstStyle/>
          <a:p>
            <a:pPr indent="0" marL="0">
              <a:buNone/>
            </a:pPr>
            <a:r>
              <a:rPr lang="en-US" sz="1200" b="1" dirty="0">
                <a:solidFill>
                  <a:srgbClr val="1E293B"/>
                </a:solidFill>
              </a:rPr>
              <a:t>MCP Tool Integrations</a:t>
            </a:r>
            <a:endParaRPr lang="en-US" sz="1200" dirty="0"/>
          </a:p>
        </p:txBody>
      </p:sp>
      <p:sp>
        <p:nvSpPr>
          <p:cNvPr id="24" name="Text 22"/>
          <p:cNvSpPr/>
          <p:nvPr/>
        </p:nvSpPr>
        <p:spPr>
          <a:xfrm>
            <a:off x="1005840" y="4270248"/>
            <a:ext cx="3337560" cy="256032"/>
          </a:xfrm>
          <a:prstGeom prst="rect">
            <a:avLst/>
          </a:prstGeom>
          <a:noFill/>
          <a:ln/>
        </p:spPr>
        <p:txBody>
          <a:bodyPr wrap="square" rtlCol="0" anchor="ctr"/>
          <a:lstStyle/>
          <a:p>
            <a:pPr indent="0" marL="0">
              <a:buNone/>
            </a:pPr>
            <a:r>
              <a:rPr lang="en-US" sz="1000" dirty="0">
                <a:solidFill>
                  <a:srgbClr val="94A3B8"/>
                </a:solidFill>
              </a:rPr>
              <a:t>GitHub · Notion · Calendar · Gmail</a:t>
            </a:r>
            <a:endParaRPr lang="en-US" sz="1000" dirty="0"/>
          </a:p>
        </p:txBody>
      </p:sp>
      <p:sp>
        <p:nvSpPr>
          <p:cNvPr id="25" name="Shape 23"/>
          <p:cNvSpPr/>
          <p:nvPr/>
        </p:nvSpPr>
        <p:spPr>
          <a:xfrm>
            <a:off x="4709160" y="1280160"/>
            <a:ext cx="4023360" cy="749808"/>
          </a:xfrm>
          <a:prstGeom prst="rect">
            <a:avLst/>
          </a:prstGeom>
          <a:solidFill>
            <a:srgbClr val="FFFFFF"/>
          </a:solidFill>
          <a:ln w="6350">
            <a:solidFill>
              <a:srgbClr val="E2E8F0"/>
            </a:solidFill>
            <a:prstDash val="solid"/>
          </a:ln>
        </p:spPr>
      </p:sp>
      <p:sp>
        <p:nvSpPr>
          <p:cNvPr id="26" name="Shape 24"/>
          <p:cNvSpPr/>
          <p:nvPr/>
        </p:nvSpPr>
        <p:spPr>
          <a:xfrm>
            <a:off x="4818888" y="1444752"/>
            <a:ext cx="384048" cy="384048"/>
          </a:xfrm>
          <a:prstGeom prst="roundRect">
            <a:avLst>
              <a:gd name="adj" fmla="val 50000"/>
            </a:avLst>
          </a:prstGeom>
          <a:solidFill>
            <a:srgbClr val="1A56DB"/>
          </a:solidFill>
          <a:ln w="12700">
            <a:solidFill>
              <a:srgbClr val="1A56DB"/>
            </a:solidFill>
            <a:prstDash val="solid"/>
          </a:ln>
        </p:spPr>
      </p:sp>
      <p:sp>
        <p:nvSpPr>
          <p:cNvPr id="27" name="Text 25"/>
          <p:cNvSpPr/>
          <p:nvPr/>
        </p:nvSpPr>
        <p:spPr>
          <a:xfrm>
            <a:off x="4818888" y="1444752"/>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rPr>
              <a:t>05</a:t>
            </a:r>
            <a:endParaRPr lang="en-US" sz="1000" dirty="0"/>
          </a:p>
        </p:txBody>
      </p:sp>
      <p:sp>
        <p:nvSpPr>
          <p:cNvPr id="28" name="Text 26"/>
          <p:cNvSpPr/>
          <p:nvPr/>
        </p:nvSpPr>
        <p:spPr>
          <a:xfrm>
            <a:off x="5303520" y="1371600"/>
            <a:ext cx="3337560" cy="274320"/>
          </a:xfrm>
          <a:prstGeom prst="rect">
            <a:avLst/>
          </a:prstGeom>
          <a:noFill/>
          <a:ln/>
        </p:spPr>
        <p:txBody>
          <a:bodyPr wrap="square" rtlCol="0" anchor="ctr"/>
          <a:lstStyle/>
          <a:p>
            <a:pPr indent="0" marL="0">
              <a:buNone/>
            </a:pPr>
            <a:r>
              <a:rPr lang="en-US" sz="1200" b="1" dirty="0">
                <a:solidFill>
                  <a:srgbClr val="1E293B"/>
                </a:solidFill>
              </a:rPr>
              <a:t>Auth &amp; API Design</a:t>
            </a:r>
            <a:endParaRPr lang="en-US" sz="1200" dirty="0"/>
          </a:p>
        </p:txBody>
      </p:sp>
      <p:sp>
        <p:nvSpPr>
          <p:cNvPr id="29" name="Text 27"/>
          <p:cNvSpPr/>
          <p:nvPr/>
        </p:nvSpPr>
        <p:spPr>
          <a:xfrm>
            <a:off x="5303520" y="1664208"/>
            <a:ext cx="3337560" cy="256032"/>
          </a:xfrm>
          <a:prstGeom prst="rect">
            <a:avLst/>
          </a:prstGeom>
          <a:noFill/>
          <a:ln/>
        </p:spPr>
        <p:txBody>
          <a:bodyPr wrap="square" rtlCol="0" anchor="ctr"/>
          <a:lstStyle/>
          <a:p>
            <a:pPr indent="0" marL="0">
              <a:buNone/>
            </a:pPr>
            <a:r>
              <a:rPr lang="en-US" sz="1000" dirty="0">
                <a:solidFill>
                  <a:srgbClr val="94A3B8"/>
                </a:solidFill>
              </a:rPr>
              <a:t>Google OAuth → JWT · REST + WebSocket</a:t>
            </a:r>
            <a:endParaRPr lang="en-US" sz="1000" dirty="0"/>
          </a:p>
        </p:txBody>
      </p:sp>
      <p:sp>
        <p:nvSpPr>
          <p:cNvPr id="30" name="Shape 28"/>
          <p:cNvSpPr/>
          <p:nvPr/>
        </p:nvSpPr>
        <p:spPr>
          <a:xfrm>
            <a:off x="4709160" y="2148840"/>
            <a:ext cx="4023360" cy="749808"/>
          </a:xfrm>
          <a:prstGeom prst="rect">
            <a:avLst/>
          </a:prstGeom>
          <a:solidFill>
            <a:srgbClr val="FFFFFF"/>
          </a:solidFill>
          <a:ln w="6350">
            <a:solidFill>
              <a:srgbClr val="E2E8F0"/>
            </a:solidFill>
            <a:prstDash val="solid"/>
          </a:ln>
        </p:spPr>
      </p:sp>
      <p:sp>
        <p:nvSpPr>
          <p:cNvPr id="31" name="Shape 29"/>
          <p:cNvSpPr/>
          <p:nvPr/>
        </p:nvSpPr>
        <p:spPr>
          <a:xfrm>
            <a:off x="4818888" y="2313432"/>
            <a:ext cx="384048" cy="384048"/>
          </a:xfrm>
          <a:prstGeom prst="roundRect">
            <a:avLst>
              <a:gd name="adj" fmla="val 50000"/>
            </a:avLst>
          </a:prstGeom>
          <a:solidFill>
            <a:srgbClr val="1A56DB"/>
          </a:solidFill>
          <a:ln w="12700">
            <a:solidFill>
              <a:srgbClr val="1A56DB"/>
            </a:solidFill>
            <a:prstDash val="solid"/>
          </a:ln>
        </p:spPr>
      </p:sp>
      <p:sp>
        <p:nvSpPr>
          <p:cNvPr id="32" name="Text 30"/>
          <p:cNvSpPr/>
          <p:nvPr/>
        </p:nvSpPr>
        <p:spPr>
          <a:xfrm>
            <a:off x="4818888" y="2313432"/>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rPr>
              <a:t>06</a:t>
            </a:r>
            <a:endParaRPr lang="en-US" sz="1000" dirty="0"/>
          </a:p>
        </p:txBody>
      </p:sp>
      <p:sp>
        <p:nvSpPr>
          <p:cNvPr id="33" name="Text 31"/>
          <p:cNvSpPr/>
          <p:nvPr/>
        </p:nvSpPr>
        <p:spPr>
          <a:xfrm>
            <a:off x="5303520" y="2240280"/>
            <a:ext cx="3337560" cy="274320"/>
          </a:xfrm>
          <a:prstGeom prst="rect">
            <a:avLst/>
          </a:prstGeom>
          <a:noFill/>
          <a:ln/>
        </p:spPr>
        <p:txBody>
          <a:bodyPr wrap="square" rtlCol="0" anchor="ctr"/>
          <a:lstStyle/>
          <a:p>
            <a:pPr indent="0" marL="0">
              <a:buNone/>
            </a:pPr>
            <a:r>
              <a:rPr lang="en-US" sz="1200" b="1" dirty="0">
                <a:solidFill>
                  <a:srgbClr val="1E293B"/>
                </a:solidFill>
              </a:rPr>
              <a:t>GCP Deployment</a:t>
            </a:r>
            <a:endParaRPr lang="en-US" sz="1200" dirty="0"/>
          </a:p>
        </p:txBody>
      </p:sp>
      <p:sp>
        <p:nvSpPr>
          <p:cNvPr id="34" name="Text 32"/>
          <p:cNvSpPr/>
          <p:nvPr/>
        </p:nvSpPr>
        <p:spPr>
          <a:xfrm>
            <a:off x="5303520" y="2532888"/>
            <a:ext cx="3337560" cy="256032"/>
          </a:xfrm>
          <a:prstGeom prst="rect">
            <a:avLst/>
          </a:prstGeom>
          <a:noFill/>
          <a:ln/>
        </p:spPr>
        <p:txBody>
          <a:bodyPr wrap="square" rtlCol="0" anchor="ctr"/>
          <a:lstStyle/>
          <a:p>
            <a:pPr indent="0" marL="0">
              <a:buNone/>
            </a:pPr>
            <a:r>
              <a:rPr lang="en-US" sz="1000" dirty="0">
                <a:solidFill>
                  <a:srgbClr val="94A3B8"/>
                </a:solidFill>
              </a:rPr>
              <a:t>Cloud Run · Terraform · Cloud SQL · Redis</a:t>
            </a:r>
            <a:endParaRPr lang="en-US" sz="1000" dirty="0"/>
          </a:p>
        </p:txBody>
      </p:sp>
      <p:sp>
        <p:nvSpPr>
          <p:cNvPr id="35" name="Shape 33"/>
          <p:cNvSpPr/>
          <p:nvPr/>
        </p:nvSpPr>
        <p:spPr>
          <a:xfrm>
            <a:off x="4709160" y="3017520"/>
            <a:ext cx="4023360" cy="749808"/>
          </a:xfrm>
          <a:prstGeom prst="rect">
            <a:avLst/>
          </a:prstGeom>
          <a:solidFill>
            <a:srgbClr val="FFFFFF"/>
          </a:solidFill>
          <a:ln w="6350">
            <a:solidFill>
              <a:srgbClr val="E2E8F0"/>
            </a:solidFill>
            <a:prstDash val="solid"/>
          </a:ln>
        </p:spPr>
      </p:sp>
      <p:sp>
        <p:nvSpPr>
          <p:cNvPr id="36" name="Shape 34"/>
          <p:cNvSpPr/>
          <p:nvPr/>
        </p:nvSpPr>
        <p:spPr>
          <a:xfrm>
            <a:off x="4818888" y="3182112"/>
            <a:ext cx="384048" cy="384048"/>
          </a:xfrm>
          <a:prstGeom prst="roundRect">
            <a:avLst>
              <a:gd name="adj" fmla="val 50000"/>
            </a:avLst>
          </a:prstGeom>
          <a:solidFill>
            <a:srgbClr val="1A56DB"/>
          </a:solidFill>
          <a:ln w="12700">
            <a:solidFill>
              <a:srgbClr val="1A56DB"/>
            </a:solidFill>
            <a:prstDash val="solid"/>
          </a:ln>
        </p:spPr>
      </p:sp>
      <p:sp>
        <p:nvSpPr>
          <p:cNvPr id="37" name="Text 35"/>
          <p:cNvSpPr/>
          <p:nvPr/>
        </p:nvSpPr>
        <p:spPr>
          <a:xfrm>
            <a:off x="4818888" y="3182112"/>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rPr>
              <a:t>07</a:t>
            </a:r>
            <a:endParaRPr lang="en-US" sz="1000" dirty="0"/>
          </a:p>
        </p:txBody>
      </p:sp>
      <p:sp>
        <p:nvSpPr>
          <p:cNvPr id="38" name="Text 36"/>
          <p:cNvSpPr/>
          <p:nvPr/>
        </p:nvSpPr>
        <p:spPr>
          <a:xfrm>
            <a:off x="5303520" y="3108960"/>
            <a:ext cx="3337560" cy="274320"/>
          </a:xfrm>
          <a:prstGeom prst="rect">
            <a:avLst/>
          </a:prstGeom>
          <a:noFill/>
          <a:ln/>
        </p:spPr>
        <p:txBody>
          <a:bodyPr wrap="square" rtlCol="0" anchor="ctr"/>
          <a:lstStyle/>
          <a:p>
            <a:pPr indent="0" marL="0">
              <a:buNone/>
            </a:pPr>
            <a:r>
              <a:rPr lang="en-US" sz="1200" b="1" dirty="0">
                <a:solidFill>
                  <a:srgbClr val="1E293B"/>
                </a:solidFill>
              </a:rPr>
              <a:t>Reliability Improvements</a:t>
            </a:r>
            <a:endParaRPr lang="en-US" sz="1200" dirty="0"/>
          </a:p>
        </p:txBody>
      </p:sp>
      <p:sp>
        <p:nvSpPr>
          <p:cNvPr id="39" name="Text 37"/>
          <p:cNvSpPr/>
          <p:nvPr/>
        </p:nvSpPr>
        <p:spPr>
          <a:xfrm>
            <a:off x="5303520" y="3401568"/>
            <a:ext cx="3337560" cy="256032"/>
          </a:xfrm>
          <a:prstGeom prst="rect">
            <a:avLst/>
          </a:prstGeom>
          <a:noFill/>
          <a:ln/>
        </p:spPr>
        <p:txBody>
          <a:bodyPr wrap="square" rtlCol="0" anchor="ctr"/>
          <a:lstStyle/>
          <a:p>
            <a:pPr indent="0" marL="0">
              <a:buNone/>
            </a:pPr>
            <a:r>
              <a:rPr lang="en-US" sz="1000" dirty="0">
                <a:solidFill>
                  <a:srgbClr val="94A3B8"/>
                </a:solidFill>
              </a:rPr>
              <a:t>Tool contract · Schema validation</a:t>
            </a:r>
            <a:endParaRPr lang="en-US" sz="1000" dirty="0"/>
          </a:p>
        </p:txBody>
      </p:sp>
      <p:sp>
        <p:nvSpPr>
          <p:cNvPr id="40" name="Shape 38"/>
          <p:cNvSpPr/>
          <p:nvPr/>
        </p:nvSpPr>
        <p:spPr>
          <a:xfrm>
            <a:off x="4709160" y="3886200"/>
            <a:ext cx="4023360" cy="749808"/>
          </a:xfrm>
          <a:prstGeom prst="rect">
            <a:avLst/>
          </a:prstGeom>
          <a:solidFill>
            <a:srgbClr val="FFFFFF"/>
          </a:solidFill>
          <a:ln w="6350">
            <a:solidFill>
              <a:srgbClr val="E2E8F0"/>
            </a:solidFill>
            <a:prstDash val="solid"/>
          </a:ln>
        </p:spPr>
      </p:sp>
      <p:sp>
        <p:nvSpPr>
          <p:cNvPr id="41" name="Shape 39"/>
          <p:cNvSpPr/>
          <p:nvPr/>
        </p:nvSpPr>
        <p:spPr>
          <a:xfrm>
            <a:off x="4818888" y="4050792"/>
            <a:ext cx="384048" cy="384048"/>
          </a:xfrm>
          <a:prstGeom prst="roundRect">
            <a:avLst>
              <a:gd name="adj" fmla="val 50000"/>
            </a:avLst>
          </a:prstGeom>
          <a:solidFill>
            <a:srgbClr val="1A56DB"/>
          </a:solidFill>
          <a:ln w="12700">
            <a:solidFill>
              <a:srgbClr val="1A56DB"/>
            </a:solidFill>
            <a:prstDash val="solid"/>
          </a:ln>
        </p:spPr>
      </p:sp>
      <p:sp>
        <p:nvSpPr>
          <p:cNvPr id="42" name="Text 40"/>
          <p:cNvSpPr/>
          <p:nvPr/>
        </p:nvSpPr>
        <p:spPr>
          <a:xfrm>
            <a:off x="4818888" y="4050792"/>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rPr>
              <a:t>08</a:t>
            </a:r>
            <a:endParaRPr lang="en-US" sz="1000" dirty="0"/>
          </a:p>
        </p:txBody>
      </p:sp>
      <p:sp>
        <p:nvSpPr>
          <p:cNvPr id="43" name="Text 41"/>
          <p:cNvSpPr/>
          <p:nvPr/>
        </p:nvSpPr>
        <p:spPr>
          <a:xfrm>
            <a:off x="5303520" y="3977640"/>
            <a:ext cx="3337560" cy="274320"/>
          </a:xfrm>
          <a:prstGeom prst="rect">
            <a:avLst/>
          </a:prstGeom>
          <a:noFill/>
          <a:ln/>
        </p:spPr>
        <p:txBody>
          <a:bodyPr wrap="square" rtlCol="0" anchor="ctr"/>
          <a:lstStyle/>
          <a:p>
            <a:pPr indent="0" marL="0">
              <a:buNone/>
            </a:pPr>
            <a:r>
              <a:rPr lang="en-US" sz="1200" b="1" dirty="0">
                <a:solidFill>
                  <a:srgbClr val="1E293B"/>
                </a:solidFill>
              </a:rPr>
              <a:t>Roadmap</a:t>
            </a:r>
            <a:endParaRPr lang="en-US" sz="1200" dirty="0"/>
          </a:p>
        </p:txBody>
      </p:sp>
      <p:sp>
        <p:nvSpPr>
          <p:cNvPr id="44" name="Text 42"/>
          <p:cNvSpPr/>
          <p:nvPr/>
        </p:nvSpPr>
        <p:spPr>
          <a:xfrm>
            <a:off x="5303520" y="4270248"/>
            <a:ext cx="3337560" cy="256032"/>
          </a:xfrm>
          <a:prstGeom prst="rect">
            <a:avLst/>
          </a:prstGeom>
          <a:noFill/>
          <a:ln/>
        </p:spPr>
        <p:txBody>
          <a:bodyPr wrap="square" rtlCol="0" anchor="ctr"/>
          <a:lstStyle/>
          <a:p>
            <a:pPr indent="0" marL="0">
              <a:buNone/>
            </a:pPr>
            <a:r>
              <a:rPr lang="en-US" sz="1000" dirty="0">
                <a:solidFill>
                  <a:srgbClr val="94A3B8"/>
                </a:solidFill>
              </a:rPr>
              <a:t>What's shipped and what's next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F3D"/>
        </a:solidFill>
      </p:bgPr>
    </p:bg>
    <p:spTree>
      <p:nvGrpSpPr>
        <p:cNvPr id="1" name=""/>
        <p:cNvGrpSpPr/>
        <p:nvPr/>
      </p:nvGrpSpPr>
      <p:grpSpPr>
        <a:xfrm>
          <a:off x="0" y="0"/>
          <a:ext cx="0" cy="0"/>
          <a:chOff x="0" y="0"/>
          <a:chExt cx="0" cy="0"/>
        </a:xfrm>
      </p:grpSpPr>
      <p:sp>
        <p:nvSpPr>
          <p:cNvPr id="2" name="Shape 0"/>
          <p:cNvSpPr/>
          <p:nvPr/>
        </p:nvSpPr>
        <p:spPr>
          <a:xfrm>
            <a:off x="411480" y="201168"/>
            <a:ext cx="1645920" cy="256032"/>
          </a:xfrm>
          <a:prstGeom prst="roundRect">
            <a:avLst>
              <a:gd name="adj" fmla="val 50000"/>
            </a:avLst>
          </a:prstGeom>
          <a:solidFill>
            <a:srgbClr val="1A56DB">
              <a:alpha val="15000"/>
            </a:srgbClr>
          </a:solidFill>
          <a:ln w="6350">
            <a:solidFill>
              <a:srgbClr val="1A56DB"/>
            </a:solidFill>
            <a:prstDash val="solid"/>
          </a:ln>
        </p:spPr>
      </p:sp>
      <p:sp>
        <p:nvSpPr>
          <p:cNvPr id="3" name="Text 1"/>
          <p:cNvSpPr/>
          <p:nvPr/>
        </p:nvSpPr>
        <p:spPr>
          <a:xfrm>
            <a:off x="411480" y="201168"/>
            <a:ext cx="1645920" cy="256032"/>
          </a:xfrm>
          <a:prstGeom prst="rect">
            <a:avLst/>
          </a:prstGeom>
          <a:noFill/>
          <a:ln/>
        </p:spPr>
        <p:txBody>
          <a:bodyPr wrap="square" lIns="0" tIns="0" rIns="0" bIns="0" rtlCol="0" anchor="ctr"/>
          <a:lstStyle/>
          <a:p>
            <a:pPr algn="ctr" indent="0" marL="0">
              <a:buNone/>
            </a:pPr>
            <a:r>
              <a:rPr lang="en-US" sz="900" b="1" dirty="0">
                <a:solidFill>
                  <a:srgbClr val="1A56DB"/>
                </a:solidFill>
              </a:rPr>
              <a:t>POSITIONING</a:t>
            </a:r>
            <a:endParaRPr lang="en-US" sz="900" dirty="0"/>
          </a:p>
        </p:txBody>
      </p:sp>
      <p:sp>
        <p:nvSpPr>
          <p:cNvPr id="4" name="Text 2"/>
          <p:cNvSpPr/>
          <p:nvPr/>
        </p:nvSpPr>
        <p:spPr>
          <a:xfrm>
            <a:off x="411480" y="502920"/>
            <a:ext cx="8321040" cy="640080"/>
          </a:xfrm>
          <a:prstGeom prst="rect">
            <a:avLst/>
          </a:prstGeom>
          <a:noFill/>
          <a:ln/>
        </p:spPr>
        <p:txBody>
          <a:bodyPr wrap="square" rtlCol="0" anchor="ctr"/>
          <a:lstStyle/>
          <a:p>
            <a:pPr indent="0" marL="0">
              <a:buNone/>
            </a:pPr>
            <a:r>
              <a:rPr lang="en-US" sz="3000" b="1" dirty="0">
                <a:solidFill>
                  <a:srgbClr val="FFFFFF"/>
                </a:solidFill>
              </a:rPr>
              <a:t>The Problem We Solve</a:t>
            </a:r>
            <a:endParaRPr lang="en-US" sz="3000" dirty="0"/>
          </a:p>
        </p:txBody>
      </p:sp>
      <p:sp>
        <p:nvSpPr>
          <p:cNvPr id="5" name="Shape 3"/>
          <p:cNvSpPr/>
          <p:nvPr/>
        </p:nvSpPr>
        <p:spPr>
          <a:xfrm>
            <a:off x="411480" y="1234440"/>
            <a:ext cx="3931920" cy="3474720"/>
          </a:xfrm>
          <a:prstGeom prst="rect">
            <a:avLst/>
          </a:prstGeom>
          <a:solidFill>
            <a:srgbClr val="182B4D"/>
          </a:solidFill>
          <a:ln w="6350">
            <a:solidFill>
              <a:srgbClr val="E2E8F0"/>
            </a:solidFill>
            <a:prstDash val="solid"/>
          </a:ln>
        </p:spPr>
      </p:sp>
      <p:sp>
        <p:nvSpPr>
          <p:cNvPr id="6" name="Text 4"/>
          <p:cNvSpPr/>
          <p:nvPr/>
        </p:nvSpPr>
        <p:spPr>
          <a:xfrm>
            <a:off x="594360" y="1371600"/>
            <a:ext cx="3566160" cy="274320"/>
          </a:xfrm>
          <a:prstGeom prst="rect">
            <a:avLst/>
          </a:prstGeom>
          <a:noFill/>
          <a:ln/>
        </p:spPr>
        <p:txBody>
          <a:bodyPr wrap="square" rtlCol="0" anchor="ctr"/>
          <a:lstStyle/>
          <a:p>
            <a:pPr indent="0" marL="0">
              <a:buNone/>
            </a:pPr>
            <a:r>
              <a:rPr lang="en-US" sz="900" b="1" spc="200" kern="0" dirty="0">
                <a:solidFill>
                  <a:srgbClr val="06B6D4"/>
                </a:solidFill>
              </a:rPr>
              <a:t>CURRENT REALITY</a:t>
            </a:r>
            <a:endParaRPr lang="en-US" sz="900" dirty="0"/>
          </a:p>
        </p:txBody>
      </p:sp>
      <p:sp>
        <p:nvSpPr>
          <p:cNvPr id="7" name="Shape 5"/>
          <p:cNvSpPr/>
          <p:nvPr/>
        </p:nvSpPr>
        <p:spPr>
          <a:xfrm>
            <a:off x="640080" y="1828800"/>
            <a:ext cx="164592" cy="164592"/>
          </a:xfrm>
          <a:prstGeom prst="oval">
            <a:avLst/>
          </a:prstGeom>
          <a:solidFill>
            <a:srgbClr val="E74C3C"/>
          </a:solidFill>
          <a:ln w="12700">
            <a:solidFill>
              <a:srgbClr val="E74C3C"/>
            </a:solidFill>
            <a:prstDash val="solid"/>
          </a:ln>
        </p:spPr>
      </p:sp>
      <p:sp>
        <p:nvSpPr>
          <p:cNvPr id="8" name="Text 6"/>
          <p:cNvSpPr/>
          <p:nvPr/>
        </p:nvSpPr>
        <p:spPr>
          <a:xfrm>
            <a:off x="914400" y="1783080"/>
            <a:ext cx="3246120" cy="457200"/>
          </a:xfrm>
          <a:prstGeom prst="rect">
            <a:avLst/>
          </a:prstGeom>
          <a:noFill/>
          <a:ln/>
        </p:spPr>
        <p:txBody>
          <a:bodyPr wrap="square" rtlCol="0" anchor="ctr"/>
          <a:lstStyle/>
          <a:p>
            <a:pPr indent="0" marL="0">
              <a:buNone/>
            </a:pPr>
            <a:r>
              <a:rPr lang="en-US" sz="1200" dirty="0">
                <a:solidFill>
                  <a:srgbClr val="CBD5E1"/>
                </a:solidFill>
              </a:rPr>
              <a:t>30–60 min/day lost switching between tools</a:t>
            </a:r>
            <a:endParaRPr lang="en-US" sz="1200" dirty="0"/>
          </a:p>
        </p:txBody>
      </p:sp>
      <p:sp>
        <p:nvSpPr>
          <p:cNvPr id="9" name="Shape 7"/>
          <p:cNvSpPr/>
          <p:nvPr/>
        </p:nvSpPr>
        <p:spPr>
          <a:xfrm>
            <a:off x="640080" y="2468880"/>
            <a:ext cx="164592" cy="164592"/>
          </a:xfrm>
          <a:prstGeom prst="oval">
            <a:avLst/>
          </a:prstGeom>
          <a:solidFill>
            <a:srgbClr val="E74C3C"/>
          </a:solidFill>
          <a:ln w="12700">
            <a:solidFill>
              <a:srgbClr val="E74C3C"/>
            </a:solidFill>
            <a:prstDash val="solid"/>
          </a:ln>
        </p:spPr>
      </p:sp>
      <p:sp>
        <p:nvSpPr>
          <p:cNvPr id="10" name="Text 8"/>
          <p:cNvSpPr/>
          <p:nvPr/>
        </p:nvSpPr>
        <p:spPr>
          <a:xfrm>
            <a:off x="914400" y="2423160"/>
            <a:ext cx="3246120" cy="457200"/>
          </a:xfrm>
          <a:prstGeom prst="rect">
            <a:avLst/>
          </a:prstGeom>
          <a:noFill/>
          <a:ln/>
        </p:spPr>
        <p:txBody>
          <a:bodyPr wrap="square" rtlCol="0" anchor="ctr"/>
          <a:lstStyle/>
          <a:p>
            <a:pPr indent="0" marL="0">
              <a:buNone/>
            </a:pPr>
            <a:r>
              <a:rPr lang="en-US" sz="1200" dirty="0">
                <a:solidFill>
                  <a:srgbClr val="CBD5E1"/>
                </a:solidFill>
              </a:rPr>
              <a:t>Context scattered: GitHub, Notion, Calendar, Gmail</a:t>
            </a:r>
            <a:endParaRPr lang="en-US" sz="1200" dirty="0"/>
          </a:p>
        </p:txBody>
      </p:sp>
      <p:sp>
        <p:nvSpPr>
          <p:cNvPr id="11" name="Shape 9"/>
          <p:cNvSpPr/>
          <p:nvPr/>
        </p:nvSpPr>
        <p:spPr>
          <a:xfrm>
            <a:off x="640080" y="3108960"/>
            <a:ext cx="164592" cy="164592"/>
          </a:xfrm>
          <a:prstGeom prst="oval">
            <a:avLst/>
          </a:prstGeom>
          <a:solidFill>
            <a:srgbClr val="E74C3C"/>
          </a:solidFill>
          <a:ln w="12700">
            <a:solidFill>
              <a:srgbClr val="E74C3C"/>
            </a:solidFill>
            <a:prstDash val="solid"/>
          </a:ln>
        </p:spPr>
      </p:sp>
      <p:sp>
        <p:nvSpPr>
          <p:cNvPr id="12" name="Text 10"/>
          <p:cNvSpPr/>
          <p:nvPr/>
        </p:nvSpPr>
        <p:spPr>
          <a:xfrm>
            <a:off x="914400" y="3063240"/>
            <a:ext cx="3246120" cy="457200"/>
          </a:xfrm>
          <a:prstGeom prst="rect">
            <a:avLst/>
          </a:prstGeom>
          <a:noFill/>
          <a:ln/>
        </p:spPr>
        <p:txBody>
          <a:bodyPr wrap="square" rtlCol="0" anchor="ctr"/>
          <a:lstStyle/>
          <a:p>
            <a:pPr indent="0" marL="0">
              <a:buNone/>
            </a:pPr>
            <a:r>
              <a:rPr lang="en-US" sz="1200" dirty="0">
                <a:solidFill>
                  <a:srgbClr val="CBD5E1"/>
                </a:solidFill>
              </a:rPr>
              <a:t>Existing AI tools describe but cannot execute</a:t>
            </a:r>
            <a:endParaRPr lang="en-US" sz="1200" dirty="0"/>
          </a:p>
        </p:txBody>
      </p:sp>
      <p:sp>
        <p:nvSpPr>
          <p:cNvPr id="13" name="Shape 11"/>
          <p:cNvSpPr/>
          <p:nvPr/>
        </p:nvSpPr>
        <p:spPr>
          <a:xfrm>
            <a:off x="640080" y="3749040"/>
            <a:ext cx="164592" cy="164592"/>
          </a:xfrm>
          <a:prstGeom prst="oval">
            <a:avLst/>
          </a:prstGeom>
          <a:solidFill>
            <a:srgbClr val="E74C3C"/>
          </a:solidFill>
          <a:ln w="12700">
            <a:solidFill>
              <a:srgbClr val="E74C3C"/>
            </a:solidFill>
            <a:prstDash val="solid"/>
          </a:ln>
        </p:spPr>
      </p:sp>
      <p:sp>
        <p:nvSpPr>
          <p:cNvPr id="14" name="Text 12"/>
          <p:cNvSpPr/>
          <p:nvPr/>
        </p:nvSpPr>
        <p:spPr>
          <a:xfrm>
            <a:off x="914400" y="3703320"/>
            <a:ext cx="3246120" cy="457200"/>
          </a:xfrm>
          <a:prstGeom prst="rect">
            <a:avLst/>
          </a:prstGeom>
          <a:noFill/>
          <a:ln/>
        </p:spPr>
        <p:txBody>
          <a:bodyPr wrap="square" rtlCol="0" anchor="ctr"/>
          <a:lstStyle/>
          <a:p>
            <a:pPr indent="0" marL="0">
              <a:buNone/>
            </a:pPr>
            <a:r>
              <a:rPr lang="en-US" sz="1200" dirty="0">
                <a:solidFill>
                  <a:srgbClr val="CBD5E1"/>
                </a:solidFill>
              </a:rPr>
              <a:t>Custom scripts require coding and break with API changes</a:t>
            </a:r>
            <a:endParaRPr lang="en-US" sz="1200" dirty="0"/>
          </a:p>
        </p:txBody>
      </p:sp>
      <p:sp>
        <p:nvSpPr>
          <p:cNvPr id="15" name="Shape 13"/>
          <p:cNvSpPr/>
          <p:nvPr/>
        </p:nvSpPr>
        <p:spPr>
          <a:xfrm>
            <a:off x="4572000" y="1234440"/>
            <a:ext cx="4160520" cy="3474720"/>
          </a:xfrm>
          <a:prstGeom prst="rect">
            <a:avLst/>
          </a:prstGeom>
          <a:solidFill>
            <a:srgbClr val="0D2137"/>
          </a:solidFill>
          <a:ln w="6350">
            <a:solidFill>
              <a:srgbClr val="E2E8F0"/>
            </a:solidFill>
            <a:prstDash val="solid"/>
          </a:ln>
        </p:spPr>
      </p:sp>
      <p:sp>
        <p:nvSpPr>
          <p:cNvPr id="16" name="Text 14"/>
          <p:cNvSpPr/>
          <p:nvPr/>
        </p:nvSpPr>
        <p:spPr>
          <a:xfrm>
            <a:off x="4754880" y="1371600"/>
            <a:ext cx="3749040" cy="274320"/>
          </a:xfrm>
          <a:prstGeom prst="rect">
            <a:avLst/>
          </a:prstGeom>
          <a:noFill/>
          <a:ln/>
        </p:spPr>
        <p:txBody>
          <a:bodyPr wrap="square" rtlCol="0" anchor="ctr"/>
          <a:lstStyle/>
          <a:p>
            <a:pPr indent="0" marL="0">
              <a:buNone/>
            </a:pPr>
            <a:r>
              <a:rPr lang="en-US" sz="900" b="1" spc="200" kern="0" dirty="0">
                <a:solidFill>
                  <a:srgbClr val="06B6D4"/>
                </a:solidFill>
              </a:rPr>
              <a:t>OUR SOLUTION</a:t>
            </a:r>
            <a:endParaRPr lang="en-US" sz="900" dirty="0"/>
          </a:p>
        </p:txBody>
      </p:sp>
      <p:sp>
        <p:nvSpPr>
          <p:cNvPr id="17" name="Shape 15"/>
          <p:cNvSpPr/>
          <p:nvPr/>
        </p:nvSpPr>
        <p:spPr>
          <a:xfrm>
            <a:off x="4754880" y="1828800"/>
            <a:ext cx="164592" cy="164592"/>
          </a:xfrm>
          <a:prstGeom prst="oval">
            <a:avLst/>
          </a:prstGeom>
          <a:solidFill>
            <a:srgbClr val="22C55E"/>
          </a:solidFill>
          <a:ln w="12700">
            <a:solidFill>
              <a:srgbClr val="22C55E"/>
            </a:solidFill>
            <a:prstDash val="solid"/>
          </a:ln>
        </p:spPr>
      </p:sp>
      <p:sp>
        <p:nvSpPr>
          <p:cNvPr id="18" name="Text 16"/>
          <p:cNvSpPr/>
          <p:nvPr/>
        </p:nvSpPr>
        <p:spPr>
          <a:xfrm>
            <a:off x="5029200" y="1783080"/>
            <a:ext cx="3566160" cy="457200"/>
          </a:xfrm>
          <a:prstGeom prst="rect">
            <a:avLst/>
          </a:prstGeom>
          <a:noFill/>
          <a:ln/>
        </p:spPr>
        <p:txBody>
          <a:bodyPr wrap="square" rtlCol="0" anchor="ctr"/>
          <a:lstStyle/>
          <a:p>
            <a:pPr indent="0" marL="0">
              <a:buNone/>
            </a:pPr>
            <a:r>
              <a:rPr lang="en-US" sz="1200" b="1" dirty="0">
                <a:solidFill>
                  <a:srgbClr val="FFFFFF"/>
                </a:solidFill>
              </a:rPr>
              <a:t>One interface </a:t>
            </a:r>
            <a:pPr indent="0" marL="0">
              <a:buNone/>
            </a:pPr>
            <a:r>
              <a:rPr lang="en-US" sz="1200" dirty="0">
                <a:solidFill>
                  <a:srgbClr val="CBD5E1"/>
                </a:solidFill>
              </a:rPr>
              <a:t>for GitHub, Notion, Calendar, Gmail</a:t>
            </a:r>
            <a:endParaRPr lang="en-US" sz="1200" dirty="0"/>
          </a:p>
        </p:txBody>
      </p:sp>
      <p:sp>
        <p:nvSpPr>
          <p:cNvPr id="19" name="Shape 17"/>
          <p:cNvSpPr/>
          <p:nvPr/>
        </p:nvSpPr>
        <p:spPr>
          <a:xfrm>
            <a:off x="4754880" y="2468880"/>
            <a:ext cx="164592" cy="164592"/>
          </a:xfrm>
          <a:prstGeom prst="oval">
            <a:avLst/>
          </a:prstGeom>
          <a:solidFill>
            <a:srgbClr val="22C55E"/>
          </a:solidFill>
          <a:ln w="12700">
            <a:solidFill>
              <a:srgbClr val="22C55E"/>
            </a:solidFill>
            <a:prstDash val="solid"/>
          </a:ln>
        </p:spPr>
      </p:sp>
      <p:sp>
        <p:nvSpPr>
          <p:cNvPr id="20" name="Text 18"/>
          <p:cNvSpPr/>
          <p:nvPr/>
        </p:nvSpPr>
        <p:spPr>
          <a:xfrm>
            <a:off x="5029200" y="2423160"/>
            <a:ext cx="3566160" cy="457200"/>
          </a:xfrm>
          <a:prstGeom prst="rect">
            <a:avLst/>
          </a:prstGeom>
          <a:noFill/>
          <a:ln/>
        </p:spPr>
        <p:txBody>
          <a:bodyPr wrap="square" rtlCol="0" anchor="ctr"/>
          <a:lstStyle/>
          <a:p>
            <a:pPr indent="0" marL="0">
              <a:buNone/>
            </a:pPr>
            <a:r>
              <a:rPr lang="en-US" sz="1200" b="1" dirty="0">
                <a:solidFill>
                  <a:srgbClr val="FFFFFF"/>
                </a:solidFill>
              </a:rPr>
              <a:t>Executes tasks </a:t>
            </a:r>
            <a:pPr indent="0" marL="0">
              <a:buNone/>
            </a:pPr>
            <a:r>
              <a:rPr lang="en-US" sz="1200" dirty="0">
                <a:solidFill>
                  <a:srgbClr val="CBD5E1"/>
                </a:solidFill>
              </a:rPr>
              <a:t>not just describes them</a:t>
            </a:r>
            <a:endParaRPr lang="en-US" sz="1200" dirty="0"/>
          </a:p>
        </p:txBody>
      </p:sp>
      <p:sp>
        <p:nvSpPr>
          <p:cNvPr id="21" name="Shape 19"/>
          <p:cNvSpPr/>
          <p:nvPr/>
        </p:nvSpPr>
        <p:spPr>
          <a:xfrm>
            <a:off x="4754880" y="3108960"/>
            <a:ext cx="164592" cy="164592"/>
          </a:xfrm>
          <a:prstGeom prst="oval">
            <a:avLst/>
          </a:prstGeom>
          <a:solidFill>
            <a:srgbClr val="22C55E"/>
          </a:solidFill>
          <a:ln w="12700">
            <a:solidFill>
              <a:srgbClr val="22C55E"/>
            </a:solidFill>
            <a:prstDash val="solid"/>
          </a:ln>
        </p:spPr>
      </p:sp>
      <p:sp>
        <p:nvSpPr>
          <p:cNvPr id="22" name="Text 20"/>
          <p:cNvSpPr/>
          <p:nvPr/>
        </p:nvSpPr>
        <p:spPr>
          <a:xfrm>
            <a:off x="5029200" y="3063240"/>
            <a:ext cx="3566160" cy="457200"/>
          </a:xfrm>
          <a:prstGeom prst="rect">
            <a:avLst/>
          </a:prstGeom>
          <a:noFill/>
          <a:ln/>
        </p:spPr>
        <p:txBody>
          <a:bodyPr wrap="square" rtlCol="0" anchor="ctr"/>
          <a:lstStyle/>
          <a:p>
            <a:pPr indent="0" marL="0">
              <a:buNone/>
            </a:pPr>
            <a:r>
              <a:rPr lang="en-US" sz="1200" b="1" dirty="0">
                <a:solidFill>
                  <a:srgbClr val="FFFFFF"/>
                </a:solidFill>
              </a:rPr>
              <a:t>NL decomposition </a:t>
            </a:r>
            <a:pPr indent="0" marL="0">
              <a:buNone/>
            </a:pPr>
            <a:r>
              <a:rPr lang="en-US" sz="1200" dirty="0">
                <a:solidFill>
                  <a:srgbClr val="CBD5E1"/>
                </a:solidFill>
              </a:rPr>
              <a:t>intent → tasks → tool calls</a:t>
            </a:r>
            <a:endParaRPr lang="en-US" sz="1200" dirty="0"/>
          </a:p>
        </p:txBody>
      </p:sp>
      <p:sp>
        <p:nvSpPr>
          <p:cNvPr id="23" name="Shape 21"/>
          <p:cNvSpPr/>
          <p:nvPr/>
        </p:nvSpPr>
        <p:spPr>
          <a:xfrm>
            <a:off x="4754880" y="3749040"/>
            <a:ext cx="164592" cy="164592"/>
          </a:xfrm>
          <a:prstGeom prst="oval">
            <a:avLst/>
          </a:prstGeom>
          <a:solidFill>
            <a:srgbClr val="22C55E"/>
          </a:solidFill>
          <a:ln w="12700">
            <a:solidFill>
              <a:srgbClr val="22C55E"/>
            </a:solidFill>
            <a:prstDash val="solid"/>
          </a:ln>
        </p:spPr>
      </p:sp>
      <p:sp>
        <p:nvSpPr>
          <p:cNvPr id="24" name="Text 22"/>
          <p:cNvSpPr/>
          <p:nvPr/>
        </p:nvSpPr>
        <p:spPr>
          <a:xfrm>
            <a:off x="5029200" y="3703320"/>
            <a:ext cx="3566160" cy="457200"/>
          </a:xfrm>
          <a:prstGeom prst="rect">
            <a:avLst/>
          </a:prstGeom>
          <a:noFill/>
          <a:ln/>
        </p:spPr>
        <p:txBody>
          <a:bodyPr wrap="square" rtlCol="0" anchor="ctr"/>
          <a:lstStyle/>
          <a:p>
            <a:pPr indent="0" marL="0">
              <a:buNone/>
            </a:pPr>
            <a:r>
              <a:rPr lang="en-US" sz="1200" b="1" dirty="0">
                <a:solidFill>
                  <a:srgbClr val="FFFFFF"/>
                </a:solidFill>
              </a:rPr>
              <a:t>Real-time streaming </a:t>
            </a:r>
            <a:pPr indent="0" marL="0">
              <a:buNone/>
            </a:pPr>
            <a:r>
              <a:rPr lang="en-US" sz="1200" dirty="0">
                <a:solidFill>
                  <a:srgbClr val="CBD5E1"/>
                </a:solidFill>
              </a:rPr>
              <a:t>watch the agent work live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11480" y="201168"/>
            <a:ext cx="1645920" cy="256032"/>
          </a:xfrm>
          <a:prstGeom prst="roundRect">
            <a:avLst>
              <a:gd name="adj" fmla="val 50000"/>
            </a:avLst>
          </a:prstGeom>
          <a:solidFill>
            <a:srgbClr val="1A56DB">
              <a:alpha val="15000"/>
            </a:srgbClr>
          </a:solidFill>
          <a:ln w="6350">
            <a:solidFill>
              <a:srgbClr val="1A56DB"/>
            </a:solidFill>
            <a:prstDash val="solid"/>
          </a:ln>
        </p:spPr>
      </p:sp>
      <p:sp>
        <p:nvSpPr>
          <p:cNvPr id="3" name="Text 1"/>
          <p:cNvSpPr/>
          <p:nvPr/>
        </p:nvSpPr>
        <p:spPr>
          <a:xfrm>
            <a:off x="411480" y="201168"/>
            <a:ext cx="1645920" cy="256032"/>
          </a:xfrm>
          <a:prstGeom prst="rect">
            <a:avLst/>
          </a:prstGeom>
          <a:noFill/>
          <a:ln/>
        </p:spPr>
        <p:txBody>
          <a:bodyPr wrap="square" lIns="0" tIns="0" rIns="0" bIns="0" rtlCol="0" anchor="ctr"/>
          <a:lstStyle/>
          <a:p>
            <a:pPr algn="ctr" indent="0" marL="0">
              <a:buNone/>
            </a:pPr>
            <a:r>
              <a:rPr lang="en-US" sz="900" b="1" dirty="0">
                <a:solidFill>
                  <a:srgbClr val="1A56DB"/>
                </a:solidFill>
              </a:rPr>
              <a:t>TECH STACK</a:t>
            </a:r>
            <a:endParaRPr lang="en-US" sz="900" dirty="0"/>
          </a:p>
        </p:txBody>
      </p:sp>
      <p:sp>
        <p:nvSpPr>
          <p:cNvPr id="4" name="Text 2"/>
          <p:cNvSpPr/>
          <p:nvPr/>
        </p:nvSpPr>
        <p:spPr>
          <a:xfrm>
            <a:off x="411480" y="502920"/>
            <a:ext cx="8321040" cy="640080"/>
          </a:xfrm>
          <a:prstGeom prst="rect">
            <a:avLst/>
          </a:prstGeom>
          <a:noFill/>
          <a:ln/>
        </p:spPr>
        <p:txBody>
          <a:bodyPr wrap="square" rtlCol="0" anchor="ctr"/>
          <a:lstStyle/>
          <a:p>
            <a:pPr indent="0" marL="0">
              <a:buNone/>
            </a:pPr>
            <a:r>
              <a:rPr lang="en-US" sz="3000" b="1" dirty="0">
                <a:solidFill>
                  <a:srgbClr val="1E293B"/>
                </a:solidFill>
              </a:rPr>
              <a:t>Technology Stack</a:t>
            </a:r>
            <a:endParaRPr lang="en-US" sz="3000" dirty="0"/>
          </a:p>
        </p:txBody>
      </p:sp>
      <p:sp>
        <p:nvSpPr>
          <p:cNvPr id="5" name="Shape 3"/>
          <p:cNvSpPr/>
          <p:nvPr/>
        </p:nvSpPr>
        <p:spPr>
          <a:xfrm>
            <a:off x="411480" y="1234440"/>
            <a:ext cx="8321040" cy="292608"/>
          </a:xfrm>
          <a:prstGeom prst="rect">
            <a:avLst/>
          </a:prstGeom>
          <a:solidFill>
            <a:srgbClr val="1A56DB"/>
          </a:solidFill>
          <a:ln w="12700">
            <a:solidFill>
              <a:srgbClr val="1A56DB"/>
            </a:solidFill>
            <a:prstDash val="solid"/>
          </a:ln>
        </p:spPr>
      </p:sp>
      <p:sp>
        <p:nvSpPr>
          <p:cNvPr id="6" name="Text 4"/>
          <p:cNvSpPr/>
          <p:nvPr/>
        </p:nvSpPr>
        <p:spPr>
          <a:xfrm>
            <a:off x="502920" y="1234440"/>
            <a:ext cx="1691640" cy="292608"/>
          </a:xfrm>
          <a:prstGeom prst="rect">
            <a:avLst/>
          </a:prstGeom>
          <a:noFill/>
          <a:ln/>
        </p:spPr>
        <p:txBody>
          <a:bodyPr wrap="square" rtlCol="0" anchor="ctr"/>
          <a:lstStyle/>
          <a:p>
            <a:pPr indent="0" marL="0">
              <a:buNone/>
            </a:pPr>
            <a:r>
              <a:rPr lang="en-US" sz="1000" b="1" dirty="0">
                <a:solidFill>
                  <a:srgbClr val="FFFFFF"/>
                </a:solidFill>
              </a:rPr>
              <a:t>Layer</a:t>
            </a:r>
            <a:endParaRPr lang="en-US" sz="1000" dirty="0"/>
          </a:p>
        </p:txBody>
      </p:sp>
      <p:sp>
        <p:nvSpPr>
          <p:cNvPr id="7" name="Text 5"/>
          <p:cNvSpPr/>
          <p:nvPr/>
        </p:nvSpPr>
        <p:spPr>
          <a:xfrm>
            <a:off x="2331720" y="1234440"/>
            <a:ext cx="3154680" cy="292608"/>
          </a:xfrm>
          <a:prstGeom prst="rect">
            <a:avLst/>
          </a:prstGeom>
          <a:noFill/>
          <a:ln/>
        </p:spPr>
        <p:txBody>
          <a:bodyPr wrap="square" rtlCol="0" anchor="ctr"/>
          <a:lstStyle/>
          <a:p>
            <a:pPr indent="0" marL="0">
              <a:buNone/>
            </a:pPr>
            <a:r>
              <a:rPr lang="en-US" sz="1000" b="1" dirty="0">
                <a:solidFill>
                  <a:srgbClr val="FFFFFF"/>
                </a:solidFill>
              </a:rPr>
              <a:t>Technology</a:t>
            </a:r>
            <a:endParaRPr lang="en-US" sz="1000" dirty="0"/>
          </a:p>
        </p:txBody>
      </p:sp>
      <p:sp>
        <p:nvSpPr>
          <p:cNvPr id="8" name="Text 6"/>
          <p:cNvSpPr/>
          <p:nvPr/>
        </p:nvSpPr>
        <p:spPr>
          <a:xfrm>
            <a:off x="5623560" y="1234440"/>
            <a:ext cx="2971800" cy="292608"/>
          </a:xfrm>
          <a:prstGeom prst="rect">
            <a:avLst/>
          </a:prstGeom>
          <a:noFill/>
          <a:ln/>
        </p:spPr>
        <p:txBody>
          <a:bodyPr wrap="square" rtlCol="0" anchor="ctr"/>
          <a:lstStyle/>
          <a:p>
            <a:pPr indent="0" marL="0">
              <a:buNone/>
            </a:pPr>
            <a:r>
              <a:rPr lang="en-US" sz="1000" b="1" dirty="0">
                <a:solidFill>
                  <a:srgbClr val="FFFFFF"/>
                </a:solidFill>
              </a:rPr>
              <a:t>Notes</a:t>
            </a:r>
            <a:endParaRPr lang="en-US" sz="1000" dirty="0"/>
          </a:p>
        </p:txBody>
      </p:sp>
      <p:sp>
        <p:nvSpPr>
          <p:cNvPr id="9" name="Shape 7"/>
          <p:cNvSpPr/>
          <p:nvPr/>
        </p:nvSpPr>
        <p:spPr>
          <a:xfrm>
            <a:off x="411480" y="1527048"/>
            <a:ext cx="8321040" cy="374904"/>
          </a:xfrm>
          <a:prstGeom prst="rect">
            <a:avLst/>
          </a:prstGeom>
          <a:solidFill>
            <a:srgbClr val="F8FAFC"/>
          </a:solidFill>
          <a:ln w="3810">
            <a:solidFill>
              <a:srgbClr val="E2E8F0"/>
            </a:solidFill>
            <a:prstDash val="solid"/>
          </a:ln>
        </p:spPr>
      </p:sp>
      <p:sp>
        <p:nvSpPr>
          <p:cNvPr id="10" name="Text 8"/>
          <p:cNvSpPr/>
          <p:nvPr/>
        </p:nvSpPr>
        <p:spPr>
          <a:xfrm>
            <a:off x="502920" y="1563624"/>
            <a:ext cx="1691640" cy="301752"/>
          </a:xfrm>
          <a:prstGeom prst="rect">
            <a:avLst/>
          </a:prstGeom>
          <a:noFill/>
          <a:ln/>
        </p:spPr>
        <p:txBody>
          <a:bodyPr wrap="square" rtlCol="0" anchor="ctr"/>
          <a:lstStyle/>
          <a:p>
            <a:pPr indent="0" marL="0">
              <a:buNone/>
            </a:pPr>
            <a:r>
              <a:rPr lang="en-US" sz="1000" b="1" dirty="0">
                <a:solidFill>
                  <a:srgbClr val="1E293B"/>
                </a:solidFill>
              </a:rPr>
              <a:t>Frontend</a:t>
            </a:r>
            <a:endParaRPr lang="en-US" sz="1000" dirty="0"/>
          </a:p>
        </p:txBody>
      </p:sp>
      <p:sp>
        <p:nvSpPr>
          <p:cNvPr id="11" name="Text 9"/>
          <p:cNvSpPr/>
          <p:nvPr/>
        </p:nvSpPr>
        <p:spPr>
          <a:xfrm>
            <a:off x="2331720" y="1563624"/>
            <a:ext cx="3154680" cy="301752"/>
          </a:xfrm>
          <a:prstGeom prst="rect">
            <a:avLst/>
          </a:prstGeom>
          <a:noFill/>
          <a:ln/>
        </p:spPr>
        <p:txBody>
          <a:bodyPr wrap="square" rtlCol="0" anchor="ctr"/>
          <a:lstStyle/>
          <a:p>
            <a:pPr indent="0" marL="0">
              <a:buNone/>
            </a:pPr>
            <a:r>
              <a:rPr lang="en-US" sz="1000" b="1" dirty="0">
                <a:solidFill>
                  <a:srgbClr val="1A56DB"/>
                </a:solidFill>
              </a:rPr>
              <a:t>Next.js 14.2 + React 18 + Tailwind CSS</a:t>
            </a:r>
            <a:endParaRPr lang="en-US" sz="1000" dirty="0"/>
          </a:p>
        </p:txBody>
      </p:sp>
      <p:sp>
        <p:nvSpPr>
          <p:cNvPr id="12" name="Text 10"/>
          <p:cNvSpPr/>
          <p:nvPr/>
        </p:nvSpPr>
        <p:spPr>
          <a:xfrm>
            <a:off x="5623560" y="1563624"/>
            <a:ext cx="2971800" cy="301752"/>
          </a:xfrm>
          <a:prstGeom prst="rect">
            <a:avLst/>
          </a:prstGeom>
          <a:noFill/>
          <a:ln/>
        </p:spPr>
        <p:txBody>
          <a:bodyPr wrap="square" rtlCol="0" anchor="ctr"/>
          <a:lstStyle/>
          <a:p>
            <a:pPr indent="0" marL="0">
              <a:buNone/>
            </a:pPr>
            <a:r>
              <a:rPr lang="en-US" sz="950" dirty="0">
                <a:solidFill>
                  <a:srgbClr val="94A3B8"/>
                </a:solidFill>
              </a:rPr>
              <a:t>Static export bundled in prod container</a:t>
            </a:r>
            <a:endParaRPr lang="en-US" sz="950" dirty="0"/>
          </a:p>
        </p:txBody>
      </p:sp>
      <p:sp>
        <p:nvSpPr>
          <p:cNvPr id="13" name="Shape 11"/>
          <p:cNvSpPr/>
          <p:nvPr/>
        </p:nvSpPr>
        <p:spPr>
          <a:xfrm>
            <a:off x="411480" y="1901952"/>
            <a:ext cx="8321040" cy="374904"/>
          </a:xfrm>
          <a:prstGeom prst="rect">
            <a:avLst/>
          </a:prstGeom>
          <a:solidFill>
            <a:srgbClr val="FFFFFF"/>
          </a:solidFill>
          <a:ln w="3810">
            <a:solidFill>
              <a:srgbClr val="E2E8F0"/>
            </a:solidFill>
            <a:prstDash val="solid"/>
          </a:ln>
        </p:spPr>
      </p:sp>
      <p:sp>
        <p:nvSpPr>
          <p:cNvPr id="14" name="Text 12"/>
          <p:cNvSpPr/>
          <p:nvPr/>
        </p:nvSpPr>
        <p:spPr>
          <a:xfrm>
            <a:off x="502920" y="1938528"/>
            <a:ext cx="1691640" cy="301752"/>
          </a:xfrm>
          <a:prstGeom prst="rect">
            <a:avLst/>
          </a:prstGeom>
          <a:noFill/>
          <a:ln/>
        </p:spPr>
        <p:txBody>
          <a:bodyPr wrap="square" rtlCol="0" anchor="ctr"/>
          <a:lstStyle/>
          <a:p>
            <a:pPr indent="0" marL="0">
              <a:buNone/>
            </a:pPr>
            <a:r>
              <a:rPr lang="en-US" sz="1000" b="1" dirty="0">
                <a:solidFill>
                  <a:srgbClr val="1E293B"/>
                </a:solidFill>
              </a:rPr>
              <a:t>Backend</a:t>
            </a:r>
            <a:endParaRPr lang="en-US" sz="1000" dirty="0"/>
          </a:p>
        </p:txBody>
      </p:sp>
      <p:sp>
        <p:nvSpPr>
          <p:cNvPr id="15" name="Text 13"/>
          <p:cNvSpPr/>
          <p:nvPr/>
        </p:nvSpPr>
        <p:spPr>
          <a:xfrm>
            <a:off x="2331720" y="1938528"/>
            <a:ext cx="3154680" cy="301752"/>
          </a:xfrm>
          <a:prstGeom prst="rect">
            <a:avLst/>
          </a:prstGeom>
          <a:noFill/>
          <a:ln/>
        </p:spPr>
        <p:txBody>
          <a:bodyPr wrap="square" rtlCol="0" anchor="ctr"/>
          <a:lstStyle/>
          <a:p>
            <a:pPr indent="0" marL="0">
              <a:buNone/>
            </a:pPr>
            <a:r>
              <a:rPr lang="en-US" sz="1000" b="1" dirty="0">
                <a:solidFill>
                  <a:srgbClr val="1A56DB"/>
                </a:solidFill>
              </a:rPr>
              <a:t>FastAPI (Python 3.11+) + uvicorn</a:t>
            </a:r>
            <a:endParaRPr lang="en-US" sz="1000" dirty="0"/>
          </a:p>
        </p:txBody>
      </p:sp>
      <p:sp>
        <p:nvSpPr>
          <p:cNvPr id="16" name="Text 14"/>
          <p:cNvSpPr/>
          <p:nvPr/>
        </p:nvSpPr>
        <p:spPr>
          <a:xfrm>
            <a:off x="5623560" y="1938528"/>
            <a:ext cx="2971800" cy="301752"/>
          </a:xfrm>
          <a:prstGeom prst="rect">
            <a:avLst/>
          </a:prstGeom>
          <a:noFill/>
          <a:ln/>
        </p:spPr>
        <p:txBody>
          <a:bodyPr wrap="square" rtlCol="0" anchor="ctr"/>
          <a:lstStyle/>
          <a:p>
            <a:pPr indent="0" marL="0">
              <a:buNone/>
            </a:pPr>
            <a:r>
              <a:rPr lang="en-US" sz="950" dirty="0">
                <a:solidFill>
                  <a:srgbClr val="94A3B8"/>
                </a:solidFill>
              </a:rPr>
              <a:t>Async-native; uv for dependency management</a:t>
            </a:r>
            <a:endParaRPr lang="en-US" sz="950" dirty="0"/>
          </a:p>
        </p:txBody>
      </p:sp>
      <p:sp>
        <p:nvSpPr>
          <p:cNvPr id="17" name="Shape 15"/>
          <p:cNvSpPr/>
          <p:nvPr/>
        </p:nvSpPr>
        <p:spPr>
          <a:xfrm>
            <a:off x="411480" y="2276856"/>
            <a:ext cx="8321040" cy="374904"/>
          </a:xfrm>
          <a:prstGeom prst="rect">
            <a:avLst/>
          </a:prstGeom>
          <a:solidFill>
            <a:srgbClr val="F8FAFC"/>
          </a:solidFill>
          <a:ln w="3810">
            <a:solidFill>
              <a:srgbClr val="E2E8F0"/>
            </a:solidFill>
            <a:prstDash val="solid"/>
          </a:ln>
        </p:spPr>
      </p:sp>
      <p:sp>
        <p:nvSpPr>
          <p:cNvPr id="18" name="Text 16"/>
          <p:cNvSpPr/>
          <p:nvPr/>
        </p:nvSpPr>
        <p:spPr>
          <a:xfrm>
            <a:off x="502920" y="2313432"/>
            <a:ext cx="1691640" cy="301752"/>
          </a:xfrm>
          <a:prstGeom prst="rect">
            <a:avLst/>
          </a:prstGeom>
          <a:noFill/>
          <a:ln/>
        </p:spPr>
        <p:txBody>
          <a:bodyPr wrap="square" rtlCol="0" anchor="ctr"/>
          <a:lstStyle/>
          <a:p>
            <a:pPr indent="0" marL="0">
              <a:buNone/>
            </a:pPr>
            <a:r>
              <a:rPr lang="en-US" sz="1000" b="1" dirty="0">
                <a:solidFill>
                  <a:srgbClr val="1E293B"/>
                </a:solidFill>
              </a:rPr>
              <a:t>Agent Framework</a:t>
            </a:r>
            <a:endParaRPr lang="en-US" sz="1000" dirty="0"/>
          </a:p>
        </p:txBody>
      </p:sp>
      <p:sp>
        <p:nvSpPr>
          <p:cNvPr id="19" name="Text 17"/>
          <p:cNvSpPr/>
          <p:nvPr/>
        </p:nvSpPr>
        <p:spPr>
          <a:xfrm>
            <a:off x="2331720" y="2313432"/>
            <a:ext cx="3154680" cy="301752"/>
          </a:xfrm>
          <a:prstGeom prst="rect">
            <a:avLst/>
          </a:prstGeom>
          <a:noFill/>
          <a:ln/>
        </p:spPr>
        <p:txBody>
          <a:bodyPr wrap="square" rtlCol="0" anchor="ctr"/>
          <a:lstStyle/>
          <a:p>
            <a:pPr indent="0" marL="0">
              <a:buNone/>
            </a:pPr>
            <a:r>
              <a:rPr lang="en-US" sz="1000" b="1" dirty="0">
                <a:solidFill>
                  <a:srgbClr val="1A56DB"/>
                </a:solidFill>
              </a:rPr>
              <a:t>LangGraph</a:t>
            </a:r>
            <a:endParaRPr lang="en-US" sz="1000" dirty="0"/>
          </a:p>
        </p:txBody>
      </p:sp>
      <p:sp>
        <p:nvSpPr>
          <p:cNvPr id="20" name="Text 18"/>
          <p:cNvSpPr/>
          <p:nvPr/>
        </p:nvSpPr>
        <p:spPr>
          <a:xfrm>
            <a:off x="5623560" y="2313432"/>
            <a:ext cx="2971800" cy="301752"/>
          </a:xfrm>
          <a:prstGeom prst="rect">
            <a:avLst/>
          </a:prstGeom>
          <a:noFill/>
          <a:ln/>
        </p:spPr>
        <p:txBody>
          <a:bodyPr wrap="square" rtlCol="0" anchor="ctr"/>
          <a:lstStyle/>
          <a:p>
            <a:pPr indent="0" marL="0">
              <a:buNone/>
            </a:pPr>
            <a:r>
              <a:rPr lang="en-US" sz="950" dirty="0">
                <a:solidFill>
                  <a:srgbClr val="94A3B8"/>
                </a:solidFill>
              </a:rPr>
              <a:t>Stateful multi-agent graph; cycle detection</a:t>
            </a:r>
            <a:endParaRPr lang="en-US" sz="950" dirty="0"/>
          </a:p>
        </p:txBody>
      </p:sp>
      <p:sp>
        <p:nvSpPr>
          <p:cNvPr id="21" name="Shape 19"/>
          <p:cNvSpPr/>
          <p:nvPr/>
        </p:nvSpPr>
        <p:spPr>
          <a:xfrm>
            <a:off x="411480" y="2651760"/>
            <a:ext cx="8321040" cy="374904"/>
          </a:xfrm>
          <a:prstGeom prst="rect">
            <a:avLst/>
          </a:prstGeom>
          <a:solidFill>
            <a:srgbClr val="FFFFFF"/>
          </a:solidFill>
          <a:ln w="3810">
            <a:solidFill>
              <a:srgbClr val="E2E8F0"/>
            </a:solidFill>
            <a:prstDash val="solid"/>
          </a:ln>
        </p:spPr>
      </p:sp>
      <p:sp>
        <p:nvSpPr>
          <p:cNvPr id="22" name="Text 20"/>
          <p:cNvSpPr/>
          <p:nvPr/>
        </p:nvSpPr>
        <p:spPr>
          <a:xfrm>
            <a:off x="502920" y="2688336"/>
            <a:ext cx="1691640" cy="301752"/>
          </a:xfrm>
          <a:prstGeom prst="rect">
            <a:avLst/>
          </a:prstGeom>
          <a:noFill/>
          <a:ln/>
        </p:spPr>
        <p:txBody>
          <a:bodyPr wrap="square" rtlCol="0" anchor="ctr"/>
          <a:lstStyle/>
          <a:p>
            <a:pPr indent="0" marL="0">
              <a:buNone/>
            </a:pPr>
            <a:r>
              <a:rPr lang="en-US" sz="1000" b="1" dirty="0">
                <a:solidFill>
                  <a:srgbClr val="1E293B"/>
                </a:solidFill>
              </a:rPr>
              <a:t>LLM Gateway</a:t>
            </a:r>
            <a:endParaRPr lang="en-US" sz="1000" dirty="0"/>
          </a:p>
        </p:txBody>
      </p:sp>
      <p:sp>
        <p:nvSpPr>
          <p:cNvPr id="23" name="Text 21"/>
          <p:cNvSpPr/>
          <p:nvPr/>
        </p:nvSpPr>
        <p:spPr>
          <a:xfrm>
            <a:off x="2331720" y="2688336"/>
            <a:ext cx="3154680" cy="301752"/>
          </a:xfrm>
          <a:prstGeom prst="rect">
            <a:avLst/>
          </a:prstGeom>
          <a:noFill/>
          <a:ln/>
        </p:spPr>
        <p:txBody>
          <a:bodyPr wrap="square" rtlCol="0" anchor="ctr"/>
          <a:lstStyle/>
          <a:p>
            <a:pPr indent="0" marL="0">
              <a:buNone/>
            </a:pPr>
            <a:r>
              <a:rPr lang="en-US" sz="1000" b="1" dirty="0">
                <a:solidFill>
                  <a:srgbClr val="1A56DB"/>
                </a:solidFill>
              </a:rPr>
              <a:t>OpenRouter</a:t>
            </a:r>
            <a:endParaRPr lang="en-US" sz="1000" dirty="0"/>
          </a:p>
        </p:txBody>
      </p:sp>
      <p:sp>
        <p:nvSpPr>
          <p:cNvPr id="24" name="Text 22"/>
          <p:cNvSpPr/>
          <p:nvPr/>
        </p:nvSpPr>
        <p:spPr>
          <a:xfrm>
            <a:off x="5623560" y="2688336"/>
            <a:ext cx="2971800" cy="301752"/>
          </a:xfrm>
          <a:prstGeom prst="rect">
            <a:avLst/>
          </a:prstGeom>
          <a:noFill/>
          <a:ln/>
        </p:spPr>
        <p:txBody>
          <a:bodyPr wrap="square" rtlCol="0" anchor="ctr"/>
          <a:lstStyle/>
          <a:p>
            <a:pPr indent="0" marL="0">
              <a:buNone/>
            </a:pPr>
            <a:r>
              <a:rPr lang="en-US" sz="950" dirty="0">
                <a:solidFill>
                  <a:srgbClr val="94A3B8"/>
                </a:solidFill>
              </a:rPr>
              <a:t>Default: gpt-4o-mini  |  Fallbacks: gpt-4o, Llama</a:t>
            </a:r>
            <a:endParaRPr lang="en-US" sz="950" dirty="0"/>
          </a:p>
        </p:txBody>
      </p:sp>
      <p:sp>
        <p:nvSpPr>
          <p:cNvPr id="25" name="Shape 23"/>
          <p:cNvSpPr/>
          <p:nvPr/>
        </p:nvSpPr>
        <p:spPr>
          <a:xfrm>
            <a:off x="411480" y="3026664"/>
            <a:ext cx="8321040" cy="374904"/>
          </a:xfrm>
          <a:prstGeom prst="rect">
            <a:avLst/>
          </a:prstGeom>
          <a:solidFill>
            <a:srgbClr val="F8FAFC"/>
          </a:solidFill>
          <a:ln w="3810">
            <a:solidFill>
              <a:srgbClr val="E2E8F0"/>
            </a:solidFill>
            <a:prstDash val="solid"/>
          </a:ln>
        </p:spPr>
      </p:sp>
      <p:sp>
        <p:nvSpPr>
          <p:cNvPr id="26" name="Text 24"/>
          <p:cNvSpPr/>
          <p:nvPr/>
        </p:nvSpPr>
        <p:spPr>
          <a:xfrm>
            <a:off x="502920" y="3063240"/>
            <a:ext cx="1691640" cy="301752"/>
          </a:xfrm>
          <a:prstGeom prst="rect">
            <a:avLst/>
          </a:prstGeom>
          <a:noFill/>
          <a:ln/>
        </p:spPr>
        <p:txBody>
          <a:bodyPr wrap="square" rtlCol="0" anchor="ctr"/>
          <a:lstStyle/>
          <a:p>
            <a:pPr indent="0" marL="0">
              <a:buNone/>
            </a:pPr>
            <a:r>
              <a:rPr lang="en-US" sz="1000" b="1" dirty="0">
                <a:solidFill>
                  <a:srgbClr val="1E293B"/>
                </a:solidFill>
              </a:rPr>
              <a:t>Database</a:t>
            </a:r>
            <a:endParaRPr lang="en-US" sz="1000" dirty="0"/>
          </a:p>
        </p:txBody>
      </p:sp>
      <p:sp>
        <p:nvSpPr>
          <p:cNvPr id="27" name="Text 25"/>
          <p:cNvSpPr/>
          <p:nvPr/>
        </p:nvSpPr>
        <p:spPr>
          <a:xfrm>
            <a:off x="2331720" y="3063240"/>
            <a:ext cx="3154680" cy="301752"/>
          </a:xfrm>
          <a:prstGeom prst="rect">
            <a:avLst/>
          </a:prstGeom>
          <a:noFill/>
          <a:ln/>
        </p:spPr>
        <p:txBody>
          <a:bodyPr wrap="square" rtlCol="0" anchor="ctr"/>
          <a:lstStyle/>
          <a:p>
            <a:pPr indent="0" marL="0">
              <a:buNone/>
            </a:pPr>
            <a:r>
              <a:rPr lang="en-US" sz="1000" b="1" dirty="0">
                <a:solidFill>
                  <a:srgbClr val="1A56DB"/>
                </a:solidFill>
              </a:rPr>
              <a:t>PostgreSQL 15 + SQLAlchemy + asyncpg</a:t>
            </a:r>
            <a:endParaRPr lang="en-US" sz="1000" dirty="0"/>
          </a:p>
        </p:txBody>
      </p:sp>
      <p:sp>
        <p:nvSpPr>
          <p:cNvPr id="28" name="Text 26"/>
          <p:cNvSpPr/>
          <p:nvPr/>
        </p:nvSpPr>
        <p:spPr>
          <a:xfrm>
            <a:off x="5623560" y="3063240"/>
            <a:ext cx="2971800" cy="301752"/>
          </a:xfrm>
          <a:prstGeom prst="rect">
            <a:avLst/>
          </a:prstGeom>
          <a:noFill/>
          <a:ln/>
        </p:spPr>
        <p:txBody>
          <a:bodyPr wrap="square" rtlCol="0" anchor="ctr"/>
          <a:lstStyle/>
          <a:p>
            <a:pPr indent="0" marL="0">
              <a:buNone/>
            </a:pPr>
            <a:r>
              <a:rPr lang="en-US" sz="950" dirty="0">
                <a:solidFill>
                  <a:srgbClr val="94A3B8"/>
                </a:solidFill>
              </a:rPr>
              <a:t>Cloud SQL private IP in GCP</a:t>
            </a:r>
            <a:endParaRPr lang="en-US" sz="950" dirty="0"/>
          </a:p>
        </p:txBody>
      </p:sp>
      <p:sp>
        <p:nvSpPr>
          <p:cNvPr id="29" name="Shape 27"/>
          <p:cNvSpPr/>
          <p:nvPr/>
        </p:nvSpPr>
        <p:spPr>
          <a:xfrm>
            <a:off x="411480" y="3401568"/>
            <a:ext cx="8321040" cy="374904"/>
          </a:xfrm>
          <a:prstGeom prst="rect">
            <a:avLst/>
          </a:prstGeom>
          <a:solidFill>
            <a:srgbClr val="FFFFFF"/>
          </a:solidFill>
          <a:ln w="3810">
            <a:solidFill>
              <a:srgbClr val="E2E8F0"/>
            </a:solidFill>
            <a:prstDash val="solid"/>
          </a:ln>
        </p:spPr>
      </p:sp>
      <p:sp>
        <p:nvSpPr>
          <p:cNvPr id="30" name="Text 28"/>
          <p:cNvSpPr/>
          <p:nvPr/>
        </p:nvSpPr>
        <p:spPr>
          <a:xfrm>
            <a:off x="502920" y="3438144"/>
            <a:ext cx="1691640" cy="301752"/>
          </a:xfrm>
          <a:prstGeom prst="rect">
            <a:avLst/>
          </a:prstGeom>
          <a:noFill/>
          <a:ln/>
        </p:spPr>
        <p:txBody>
          <a:bodyPr wrap="square" rtlCol="0" anchor="ctr"/>
          <a:lstStyle/>
          <a:p>
            <a:pPr indent="0" marL="0">
              <a:buNone/>
            </a:pPr>
            <a:r>
              <a:rPr lang="en-US" sz="1000" b="1" dirty="0">
                <a:solidFill>
                  <a:srgbClr val="1E293B"/>
                </a:solidFill>
              </a:rPr>
              <a:t>Cache / State</a:t>
            </a:r>
            <a:endParaRPr lang="en-US" sz="1000" dirty="0"/>
          </a:p>
        </p:txBody>
      </p:sp>
      <p:sp>
        <p:nvSpPr>
          <p:cNvPr id="31" name="Text 29"/>
          <p:cNvSpPr/>
          <p:nvPr/>
        </p:nvSpPr>
        <p:spPr>
          <a:xfrm>
            <a:off x="2331720" y="3438144"/>
            <a:ext cx="3154680" cy="301752"/>
          </a:xfrm>
          <a:prstGeom prst="rect">
            <a:avLst/>
          </a:prstGeom>
          <a:noFill/>
          <a:ln/>
        </p:spPr>
        <p:txBody>
          <a:bodyPr wrap="square" rtlCol="0" anchor="ctr"/>
          <a:lstStyle/>
          <a:p>
            <a:pPr indent="0" marL="0">
              <a:buNone/>
            </a:pPr>
            <a:r>
              <a:rPr lang="en-US" sz="1000" b="1" dirty="0">
                <a:solidFill>
                  <a:srgbClr val="1A56DB"/>
                </a:solidFill>
              </a:rPr>
              <a:t>Redis 7</a:t>
            </a:r>
            <a:endParaRPr lang="en-US" sz="1000" dirty="0"/>
          </a:p>
        </p:txBody>
      </p:sp>
      <p:sp>
        <p:nvSpPr>
          <p:cNvPr id="32" name="Text 30"/>
          <p:cNvSpPr/>
          <p:nvPr/>
        </p:nvSpPr>
        <p:spPr>
          <a:xfrm>
            <a:off x="5623560" y="3438144"/>
            <a:ext cx="2971800" cy="301752"/>
          </a:xfrm>
          <a:prstGeom prst="rect">
            <a:avLst/>
          </a:prstGeom>
          <a:noFill/>
          <a:ln/>
        </p:spPr>
        <p:txBody>
          <a:bodyPr wrap="square" rtlCol="0" anchor="ctr"/>
          <a:lstStyle/>
          <a:p>
            <a:pPr indent="0" marL="0">
              <a:buNone/>
            </a:pPr>
            <a:r>
              <a:rPr lang="en-US" sz="950" dirty="0">
                <a:solidFill>
                  <a:srgbClr val="94A3B8"/>
                </a:solidFill>
              </a:rPr>
              <a:t>Memorystore in GCP; agent state &amp; rate limiting</a:t>
            </a:r>
            <a:endParaRPr lang="en-US" sz="950" dirty="0"/>
          </a:p>
        </p:txBody>
      </p:sp>
      <p:sp>
        <p:nvSpPr>
          <p:cNvPr id="33" name="Shape 31"/>
          <p:cNvSpPr/>
          <p:nvPr/>
        </p:nvSpPr>
        <p:spPr>
          <a:xfrm>
            <a:off x="411480" y="3776472"/>
            <a:ext cx="8321040" cy="374904"/>
          </a:xfrm>
          <a:prstGeom prst="rect">
            <a:avLst/>
          </a:prstGeom>
          <a:solidFill>
            <a:srgbClr val="F8FAFC"/>
          </a:solidFill>
          <a:ln w="3810">
            <a:solidFill>
              <a:srgbClr val="E2E8F0"/>
            </a:solidFill>
            <a:prstDash val="solid"/>
          </a:ln>
        </p:spPr>
      </p:sp>
      <p:sp>
        <p:nvSpPr>
          <p:cNvPr id="34" name="Text 32"/>
          <p:cNvSpPr/>
          <p:nvPr/>
        </p:nvSpPr>
        <p:spPr>
          <a:xfrm>
            <a:off x="502920" y="3813048"/>
            <a:ext cx="1691640" cy="301752"/>
          </a:xfrm>
          <a:prstGeom prst="rect">
            <a:avLst/>
          </a:prstGeom>
          <a:noFill/>
          <a:ln/>
        </p:spPr>
        <p:txBody>
          <a:bodyPr wrap="square" rtlCol="0" anchor="ctr"/>
          <a:lstStyle/>
          <a:p>
            <a:pPr indent="0" marL="0">
              <a:buNone/>
            </a:pPr>
            <a:r>
              <a:rPr lang="en-US" sz="1000" b="1" dirty="0">
                <a:solidFill>
                  <a:srgbClr val="1E293B"/>
                </a:solidFill>
              </a:rPr>
              <a:t>Auth</a:t>
            </a:r>
            <a:endParaRPr lang="en-US" sz="1000" dirty="0"/>
          </a:p>
        </p:txBody>
      </p:sp>
      <p:sp>
        <p:nvSpPr>
          <p:cNvPr id="35" name="Text 33"/>
          <p:cNvSpPr/>
          <p:nvPr/>
        </p:nvSpPr>
        <p:spPr>
          <a:xfrm>
            <a:off x="2331720" y="3813048"/>
            <a:ext cx="3154680" cy="301752"/>
          </a:xfrm>
          <a:prstGeom prst="rect">
            <a:avLst/>
          </a:prstGeom>
          <a:noFill/>
          <a:ln/>
        </p:spPr>
        <p:txBody>
          <a:bodyPr wrap="square" rtlCol="0" anchor="ctr"/>
          <a:lstStyle/>
          <a:p>
            <a:pPr indent="0" marL="0">
              <a:buNone/>
            </a:pPr>
            <a:r>
              <a:rPr lang="en-US" sz="1000" b="1" dirty="0">
                <a:solidFill>
                  <a:srgbClr val="1A56DB"/>
                </a:solidFill>
              </a:rPr>
              <a:t>Google Sign-In → App JWT (httpOnly cookie)</a:t>
            </a:r>
            <a:endParaRPr lang="en-US" sz="1000" dirty="0"/>
          </a:p>
        </p:txBody>
      </p:sp>
      <p:sp>
        <p:nvSpPr>
          <p:cNvPr id="36" name="Text 34"/>
          <p:cNvSpPr/>
          <p:nvPr/>
        </p:nvSpPr>
        <p:spPr>
          <a:xfrm>
            <a:off x="5623560" y="3813048"/>
            <a:ext cx="2971800" cy="301752"/>
          </a:xfrm>
          <a:prstGeom prst="rect">
            <a:avLst/>
          </a:prstGeom>
          <a:noFill/>
          <a:ln/>
        </p:spPr>
        <p:txBody>
          <a:bodyPr wrap="square" rtlCol="0" anchor="ctr"/>
          <a:lstStyle/>
          <a:p>
            <a:pPr indent="0" marL="0">
              <a:buNone/>
            </a:pPr>
            <a:r>
              <a:rPr lang="en-US" sz="950" dirty="0">
                <a:solidFill>
                  <a:srgbClr val="94A3B8"/>
                </a:solidFill>
              </a:rPr>
              <a:t>POST /api/v1/auth/google; Bearer or cookie</a:t>
            </a:r>
            <a:endParaRPr lang="en-US" sz="950" dirty="0"/>
          </a:p>
        </p:txBody>
      </p:sp>
      <p:sp>
        <p:nvSpPr>
          <p:cNvPr id="37" name="Shape 35"/>
          <p:cNvSpPr/>
          <p:nvPr/>
        </p:nvSpPr>
        <p:spPr>
          <a:xfrm>
            <a:off x="411480" y="4151376"/>
            <a:ext cx="8321040" cy="374904"/>
          </a:xfrm>
          <a:prstGeom prst="rect">
            <a:avLst/>
          </a:prstGeom>
          <a:solidFill>
            <a:srgbClr val="FFFFFF"/>
          </a:solidFill>
          <a:ln w="3810">
            <a:solidFill>
              <a:srgbClr val="E2E8F0"/>
            </a:solidFill>
            <a:prstDash val="solid"/>
          </a:ln>
        </p:spPr>
      </p:sp>
      <p:sp>
        <p:nvSpPr>
          <p:cNvPr id="38" name="Text 36"/>
          <p:cNvSpPr/>
          <p:nvPr/>
        </p:nvSpPr>
        <p:spPr>
          <a:xfrm>
            <a:off x="502920" y="4187952"/>
            <a:ext cx="1691640" cy="301752"/>
          </a:xfrm>
          <a:prstGeom prst="rect">
            <a:avLst/>
          </a:prstGeom>
          <a:noFill/>
          <a:ln/>
        </p:spPr>
        <p:txBody>
          <a:bodyPr wrap="square" rtlCol="0" anchor="ctr"/>
          <a:lstStyle/>
          <a:p>
            <a:pPr indent="0" marL="0">
              <a:buNone/>
            </a:pPr>
            <a:r>
              <a:rPr lang="en-US" sz="1000" b="1" dirty="0">
                <a:solidFill>
                  <a:srgbClr val="1E293B"/>
                </a:solidFill>
              </a:rPr>
              <a:t>MCP Servers</a:t>
            </a:r>
            <a:endParaRPr lang="en-US" sz="1000" dirty="0"/>
          </a:p>
        </p:txBody>
      </p:sp>
      <p:sp>
        <p:nvSpPr>
          <p:cNvPr id="39" name="Text 37"/>
          <p:cNvSpPr/>
          <p:nvPr/>
        </p:nvSpPr>
        <p:spPr>
          <a:xfrm>
            <a:off x="2331720" y="4187952"/>
            <a:ext cx="3154680" cy="301752"/>
          </a:xfrm>
          <a:prstGeom prst="rect">
            <a:avLst/>
          </a:prstGeom>
          <a:noFill/>
          <a:ln/>
        </p:spPr>
        <p:txBody>
          <a:bodyPr wrap="square" rtlCol="0" anchor="ctr"/>
          <a:lstStyle/>
          <a:p>
            <a:pPr indent="0" marL="0">
              <a:buNone/>
            </a:pPr>
            <a:r>
              <a:rPr lang="en-US" sz="1000" b="1" dirty="0">
                <a:solidFill>
                  <a:srgbClr val="1A56DB"/>
                </a:solidFill>
              </a:rPr>
              <a:t>FastMCP Python modules</a:t>
            </a:r>
            <a:endParaRPr lang="en-US" sz="1000" dirty="0"/>
          </a:p>
        </p:txBody>
      </p:sp>
      <p:sp>
        <p:nvSpPr>
          <p:cNvPr id="40" name="Text 38"/>
          <p:cNvSpPr/>
          <p:nvPr/>
        </p:nvSpPr>
        <p:spPr>
          <a:xfrm>
            <a:off x="5623560" y="4187952"/>
            <a:ext cx="2971800" cy="301752"/>
          </a:xfrm>
          <a:prstGeom prst="rect">
            <a:avLst/>
          </a:prstGeom>
          <a:noFill/>
          <a:ln/>
        </p:spPr>
        <p:txBody>
          <a:bodyPr wrap="square" rtlCol="0" anchor="ctr"/>
          <a:lstStyle/>
          <a:p>
            <a:pPr indent="0" marL="0">
              <a:buNone/>
            </a:pPr>
            <a:r>
              <a:rPr lang="en-US" sz="950" dirty="0">
                <a:solidFill>
                  <a:srgbClr val="94A3B8"/>
                </a:solidFill>
              </a:rPr>
              <a:t>GitHub · Notion · Calendar · Gmail</a:t>
            </a:r>
            <a:endParaRPr lang="en-US" sz="950" dirty="0"/>
          </a:p>
        </p:txBody>
      </p:sp>
      <p:sp>
        <p:nvSpPr>
          <p:cNvPr id="41" name="Shape 39"/>
          <p:cNvSpPr/>
          <p:nvPr/>
        </p:nvSpPr>
        <p:spPr>
          <a:xfrm>
            <a:off x="411480" y="4526280"/>
            <a:ext cx="8321040" cy="374904"/>
          </a:xfrm>
          <a:prstGeom prst="rect">
            <a:avLst/>
          </a:prstGeom>
          <a:solidFill>
            <a:srgbClr val="F8FAFC"/>
          </a:solidFill>
          <a:ln w="3810">
            <a:solidFill>
              <a:srgbClr val="E2E8F0"/>
            </a:solidFill>
            <a:prstDash val="solid"/>
          </a:ln>
        </p:spPr>
      </p:sp>
      <p:sp>
        <p:nvSpPr>
          <p:cNvPr id="42" name="Text 40"/>
          <p:cNvSpPr/>
          <p:nvPr/>
        </p:nvSpPr>
        <p:spPr>
          <a:xfrm>
            <a:off x="502920" y="4562856"/>
            <a:ext cx="1691640" cy="301752"/>
          </a:xfrm>
          <a:prstGeom prst="rect">
            <a:avLst/>
          </a:prstGeom>
          <a:noFill/>
          <a:ln/>
        </p:spPr>
        <p:txBody>
          <a:bodyPr wrap="square" rtlCol="0" anchor="ctr"/>
          <a:lstStyle/>
          <a:p>
            <a:pPr indent="0" marL="0">
              <a:buNone/>
            </a:pPr>
            <a:r>
              <a:rPr lang="en-US" sz="1000" b="1" dirty="0">
                <a:solidFill>
                  <a:srgbClr val="1E293B"/>
                </a:solidFill>
              </a:rPr>
              <a:t>Infrastructure</a:t>
            </a:r>
            <a:endParaRPr lang="en-US" sz="1000" dirty="0"/>
          </a:p>
        </p:txBody>
      </p:sp>
      <p:sp>
        <p:nvSpPr>
          <p:cNvPr id="43" name="Text 41"/>
          <p:cNvSpPr/>
          <p:nvPr/>
        </p:nvSpPr>
        <p:spPr>
          <a:xfrm>
            <a:off x="2331720" y="4562856"/>
            <a:ext cx="3154680" cy="301752"/>
          </a:xfrm>
          <a:prstGeom prst="rect">
            <a:avLst/>
          </a:prstGeom>
          <a:noFill/>
          <a:ln/>
        </p:spPr>
        <p:txBody>
          <a:bodyPr wrap="square" rtlCol="0" anchor="ctr"/>
          <a:lstStyle/>
          <a:p>
            <a:pPr indent="0" marL="0">
              <a:buNone/>
            </a:pPr>
            <a:r>
              <a:rPr lang="en-US" sz="1000" b="1" dirty="0">
                <a:solidFill>
                  <a:srgbClr val="1A56DB"/>
                </a:solidFill>
              </a:rPr>
              <a:t>GCP Cloud Run (gen2) + Terraform</a:t>
            </a:r>
            <a:endParaRPr lang="en-US" sz="1000" dirty="0"/>
          </a:p>
        </p:txBody>
      </p:sp>
      <p:sp>
        <p:nvSpPr>
          <p:cNvPr id="44" name="Text 42"/>
          <p:cNvSpPr/>
          <p:nvPr/>
        </p:nvSpPr>
        <p:spPr>
          <a:xfrm>
            <a:off x="5623560" y="4562856"/>
            <a:ext cx="2971800" cy="301752"/>
          </a:xfrm>
          <a:prstGeom prst="rect">
            <a:avLst/>
          </a:prstGeom>
          <a:noFill/>
          <a:ln/>
        </p:spPr>
        <p:txBody>
          <a:bodyPr wrap="square" rtlCol="0" anchor="ctr"/>
          <a:lstStyle/>
          <a:p>
            <a:pPr indent="0" marL="0">
              <a:buNone/>
            </a:pPr>
            <a:r>
              <a:rPr lang="en-US" sz="950" dirty="0">
                <a:solidFill>
                  <a:srgbClr val="94A3B8"/>
                </a:solidFill>
              </a:rPr>
              <a:t>Single container; VPC · Cloud SQL · Memorystore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F3D"/>
        </a:solidFill>
      </p:bgPr>
    </p:bg>
    <p:spTree>
      <p:nvGrpSpPr>
        <p:cNvPr id="1" name=""/>
        <p:cNvGrpSpPr/>
        <p:nvPr/>
      </p:nvGrpSpPr>
      <p:grpSpPr>
        <a:xfrm>
          <a:off x="0" y="0"/>
          <a:ext cx="0" cy="0"/>
          <a:chOff x="0" y="0"/>
          <a:chExt cx="0" cy="0"/>
        </a:xfrm>
      </p:grpSpPr>
      <p:sp>
        <p:nvSpPr>
          <p:cNvPr id="2" name="Shape 0"/>
          <p:cNvSpPr/>
          <p:nvPr/>
        </p:nvSpPr>
        <p:spPr>
          <a:xfrm>
            <a:off x="411480" y="201168"/>
            <a:ext cx="1645920" cy="256032"/>
          </a:xfrm>
          <a:prstGeom prst="roundRect">
            <a:avLst>
              <a:gd name="adj" fmla="val 50000"/>
            </a:avLst>
          </a:prstGeom>
          <a:solidFill>
            <a:srgbClr val="1A56DB">
              <a:alpha val="15000"/>
            </a:srgbClr>
          </a:solidFill>
          <a:ln w="6350">
            <a:solidFill>
              <a:srgbClr val="1A56DB"/>
            </a:solidFill>
            <a:prstDash val="solid"/>
          </a:ln>
        </p:spPr>
      </p:sp>
      <p:sp>
        <p:nvSpPr>
          <p:cNvPr id="3" name="Text 1"/>
          <p:cNvSpPr/>
          <p:nvPr/>
        </p:nvSpPr>
        <p:spPr>
          <a:xfrm>
            <a:off x="411480" y="201168"/>
            <a:ext cx="1645920" cy="256032"/>
          </a:xfrm>
          <a:prstGeom prst="rect">
            <a:avLst/>
          </a:prstGeom>
          <a:noFill/>
          <a:ln/>
        </p:spPr>
        <p:txBody>
          <a:bodyPr wrap="square" lIns="0" tIns="0" rIns="0" bIns="0" rtlCol="0" anchor="ctr"/>
          <a:lstStyle/>
          <a:p>
            <a:pPr algn="ctr" indent="0" marL="0">
              <a:buNone/>
            </a:pPr>
            <a:r>
              <a:rPr lang="en-US" sz="900" b="1" dirty="0">
                <a:solidFill>
                  <a:srgbClr val="1A56DB"/>
                </a:solidFill>
              </a:rPr>
              <a:t>AGENT PIPELINE</a:t>
            </a:r>
            <a:endParaRPr lang="en-US" sz="900" dirty="0"/>
          </a:p>
        </p:txBody>
      </p:sp>
      <p:sp>
        <p:nvSpPr>
          <p:cNvPr id="4" name="Text 2"/>
          <p:cNvSpPr/>
          <p:nvPr/>
        </p:nvSpPr>
        <p:spPr>
          <a:xfrm>
            <a:off x="411480" y="502920"/>
            <a:ext cx="8321040" cy="640080"/>
          </a:xfrm>
          <a:prstGeom prst="rect">
            <a:avLst/>
          </a:prstGeom>
          <a:noFill/>
          <a:ln/>
        </p:spPr>
        <p:txBody>
          <a:bodyPr wrap="square" rtlCol="0" anchor="ctr"/>
          <a:lstStyle/>
          <a:p>
            <a:pPr indent="0" marL="0">
              <a:buNone/>
            </a:pPr>
            <a:r>
              <a:rPr lang="en-US" sz="3000" b="1" dirty="0">
                <a:solidFill>
                  <a:srgbClr val="FFFFFF"/>
                </a:solidFill>
              </a:rPr>
              <a:t>5-Node LangGraph Pipeline</a:t>
            </a:r>
            <a:endParaRPr lang="en-US" sz="3000" dirty="0"/>
          </a:p>
        </p:txBody>
      </p:sp>
      <p:sp>
        <p:nvSpPr>
          <p:cNvPr id="5" name="Shape 3"/>
          <p:cNvSpPr/>
          <p:nvPr/>
        </p:nvSpPr>
        <p:spPr>
          <a:xfrm>
            <a:off x="411480" y="1280160"/>
            <a:ext cx="1993392" cy="2286000"/>
          </a:xfrm>
          <a:prstGeom prst="rect">
            <a:avLst/>
          </a:prstGeom>
          <a:solidFill>
            <a:srgbClr val="0D2137"/>
          </a:solidFill>
          <a:ln w="6350">
            <a:solidFill>
              <a:srgbClr val="E2E8F0"/>
            </a:solidFill>
            <a:prstDash val="solid"/>
          </a:ln>
        </p:spPr>
      </p:sp>
      <p:sp>
        <p:nvSpPr>
          <p:cNvPr id="6" name="Shape 4"/>
          <p:cNvSpPr/>
          <p:nvPr/>
        </p:nvSpPr>
        <p:spPr>
          <a:xfrm>
            <a:off x="1115568" y="1371600"/>
            <a:ext cx="548640" cy="548640"/>
          </a:xfrm>
          <a:prstGeom prst="roundRect">
            <a:avLst>
              <a:gd name="adj" fmla="val 50000"/>
            </a:avLst>
          </a:prstGeom>
          <a:solidFill>
            <a:srgbClr val="1A56DB"/>
          </a:solidFill>
          <a:ln w="12700">
            <a:solidFill>
              <a:srgbClr val="1A56DB"/>
            </a:solidFill>
            <a:prstDash val="solid"/>
          </a:ln>
        </p:spPr>
      </p:sp>
      <p:sp>
        <p:nvSpPr>
          <p:cNvPr id="7" name="Text 5"/>
          <p:cNvSpPr/>
          <p:nvPr/>
        </p:nvSpPr>
        <p:spPr>
          <a:xfrm>
            <a:off x="1115568" y="137160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rPr>
              <a:t>01</a:t>
            </a:r>
            <a:endParaRPr lang="en-US" sz="1400" dirty="0"/>
          </a:p>
        </p:txBody>
      </p:sp>
      <p:sp>
        <p:nvSpPr>
          <p:cNvPr id="8" name="Text 6"/>
          <p:cNvSpPr/>
          <p:nvPr/>
        </p:nvSpPr>
        <p:spPr>
          <a:xfrm>
            <a:off x="502920" y="2029968"/>
            <a:ext cx="1810512" cy="329184"/>
          </a:xfrm>
          <a:prstGeom prst="rect">
            <a:avLst/>
          </a:prstGeom>
          <a:noFill/>
          <a:ln/>
        </p:spPr>
        <p:txBody>
          <a:bodyPr wrap="square" rtlCol="0" anchor="ctr"/>
          <a:lstStyle/>
          <a:p>
            <a:pPr algn="ctr" indent="0" marL="0">
              <a:buNone/>
            </a:pPr>
            <a:r>
              <a:rPr lang="en-US" sz="1200" b="1" dirty="0">
                <a:solidFill>
                  <a:srgbClr val="FFFFFF"/>
                </a:solidFill>
              </a:rPr>
              <a:t>Intent Node</a:t>
            </a:r>
            <a:endParaRPr lang="en-US" sz="1200" dirty="0"/>
          </a:p>
        </p:txBody>
      </p:sp>
      <p:sp>
        <p:nvSpPr>
          <p:cNvPr id="9" name="Text 7"/>
          <p:cNvSpPr/>
          <p:nvPr/>
        </p:nvSpPr>
        <p:spPr>
          <a:xfrm>
            <a:off x="502920" y="2377440"/>
            <a:ext cx="1810512" cy="1051560"/>
          </a:xfrm>
          <a:prstGeom prst="rect">
            <a:avLst/>
          </a:prstGeom>
          <a:noFill/>
          <a:ln/>
        </p:spPr>
        <p:txBody>
          <a:bodyPr wrap="square" rtlCol="0" anchor="ctr"/>
          <a:lstStyle/>
          <a:p>
            <a:pPr algn="ctr" indent="0" marL="0">
              <a:buNone/>
            </a:pPr>
            <a:r>
              <a:rPr lang="en-US" sz="950" dirty="0">
                <a:solidFill>
                  <a:srgbClr val="9ECFFF"/>
                </a:solidFill>
              </a:rPr>
              <a:t>Classifies NL request → structured intent</a:t>
            </a:r>
            <a:endParaRPr lang="en-US" sz="950" dirty="0"/>
          </a:p>
          <a:p>
            <a:pPr algn="ctr" indent="0" marL="0">
              <a:buNone/>
            </a:pPr>
            <a:r>
              <a:rPr lang="en-US" sz="950" dirty="0">
                <a:solidFill>
                  <a:srgbClr val="9ECFFF"/>
                </a:solidFill>
              </a:rPr>
              <a:t>(e.g. agenda_preparation, confidence 0.95)</a:t>
            </a:r>
            <a:endParaRPr lang="en-US" sz="950" dirty="0"/>
          </a:p>
        </p:txBody>
      </p:sp>
      <p:sp>
        <p:nvSpPr>
          <p:cNvPr id="10" name="Shape 8"/>
          <p:cNvSpPr/>
          <p:nvPr/>
        </p:nvSpPr>
        <p:spPr>
          <a:xfrm>
            <a:off x="2441448" y="2395728"/>
            <a:ext cx="109728" cy="201168"/>
          </a:xfrm>
          <a:prstGeom prst="rect">
            <a:avLst/>
          </a:prstGeom>
          <a:solidFill>
            <a:srgbClr val="06B6D4"/>
          </a:solidFill>
          <a:ln w="12700">
            <a:solidFill>
              <a:srgbClr val="06B6D4"/>
            </a:solidFill>
            <a:prstDash val="solid"/>
          </a:ln>
        </p:spPr>
      </p:sp>
      <p:sp>
        <p:nvSpPr>
          <p:cNvPr id="11" name="Shape 9"/>
          <p:cNvSpPr/>
          <p:nvPr/>
        </p:nvSpPr>
        <p:spPr>
          <a:xfrm>
            <a:off x="2587752" y="1280160"/>
            <a:ext cx="1993392" cy="2286000"/>
          </a:xfrm>
          <a:prstGeom prst="rect">
            <a:avLst/>
          </a:prstGeom>
          <a:solidFill>
            <a:srgbClr val="0D2137"/>
          </a:solidFill>
          <a:ln w="6350">
            <a:solidFill>
              <a:srgbClr val="E2E8F0"/>
            </a:solidFill>
            <a:prstDash val="solid"/>
          </a:ln>
        </p:spPr>
      </p:sp>
      <p:sp>
        <p:nvSpPr>
          <p:cNvPr id="12" name="Shape 10"/>
          <p:cNvSpPr/>
          <p:nvPr/>
        </p:nvSpPr>
        <p:spPr>
          <a:xfrm>
            <a:off x="3291840" y="1371600"/>
            <a:ext cx="548640" cy="548640"/>
          </a:xfrm>
          <a:prstGeom prst="roundRect">
            <a:avLst>
              <a:gd name="adj" fmla="val 50000"/>
            </a:avLst>
          </a:prstGeom>
          <a:solidFill>
            <a:srgbClr val="1A56DB"/>
          </a:solidFill>
          <a:ln w="12700">
            <a:solidFill>
              <a:srgbClr val="1A56DB"/>
            </a:solidFill>
            <a:prstDash val="solid"/>
          </a:ln>
        </p:spPr>
      </p:sp>
      <p:sp>
        <p:nvSpPr>
          <p:cNvPr id="13" name="Text 11"/>
          <p:cNvSpPr/>
          <p:nvPr/>
        </p:nvSpPr>
        <p:spPr>
          <a:xfrm>
            <a:off x="3291840" y="137160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rPr>
              <a:t>02</a:t>
            </a:r>
            <a:endParaRPr lang="en-US" sz="1400" dirty="0"/>
          </a:p>
        </p:txBody>
      </p:sp>
      <p:sp>
        <p:nvSpPr>
          <p:cNvPr id="14" name="Text 12"/>
          <p:cNvSpPr/>
          <p:nvPr/>
        </p:nvSpPr>
        <p:spPr>
          <a:xfrm>
            <a:off x="2679192" y="2029968"/>
            <a:ext cx="1810512" cy="329184"/>
          </a:xfrm>
          <a:prstGeom prst="rect">
            <a:avLst/>
          </a:prstGeom>
          <a:noFill/>
          <a:ln/>
        </p:spPr>
        <p:txBody>
          <a:bodyPr wrap="square" rtlCol="0" anchor="ctr"/>
          <a:lstStyle/>
          <a:p>
            <a:pPr algn="ctr" indent="0" marL="0">
              <a:buNone/>
            </a:pPr>
            <a:r>
              <a:rPr lang="en-US" sz="1200" b="1" dirty="0">
                <a:solidFill>
                  <a:srgbClr val="FFFFFF"/>
                </a:solidFill>
              </a:rPr>
              <a:t>Task Planner Node</a:t>
            </a:r>
            <a:endParaRPr lang="en-US" sz="1200" dirty="0"/>
          </a:p>
        </p:txBody>
      </p:sp>
      <p:sp>
        <p:nvSpPr>
          <p:cNvPr id="15" name="Text 13"/>
          <p:cNvSpPr/>
          <p:nvPr/>
        </p:nvSpPr>
        <p:spPr>
          <a:xfrm>
            <a:off x="2679192" y="2377440"/>
            <a:ext cx="1810512" cy="1051560"/>
          </a:xfrm>
          <a:prstGeom prst="rect">
            <a:avLst/>
          </a:prstGeom>
          <a:noFill/>
          <a:ln/>
        </p:spPr>
        <p:txBody>
          <a:bodyPr wrap="square" rtlCol="0" anchor="ctr"/>
          <a:lstStyle/>
          <a:p>
            <a:pPr algn="ctr" indent="0" marL="0">
              <a:buNone/>
            </a:pPr>
            <a:r>
              <a:rPr lang="en-US" sz="950" dirty="0">
                <a:solidFill>
                  <a:srgbClr val="9ECFFF"/>
                </a:solidFill>
              </a:rPr>
              <a:t>LLM decomposes intent → ordered JSON task list</a:t>
            </a:r>
            <a:endParaRPr lang="en-US" sz="950" dirty="0"/>
          </a:p>
          <a:p>
            <a:pPr algn="ctr" indent="0" marL="0">
              <a:buNone/>
            </a:pPr>
            <a:r>
              <a:rPr lang="en-US" sz="950" dirty="0">
                <a:solidFill>
                  <a:srgbClr val="9ECFFF"/>
                </a:solidFill>
              </a:rPr>
              <a:t>using live MCP Tool Catalog from registry</a:t>
            </a:r>
            <a:endParaRPr lang="en-US" sz="950" dirty="0"/>
          </a:p>
        </p:txBody>
      </p:sp>
      <p:sp>
        <p:nvSpPr>
          <p:cNvPr id="16" name="Shape 14"/>
          <p:cNvSpPr/>
          <p:nvPr/>
        </p:nvSpPr>
        <p:spPr>
          <a:xfrm>
            <a:off x="4617720" y="2395728"/>
            <a:ext cx="109728" cy="201168"/>
          </a:xfrm>
          <a:prstGeom prst="rect">
            <a:avLst/>
          </a:prstGeom>
          <a:solidFill>
            <a:srgbClr val="06B6D4"/>
          </a:solidFill>
          <a:ln w="12700">
            <a:solidFill>
              <a:srgbClr val="06B6D4"/>
            </a:solidFill>
            <a:prstDash val="solid"/>
          </a:ln>
        </p:spPr>
      </p:sp>
      <p:sp>
        <p:nvSpPr>
          <p:cNvPr id="17" name="Shape 15"/>
          <p:cNvSpPr/>
          <p:nvPr/>
        </p:nvSpPr>
        <p:spPr>
          <a:xfrm>
            <a:off x="4764024" y="1280160"/>
            <a:ext cx="1993392" cy="2286000"/>
          </a:xfrm>
          <a:prstGeom prst="rect">
            <a:avLst/>
          </a:prstGeom>
          <a:solidFill>
            <a:srgbClr val="0D2137"/>
          </a:solidFill>
          <a:ln w="6350">
            <a:solidFill>
              <a:srgbClr val="E2E8F0"/>
            </a:solidFill>
            <a:prstDash val="solid"/>
          </a:ln>
        </p:spPr>
      </p:sp>
      <p:sp>
        <p:nvSpPr>
          <p:cNvPr id="18" name="Shape 16"/>
          <p:cNvSpPr/>
          <p:nvPr/>
        </p:nvSpPr>
        <p:spPr>
          <a:xfrm>
            <a:off x="5468112" y="1371600"/>
            <a:ext cx="548640" cy="548640"/>
          </a:xfrm>
          <a:prstGeom prst="roundRect">
            <a:avLst>
              <a:gd name="adj" fmla="val 50000"/>
            </a:avLst>
          </a:prstGeom>
          <a:solidFill>
            <a:srgbClr val="1A56DB"/>
          </a:solidFill>
          <a:ln w="12700">
            <a:solidFill>
              <a:srgbClr val="1A56DB"/>
            </a:solidFill>
            <a:prstDash val="solid"/>
          </a:ln>
        </p:spPr>
      </p:sp>
      <p:sp>
        <p:nvSpPr>
          <p:cNvPr id="19" name="Text 17"/>
          <p:cNvSpPr/>
          <p:nvPr/>
        </p:nvSpPr>
        <p:spPr>
          <a:xfrm>
            <a:off x="5468112" y="137160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rPr>
              <a:t>03</a:t>
            </a:r>
            <a:endParaRPr lang="en-US" sz="1400" dirty="0"/>
          </a:p>
        </p:txBody>
      </p:sp>
      <p:sp>
        <p:nvSpPr>
          <p:cNvPr id="20" name="Text 18"/>
          <p:cNvSpPr/>
          <p:nvPr/>
        </p:nvSpPr>
        <p:spPr>
          <a:xfrm>
            <a:off x="4855464" y="2029968"/>
            <a:ext cx="1810512" cy="329184"/>
          </a:xfrm>
          <a:prstGeom prst="rect">
            <a:avLst/>
          </a:prstGeom>
          <a:noFill/>
          <a:ln/>
        </p:spPr>
        <p:txBody>
          <a:bodyPr wrap="square" rtlCol="0" anchor="ctr"/>
          <a:lstStyle/>
          <a:p>
            <a:pPr algn="ctr" indent="0" marL="0">
              <a:buNone/>
            </a:pPr>
            <a:r>
              <a:rPr lang="en-US" sz="1200" b="1" dirty="0">
                <a:solidFill>
                  <a:srgbClr val="FFFFFF"/>
                </a:solidFill>
              </a:rPr>
              <a:t>Action Node</a:t>
            </a:r>
            <a:endParaRPr lang="en-US" sz="1200" dirty="0"/>
          </a:p>
        </p:txBody>
      </p:sp>
      <p:sp>
        <p:nvSpPr>
          <p:cNvPr id="21" name="Text 19"/>
          <p:cNvSpPr/>
          <p:nvPr/>
        </p:nvSpPr>
        <p:spPr>
          <a:xfrm>
            <a:off x="4855464" y="2377440"/>
            <a:ext cx="1810512" cy="1051560"/>
          </a:xfrm>
          <a:prstGeom prst="rect">
            <a:avLst/>
          </a:prstGeom>
          <a:noFill/>
          <a:ln/>
        </p:spPr>
        <p:txBody>
          <a:bodyPr wrap="square" rtlCol="0" anchor="ctr"/>
          <a:lstStyle/>
          <a:p>
            <a:pPr algn="ctr" indent="0" marL="0">
              <a:buNone/>
            </a:pPr>
            <a:r>
              <a:rPr lang="en-US" sz="950" dirty="0">
                <a:solidFill>
                  <a:srgbClr val="9ECFFF"/>
                </a:solidFill>
              </a:rPr>
              <a:t>Executes each task via MCP tool calls</a:t>
            </a:r>
            <a:endParaRPr lang="en-US" sz="950" dirty="0"/>
          </a:p>
          <a:p>
            <a:pPr algn="ctr" indent="0" marL="0">
              <a:buNone/>
            </a:pPr>
            <a:r>
              <a:rPr lang="en-US" sz="950" dirty="0">
                <a:solidFill>
                  <a:srgbClr val="9ECFFF"/>
                </a:solidFill>
              </a:rPr>
              <a:t>Loops back to Planner if more tasks remain</a:t>
            </a:r>
            <a:endParaRPr lang="en-US" sz="950" dirty="0"/>
          </a:p>
        </p:txBody>
      </p:sp>
      <p:sp>
        <p:nvSpPr>
          <p:cNvPr id="22" name="Shape 20"/>
          <p:cNvSpPr/>
          <p:nvPr/>
        </p:nvSpPr>
        <p:spPr>
          <a:xfrm>
            <a:off x="6793992" y="2395728"/>
            <a:ext cx="109728" cy="201168"/>
          </a:xfrm>
          <a:prstGeom prst="rect">
            <a:avLst/>
          </a:prstGeom>
          <a:solidFill>
            <a:srgbClr val="06B6D4"/>
          </a:solidFill>
          <a:ln w="12700">
            <a:solidFill>
              <a:srgbClr val="06B6D4"/>
            </a:solidFill>
            <a:prstDash val="solid"/>
          </a:ln>
        </p:spPr>
      </p:sp>
      <p:sp>
        <p:nvSpPr>
          <p:cNvPr id="23" name="Shape 21"/>
          <p:cNvSpPr/>
          <p:nvPr/>
        </p:nvSpPr>
        <p:spPr>
          <a:xfrm>
            <a:off x="6940296" y="1280160"/>
            <a:ext cx="1993392" cy="2286000"/>
          </a:xfrm>
          <a:prstGeom prst="rect">
            <a:avLst/>
          </a:prstGeom>
          <a:solidFill>
            <a:srgbClr val="0D2137"/>
          </a:solidFill>
          <a:ln w="6350">
            <a:solidFill>
              <a:srgbClr val="E2E8F0"/>
            </a:solidFill>
            <a:prstDash val="solid"/>
          </a:ln>
        </p:spPr>
      </p:sp>
      <p:sp>
        <p:nvSpPr>
          <p:cNvPr id="24" name="Shape 22"/>
          <p:cNvSpPr/>
          <p:nvPr/>
        </p:nvSpPr>
        <p:spPr>
          <a:xfrm>
            <a:off x="7644384" y="1371600"/>
            <a:ext cx="548640" cy="548640"/>
          </a:xfrm>
          <a:prstGeom prst="roundRect">
            <a:avLst>
              <a:gd name="adj" fmla="val 50000"/>
            </a:avLst>
          </a:prstGeom>
          <a:solidFill>
            <a:srgbClr val="1A56DB"/>
          </a:solidFill>
          <a:ln w="12700">
            <a:solidFill>
              <a:srgbClr val="1A56DB"/>
            </a:solidFill>
            <a:prstDash val="solid"/>
          </a:ln>
        </p:spPr>
      </p:sp>
      <p:sp>
        <p:nvSpPr>
          <p:cNvPr id="25" name="Text 23"/>
          <p:cNvSpPr/>
          <p:nvPr/>
        </p:nvSpPr>
        <p:spPr>
          <a:xfrm>
            <a:off x="7644384" y="137160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rPr>
              <a:t>04</a:t>
            </a:r>
            <a:endParaRPr lang="en-US" sz="1400" dirty="0"/>
          </a:p>
        </p:txBody>
      </p:sp>
      <p:sp>
        <p:nvSpPr>
          <p:cNvPr id="26" name="Text 24"/>
          <p:cNvSpPr/>
          <p:nvPr/>
        </p:nvSpPr>
        <p:spPr>
          <a:xfrm>
            <a:off x="7031736" y="2029968"/>
            <a:ext cx="1810512" cy="329184"/>
          </a:xfrm>
          <a:prstGeom prst="rect">
            <a:avLst/>
          </a:prstGeom>
          <a:noFill/>
          <a:ln/>
        </p:spPr>
        <p:txBody>
          <a:bodyPr wrap="square" rtlCol="0" anchor="ctr"/>
          <a:lstStyle/>
          <a:p>
            <a:pPr algn="ctr" indent="0" marL="0">
              <a:buNone/>
            </a:pPr>
            <a:r>
              <a:rPr lang="en-US" sz="1200" b="1" dirty="0">
                <a:solidFill>
                  <a:srgbClr val="FFFFFF"/>
                </a:solidFill>
              </a:rPr>
              <a:t>Response Node</a:t>
            </a:r>
            <a:endParaRPr lang="en-US" sz="1200" dirty="0"/>
          </a:p>
        </p:txBody>
      </p:sp>
      <p:sp>
        <p:nvSpPr>
          <p:cNvPr id="27" name="Text 25"/>
          <p:cNvSpPr/>
          <p:nvPr/>
        </p:nvSpPr>
        <p:spPr>
          <a:xfrm>
            <a:off x="7031736" y="2377440"/>
            <a:ext cx="1810512" cy="1051560"/>
          </a:xfrm>
          <a:prstGeom prst="rect">
            <a:avLst/>
          </a:prstGeom>
          <a:noFill/>
          <a:ln/>
        </p:spPr>
        <p:txBody>
          <a:bodyPr wrap="square" rtlCol="0" anchor="ctr"/>
          <a:lstStyle/>
          <a:p>
            <a:pPr algn="ctr" indent="0" marL="0">
              <a:buNone/>
            </a:pPr>
            <a:r>
              <a:rPr lang="en-US" sz="950" dirty="0">
                <a:solidFill>
                  <a:srgbClr val="9ECFFF"/>
                </a:solidFill>
              </a:rPr>
              <a:t>Converts aggregated tool outputs</a:t>
            </a:r>
            <a:endParaRPr lang="en-US" sz="950" dirty="0"/>
          </a:p>
          <a:p>
            <a:pPr algn="ctr" indent="0" marL="0">
              <a:buNone/>
            </a:pPr>
            <a:r>
              <a:rPr lang="en-US" sz="950" dirty="0">
                <a:solidFill>
                  <a:srgbClr val="9ECFFF"/>
                </a:solidFill>
              </a:rPr>
              <a:t>into natural-language answer for user</a:t>
            </a:r>
            <a:endParaRPr lang="en-US" sz="950" dirty="0"/>
          </a:p>
        </p:txBody>
      </p:sp>
      <p:sp>
        <p:nvSpPr>
          <p:cNvPr id="28" name="Shape 26"/>
          <p:cNvSpPr/>
          <p:nvPr/>
        </p:nvSpPr>
        <p:spPr>
          <a:xfrm>
            <a:off x="411480" y="3749040"/>
            <a:ext cx="8321040" cy="777240"/>
          </a:xfrm>
          <a:prstGeom prst="rect">
            <a:avLst/>
          </a:prstGeom>
          <a:solidFill>
            <a:srgbClr val="0A2540"/>
          </a:solidFill>
          <a:ln w="6350">
            <a:solidFill>
              <a:srgbClr val="E2E8F0"/>
            </a:solidFill>
            <a:prstDash val="solid"/>
          </a:ln>
        </p:spPr>
      </p:sp>
      <p:sp>
        <p:nvSpPr>
          <p:cNvPr id="29" name="Shape 27"/>
          <p:cNvSpPr/>
          <p:nvPr/>
        </p:nvSpPr>
        <p:spPr>
          <a:xfrm>
            <a:off x="411480" y="3749040"/>
            <a:ext cx="54864" cy="777240"/>
          </a:xfrm>
          <a:prstGeom prst="rect">
            <a:avLst/>
          </a:prstGeom>
          <a:solidFill>
            <a:srgbClr val="06B6D4"/>
          </a:solidFill>
          <a:ln w="12700">
            <a:solidFill>
              <a:srgbClr val="06B6D4"/>
            </a:solidFill>
            <a:prstDash val="solid"/>
          </a:ln>
        </p:spPr>
      </p:sp>
      <p:sp>
        <p:nvSpPr>
          <p:cNvPr id="30" name="Text 28"/>
          <p:cNvSpPr/>
          <p:nvPr/>
        </p:nvSpPr>
        <p:spPr>
          <a:xfrm>
            <a:off x="594360" y="3840480"/>
            <a:ext cx="1005840" cy="274320"/>
          </a:xfrm>
          <a:prstGeom prst="rect">
            <a:avLst/>
          </a:prstGeom>
          <a:noFill/>
          <a:ln/>
        </p:spPr>
        <p:txBody>
          <a:bodyPr wrap="square" rtlCol="0" anchor="ctr"/>
          <a:lstStyle/>
          <a:p>
            <a:pPr indent="0" marL="0">
              <a:buNone/>
            </a:pPr>
            <a:r>
              <a:rPr lang="en-US" sz="1100" b="1" dirty="0">
                <a:solidFill>
                  <a:srgbClr val="06B6D4"/>
                </a:solidFill>
              </a:rPr>
              <a:t>Key loop:</a:t>
            </a:r>
            <a:endParaRPr lang="en-US" sz="1100" dirty="0"/>
          </a:p>
        </p:txBody>
      </p:sp>
      <p:sp>
        <p:nvSpPr>
          <p:cNvPr id="31" name="Text 29"/>
          <p:cNvSpPr/>
          <p:nvPr/>
        </p:nvSpPr>
        <p:spPr>
          <a:xfrm>
            <a:off x="1600200" y="3803904"/>
            <a:ext cx="6949440" cy="640080"/>
          </a:xfrm>
          <a:prstGeom prst="rect">
            <a:avLst/>
          </a:prstGeom>
          <a:noFill/>
          <a:ln/>
        </p:spPr>
        <p:txBody>
          <a:bodyPr wrap="square" rtlCol="0" anchor="ctr"/>
          <a:lstStyle/>
          <a:p>
            <a:pPr indent="0" marL="0">
              <a:buNone/>
            </a:pPr>
            <a:r>
              <a:rPr lang="en-US" sz="1000" dirty="0">
                <a:solidFill>
                  <a:srgbClr val="CBD5E1"/>
                </a:solidFill>
              </a:rPr>
              <a:t>Action Node → Task Planner → Action Node  (repeats until all tasks complete or error triggers early exit to Response)</a:t>
            </a:r>
            <a:endParaRPr lang="en-US" sz="1000" dirty="0"/>
          </a:p>
          <a:p>
            <a:pPr indent="0" marL="0">
              <a:buNone/>
            </a:pPr>
            <a:r>
              <a:rPr lang="en-US" sz="1000" dirty="0">
                <a:solidFill>
                  <a:srgbClr val="CBD5E1"/>
                </a:solidFill>
              </a:rPr>
              <a:t>Source: backend/app/agents/managerial_agent.py — route_from_intent, route_from_planner, route_from_action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11480" y="201168"/>
            <a:ext cx="1645920" cy="256032"/>
          </a:xfrm>
          <a:prstGeom prst="roundRect">
            <a:avLst>
              <a:gd name="adj" fmla="val 50000"/>
            </a:avLst>
          </a:prstGeom>
          <a:solidFill>
            <a:srgbClr val="1A56DB">
              <a:alpha val="15000"/>
            </a:srgbClr>
          </a:solidFill>
          <a:ln w="6350">
            <a:solidFill>
              <a:srgbClr val="1A56DB"/>
            </a:solidFill>
            <a:prstDash val="solid"/>
          </a:ln>
        </p:spPr>
      </p:sp>
      <p:sp>
        <p:nvSpPr>
          <p:cNvPr id="3" name="Text 1"/>
          <p:cNvSpPr/>
          <p:nvPr/>
        </p:nvSpPr>
        <p:spPr>
          <a:xfrm>
            <a:off x="411480" y="201168"/>
            <a:ext cx="1645920" cy="256032"/>
          </a:xfrm>
          <a:prstGeom prst="rect">
            <a:avLst/>
          </a:prstGeom>
          <a:noFill/>
          <a:ln/>
        </p:spPr>
        <p:txBody>
          <a:bodyPr wrap="square" lIns="0" tIns="0" rIns="0" bIns="0" rtlCol="0" anchor="ctr"/>
          <a:lstStyle/>
          <a:p>
            <a:pPr algn="ctr" indent="0" marL="0">
              <a:buNone/>
            </a:pPr>
            <a:r>
              <a:rPr lang="en-US" sz="900" b="1" dirty="0">
                <a:solidFill>
                  <a:srgbClr val="1A56DB"/>
                </a:solidFill>
              </a:rPr>
              <a:t>INTEGRATIONS</a:t>
            </a:r>
            <a:endParaRPr lang="en-US" sz="900" dirty="0"/>
          </a:p>
        </p:txBody>
      </p:sp>
      <p:sp>
        <p:nvSpPr>
          <p:cNvPr id="4" name="Text 2"/>
          <p:cNvSpPr/>
          <p:nvPr/>
        </p:nvSpPr>
        <p:spPr>
          <a:xfrm>
            <a:off x="411480" y="502920"/>
            <a:ext cx="8321040" cy="640080"/>
          </a:xfrm>
          <a:prstGeom prst="rect">
            <a:avLst/>
          </a:prstGeom>
          <a:noFill/>
          <a:ln/>
        </p:spPr>
        <p:txBody>
          <a:bodyPr wrap="square" rtlCol="0" anchor="ctr"/>
          <a:lstStyle/>
          <a:p>
            <a:pPr indent="0" marL="0">
              <a:buNone/>
            </a:pPr>
            <a:r>
              <a:rPr lang="en-US" sz="3000" b="1" dirty="0">
                <a:solidFill>
                  <a:srgbClr val="1E293B"/>
                </a:solidFill>
              </a:rPr>
              <a:t>MCP Tool Integrations</a:t>
            </a:r>
            <a:endParaRPr lang="en-US" sz="3000" dirty="0"/>
          </a:p>
        </p:txBody>
      </p:sp>
      <p:sp>
        <p:nvSpPr>
          <p:cNvPr id="5" name="Shape 3"/>
          <p:cNvSpPr/>
          <p:nvPr/>
        </p:nvSpPr>
        <p:spPr>
          <a:xfrm>
            <a:off x="411480" y="1280160"/>
            <a:ext cx="4114800" cy="1645920"/>
          </a:xfrm>
          <a:prstGeom prst="rect">
            <a:avLst/>
          </a:prstGeom>
          <a:solidFill>
            <a:srgbClr val="FFFFFF"/>
          </a:solidFill>
          <a:ln w="6350">
            <a:solidFill>
              <a:srgbClr val="E2E8F0"/>
            </a:solidFill>
            <a:prstDash val="solid"/>
          </a:ln>
        </p:spPr>
      </p:sp>
      <p:sp>
        <p:nvSpPr>
          <p:cNvPr id="6" name="Shape 4"/>
          <p:cNvSpPr/>
          <p:nvPr/>
        </p:nvSpPr>
        <p:spPr>
          <a:xfrm>
            <a:off x="548640" y="1417320"/>
            <a:ext cx="502920" cy="502920"/>
          </a:xfrm>
          <a:prstGeom prst="roundRect">
            <a:avLst>
              <a:gd name="adj" fmla="val 50909"/>
            </a:avLst>
          </a:prstGeom>
          <a:solidFill>
            <a:srgbClr val="1A56DB">
              <a:alpha val="15000"/>
            </a:srgbClr>
          </a:solidFill>
          <a:ln w="6350">
            <a:solidFill>
              <a:srgbClr val="1A56DB"/>
            </a:solidFill>
            <a:prstDash val="solid"/>
          </a:ln>
        </p:spPr>
      </p:sp>
      <p:pic>
        <p:nvPicPr>
          <p:cNvPr id="7" name="Image 0" descr="preencoded.png">    </p:cNvPr>
          <p:cNvPicPr>
            <a:picLocks noChangeAspect="1"/>
          </p:cNvPicPr>
          <p:nvPr/>
        </p:nvPicPr>
        <p:blipFill>
          <a:blip r:embed="rId1"/>
          <a:stretch>
            <a:fillRect/>
          </a:stretch>
        </p:blipFill>
        <p:spPr>
          <a:xfrm>
            <a:off x="612648" y="1481328"/>
            <a:ext cx="365760" cy="365760"/>
          </a:xfrm>
          <a:prstGeom prst="rect">
            <a:avLst/>
          </a:prstGeom>
        </p:spPr>
      </p:pic>
      <p:sp>
        <p:nvSpPr>
          <p:cNvPr id="8" name="Text 5"/>
          <p:cNvSpPr/>
          <p:nvPr/>
        </p:nvSpPr>
        <p:spPr>
          <a:xfrm>
            <a:off x="1143000" y="1435608"/>
            <a:ext cx="2194560" cy="274320"/>
          </a:xfrm>
          <a:prstGeom prst="rect">
            <a:avLst/>
          </a:prstGeom>
          <a:noFill/>
          <a:ln/>
        </p:spPr>
        <p:txBody>
          <a:bodyPr wrap="square" rtlCol="0" anchor="ctr"/>
          <a:lstStyle/>
          <a:p>
            <a:pPr indent="0" marL="0">
              <a:buNone/>
            </a:pPr>
            <a:r>
              <a:rPr lang="en-US" sz="1400" b="1" dirty="0">
                <a:solidFill>
                  <a:srgbClr val="1E293B"/>
                </a:solidFill>
              </a:rPr>
              <a:t>GitHub</a:t>
            </a:r>
            <a:endParaRPr lang="en-US" sz="1400" dirty="0"/>
          </a:p>
        </p:txBody>
      </p:sp>
      <p:sp>
        <p:nvSpPr>
          <p:cNvPr id="9" name="Text 6"/>
          <p:cNvSpPr/>
          <p:nvPr/>
        </p:nvSpPr>
        <p:spPr>
          <a:xfrm>
            <a:off x="1143000" y="1719072"/>
            <a:ext cx="3200400" cy="201168"/>
          </a:xfrm>
          <a:prstGeom prst="rect">
            <a:avLst/>
          </a:prstGeom>
          <a:noFill/>
          <a:ln/>
        </p:spPr>
        <p:txBody>
          <a:bodyPr wrap="square" rtlCol="0" anchor="ctr"/>
          <a:lstStyle/>
          <a:p>
            <a:pPr indent="0" marL="0">
              <a:buNone/>
            </a:pPr>
            <a:r>
              <a:rPr lang="en-US" sz="850" dirty="0">
                <a:solidFill>
                  <a:srgbClr val="94A3B8"/>
                </a:solidFill>
              </a:rPr>
              <a:t>10 tools  ·  backend/app/mcp_alt/</a:t>
            </a:r>
            <a:endParaRPr lang="en-US" sz="850" dirty="0"/>
          </a:p>
        </p:txBody>
      </p:sp>
      <p:sp>
        <p:nvSpPr>
          <p:cNvPr id="10" name="Shape 7"/>
          <p:cNvSpPr/>
          <p:nvPr/>
        </p:nvSpPr>
        <p:spPr>
          <a:xfrm>
            <a:off x="548640" y="2039112"/>
            <a:ext cx="82296" cy="82296"/>
          </a:xfrm>
          <a:prstGeom prst="oval">
            <a:avLst/>
          </a:prstGeom>
          <a:solidFill>
            <a:srgbClr val="1A56DB"/>
          </a:solidFill>
          <a:ln w="12700">
            <a:solidFill>
              <a:srgbClr val="1A56DB"/>
            </a:solidFill>
            <a:prstDash val="solid"/>
          </a:ln>
        </p:spPr>
      </p:sp>
      <p:sp>
        <p:nvSpPr>
          <p:cNvPr id="11" name="Text 8"/>
          <p:cNvSpPr/>
          <p:nvPr/>
        </p:nvSpPr>
        <p:spPr>
          <a:xfrm>
            <a:off x="704088" y="1993392"/>
            <a:ext cx="3657600" cy="210312"/>
          </a:xfrm>
          <a:prstGeom prst="rect">
            <a:avLst/>
          </a:prstGeom>
          <a:noFill/>
          <a:ln/>
        </p:spPr>
        <p:txBody>
          <a:bodyPr wrap="square" rtlCol="0" anchor="ctr"/>
          <a:lstStyle/>
          <a:p>
            <a:pPr indent="0" marL="0">
              <a:buNone/>
            </a:pPr>
            <a:r>
              <a:rPr lang="en-US" sz="950" dirty="0">
                <a:solidFill>
                  <a:srgbClr val="1E293B"/>
                </a:solidFill>
              </a:rPr>
              <a:t>List / create / merge PRs</a:t>
            </a:r>
            <a:endParaRPr lang="en-US" sz="950" dirty="0"/>
          </a:p>
        </p:txBody>
      </p:sp>
      <p:sp>
        <p:nvSpPr>
          <p:cNvPr id="12" name="Shape 9"/>
          <p:cNvSpPr/>
          <p:nvPr/>
        </p:nvSpPr>
        <p:spPr>
          <a:xfrm>
            <a:off x="548640" y="2258568"/>
            <a:ext cx="82296" cy="82296"/>
          </a:xfrm>
          <a:prstGeom prst="oval">
            <a:avLst/>
          </a:prstGeom>
          <a:solidFill>
            <a:srgbClr val="1A56DB"/>
          </a:solidFill>
          <a:ln w="12700">
            <a:solidFill>
              <a:srgbClr val="1A56DB"/>
            </a:solidFill>
            <a:prstDash val="solid"/>
          </a:ln>
        </p:spPr>
      </p:sp>
      <p:sp>
        <p:nvSpPr>
          <p:cNvPr id="13" name="Text 10"/>
          <p:cNvSpPr/>
          <p:nvPr/>
        </p:nvSpPr>
        <p:spPr>
          <a:xfrm>
            <a:off x="704088" y="2212848"/>
            <a:ext cx="3657600" cy="210312"/>
          </a:xfrm>
          <a:prstGeom prst="rect">
            <a:avLst/>
          </a:prstGeom>
          <a:noFill/>
          <a:ln/>
        </p:spPr>
        <p:txBody>
          <a:bodyPr wrap="square" rtlCol="0" anchor="ctr"/>
          <a:lstStyle/>
          <a:p>
            <a:pPr indent="0" marL="0">
              <a:buNone/>
            </a:pPr>
            <a:r>
              <a:rPr lang="en-US" sz="950" dirty="0">
                <a:solidFill>
                  <a:srgbClr val="1E293B"/>
                </a:solidFill>
              </a:rPr>
              <a:t>Summarize PR diffs</a:t>
            </a:r>
            <a:endParaRPr lang="en-US" sz="950" dirty="0"/>
          </a:p>
        </p:txBody>
      </p:sp>
      <p:sp>
        <p:nvSpPr>
          <p:cNvPr id="14" name="Shape 11"/>
          <p:cNvSpPr/>
          <p:nvPr/>
        </p:nvSpPr>
        <p:spPr>
          <a:xfrm>
            <a:off x="548640" y="2478024"/>
            <a:ext cx="82296" cy="82296"/>
          </a:xfrm>
          <a:prstGeom prst="oval">
            <a:avLst/>
          </a:prstGeom>
          <a:solidFill>
            <a:srgbClr val="1A56DB"/>
          </a:solidFill>
          <a:ln w="12700">
            <a:solidFill>
              <a:srgbClr val="1A56DB"/>
            </a:solidFill>
            <a:prstDash val="solid"/>
          </a:ln>
        </p:spPr>
      </p:sp>
      <p:sp>
        <p:nvSpPr>
          <p:cNvPr id="15" name="Text 12"/>
          <p:cNvSpPr/>
          <p:nvPr/>
        </p:nvSpPr>
        <p:spPr>
          <a:xfrm>
            <a:off x="704088" y="2432304"/>
            <a:ext cx="3657600" cy="210312"/>
          </a:xfrm>
          <a:prstGeom prst="rect">
            <a:avLst/>
          </a:prstGeom>
          <a:noFill/>
          <a:ln/>
        </p:spPr>
        <p:txBody>
          <a:bodyPr wrap="square" rtlCol="0" anchor="ctr"/>
          <a:lstStyle/>
          <a:p>
            <a:pPr indent="0" marL="0">
              <a:buNone/>
            </a:pPr>
            <a:r>
              <a:rPr lang="en-US" sz="950" dirty="0">
                <a:solidFill>
                  <a:srgbClr val="1E293B"/>
                </a:solidFill>
              </a:rPr>
              <a:t>Create issues</a:t>
            </a:r>
            <a:endParaRPr lang="en-US" sz="950" dirty="0"/>
          </a:p>
        </p:txBody>
      </p:sp>
      <p:sp>
        <p:nvSpPr>
          <p:cNvPr id="16" name="Shape 13"/>
          <p:cNvSpPr/>
          <p:nvPr/>
        </p:nvSpPr>
        <p:spPr>
          <a:xfrm>
            <a:off x="548640" y="2697480"/>
            <a:ext cx="82296" cy="82296"/>
          </a:xfrm>
          <a:prstGeom prst="oval">
            <a:avLst/>
          </a:prstGeom>
          <a:solidFill>
            <a:srgbClr val="1A56DB"/>
          </a:solidFill>
          <a:ln w="12700">
            <a:solidFill>
              <a:srgbClr val="1A56DB"/>
            </a:solidFill>
            <a:prstDash val="solid"/>
          </a:ln>
        </p:spPr>
      </p:sp>
      <p:sp>
        <p:nvSpPr>
          <p:cNvPr id="17" name="Text 14"/>
          <p:cNvSpPr/>
          <p:nvPr/>
        </p:nvSpPr>
        <p:spPr>
          <a:xfrm>
            <a:off x="704088" y="2651760"/>
            <a:ext cx="3657600" cy="210312"/>
          </a:xfrm>
          <a:prstGeom prst="rect">
            <a:avLst/>
          </a:prstGeom>
          <a:noFill/>
          <a:ln/>
        </p:spPr>
        <p:txBody>
          <a:bodyPr wrap="square" rtlCol="0" anchor="ctr"/>
          <a:lstStyle/>
          <a:p>
            <a:pPr indent="0" marL="0">
              <a:buNone/>
            </a:pPr>
            <a:r>
              <a:rPr lang="en-US" sz="950" dirty="0">
                <a:solidFill>
                  <a:srgbClr val="1E293B"/>
                </a:solidFill>
              </a:rPr>
              <a:t>List commits &amp; repo contents</a:t>
            </a:r>
            <a:endParaRPr lang="en-US" sz="950" dirty="0"/>
          </a:p>
        </p:txBody>
      </p:sp>
      <p:sp>
        <p:nvSpPr>
          <p:cNvPr id="18" name="Shape 15"/>
          <p:cNvSpPr/>
          <p:nvPr/>
        </p:nvSpPr>
        <p:spPr>
          <a:xfrm>
            <a:off x="4754880" y="1280160"/>
            <a:ext cx="4114800" cy="1645920"/>
          </a:xfrm>
          <a:prstGeom prst="rect">
            <a:avLst/>
          </a:prstGeom>
          <a:solidFill>
            <a:srgbClr val="FFFFFF"/>
          </a:solidFill>
          <a:ln w="6350">
            <a:solidFill>
              <a:srgbClr val="E2E8F0"/>
            </a:solidFill>
            <a:prstDash val="solid"/>
          </a:ln>
        </p:spPr>
      </p:sp>
      <p:sp>
        <p:nvSpPr>
          <p:cNvPr id="19" name="Shape 16"/>
          <p:cNvSpPr/>
          <p:nvPr/>
        </p:nvSpPr>
        <p:spPr>
          <a:xfrm>
            <a:off x="4892040" y="1417320"/>
            <a:ext cx="502920" cy="502920"/>
          </a:xfrm>
          <a:prstGeom prst="roundRect">
            <a:avLst>
              <a:gd name="adj" fmla="val 50909"/>
            </a:avLst>
          </a:prstGeom>
          <a:solidFill>
            <a:srgbClr val="1A56DB">
              <a:alpha val="15000"/>
            </a:srgbClr>
          </a:solidFill>
          <a:ln w="6350">
            <a:solidFill>
              <a:srgbClr val="1A56DB"/>
            </a:solidFill>
            <a:prstDash val="solid"/>
          </a:ln>
        </p:spPr>
      </p:sp>
      <p:pic>
        <p:nvPicPr>
          <p:cNvPr id="20" name="Image 1" descr="preencoded.png">    </p:cNvPr>
          <p:cNvPicPr>
            <a:picLocks noChangeAspect="1"/>
          </p:cNvPicPr>
          <p:nvPr/>
        </p:nvPicPr>
        <p:blipFill>
          <a:blip r:embed="rId2"/>
          <a:stretch>
            <a:fillRect/>
          </a:stretch>
        </p:blipFill>
        <p:spPr>
          <a:xfrm>
            <a:off x="4956048" y="1481328"/>
            <a:ext cx="365760" cy="365760"/>
          </a:xfrm>
          <a:prstGeom prst="rect">
            <a:avLst/>
          </a:prstGeom>
        </p:spPr>
      </p:pic>
      <p:sp>
        <p:nvSpPr>
          <p:cNvPr id="21" name="Text 17"/>
          <p:cNvSpPr/>
          <p:nvPr/>
        </p:nvSpPr>
        <p:spPr>
          <a:xfrm>
            <a:off x="5486400" y="1435608"/>
            <a:ext cx="2194560" cy="274320"/>
          </a:xfrm>
          <a:prstGeom prst="rect">
            <a:avLst/>
          </a:prstGeom>
          <a:noFill/>
          <a:ln/>
        </p:spPr>
        <p:txBody>
          <a:bodyPr wrap="square" rtlCol="0" anchor="ctr"/>
          <a:lstStyle/>
          <a:p>
            <a:pPr indent="0" marL="0">
              <a:buNone/>
            </a:pPr>
            <a:r>
              <a:rPr lang="en-US" sz="1400" b="1" dirty="0">
                <a:solidFill>
                  <a:srgbClr val="1E293B"/>
                </a:solidFill>
              </a:rPr>
              <a:t>Notion</a:t>
            </a:r>
            <a:endParaRPr lang="en-US" sz="1400" dirty="0"/>
          </a:p>
        </p:txBody>
      </p:sp>
      <p:sp>
        <p:nvSpPr>
          <p:cNvPr id="22" name="Text 18"/>
          <p:cNvSpPr/>
          <p:nvPr/>
        </p:nvSpPr>
        <p:spPr>
          <a:xfrm>
            <a:off x="5486400" y="1719072"/>
            <a:ext cx="3200400" cy="201168"/>
          </a:xfrm>
          <a:prstGeom prst="rect">
            <a:avLst/>
          </a:prstGeom>
          <a:noFill/>
          <a:ln/>
        </p:spPr>
        <p:txBody>
          <a:bodyPr wrap="square" rtlCol="0" anchor="ctr"/>
          <a:lstStyle/>
          <a:p>
            <a:pPr indent="0" marL="0">
              <a:buNone/>
            </a:pPr>
            <a:r>
              <a:rPr lang="en-US" sz="850" dirty="0">
                <a:solidFill>
                  <a:srgbClr val="94A3B8"/>
                </a:solidFill>
              </a:rPr>
              <a:t>10 tools  ·  backend/app/mcp_alt/</a:t>
            </a:r>
            <a:endParaRPr lang="en-US" sz="850" dirty="0"/>
          </a:p>
        </p:txBody>
      </p:sp>
      <p:sp>
        <p:nvSpPr>
          <p:cNvPr id="23" name="Shape 19"/>
          <p:cNvSpPr/>
          <p:nvPr/>
        </p:nvSpPr>
        <p:spPr>
          <a:xfrm>
            <a:off x="4892040" y="2039112"/>
            <a:ext cx="82296" cy="82296"/>
          </a:xfrm>
          <a:prstGeom prst="oval">
            <a:avLst/>
          </a:prstGeom>
          <a:solidFill>
            <a:srgbClr val="1A56DB"/>
          </a:solidFill>
          <a:ln w="12700">
            <a:solidFill>
              <a:srgbClr val="1A56DB"/>
            </a:solidFill>
            <a:prstDash val="solid"/>
          </a:ln>
        </p:spPr>
      </p:sp>
      <p:sp>
        <p:nvSpPr>
          <p:cNvPr id="24" name="Text 20"/>
          <p:cNvSpPr/>
          <p:nvPr/>
        </p:nvSpPr>
        <p:spPr>
          <a:xfrm>
            <a:off x="5047488" y="1993392"/>
            <a:ext cx="3657600" cy="210312"/>
          </a:xfrm>
          <a:prstGeom prst="rect">
            <a:avLst/>
          </a:prstGeom>
          <a:noFill/>
          <a:ln/>
        </p:spPr>
        <p:txBody>
          <a:bodyPr wrap="square" rtlCol="0" anchor="ctr"/>
          <a:lstStyle/>
          <a:p>
            <a:pPr indent="0" marL="0">
              <a:buNone/>
            </a:pPr>
            <a:r>
              <a:rPr lang="en-US" sz="950" dirty="0">
                <a:solidFill>
                  <a:srgbClr val="1E293B"/>
                </a:solidFill>
              </a:rPr>
              <a:t>Query databases &amp; pages</a:t>
            </a:r>
            <a:endParaRPr lang="en-US" sz="950" dirty="0"/>
          </a:p>
        </p:txBody>
      </p:sp>
      <p:sp>
        <p:nvSpPr>
          <p:cNvPr id="25" name="Shape 21"/>
          <p:cNvSpPr/>
          <p:nvPr/>
        </p:nvSpPr>
        <p:spPr>
          <a:xfrm>
            <a:off x="4892040" y="2258568"/>
            <a:ext cx="82296" cy="82296"/>
          </a:xfrm>
          <a:prstGeom prst="oval">
            <a:avLst/>
          </a:prstGeom>
          <a:solidFill>
            <a:srgbClr val="1A56DB"/>
          </a:solidFill>
          <a:ln w="12700">
            <a:solidFill>
              <a:srgbClr val="1A56DB"/>
            </a:solidFill>
            <a:prstDash val="solid"/>
          </a:ln>
        </p:spPr>
      </p:sp>
      <p:sp>
        <p:nvSpPr>
          <p:cNvPr id="26" name="Text 22"/>
          <p:cNvSpPr/>
          <p:nvPr/>
        </p:nvSpPr>
        <p:spPr>
          <a:xfrm>
            <a:off x="5047488" y="2212848"/>
            <a:ext cx="3657600" cy="210312"/>
          </a:xfrm>
          <a:prstGeom prst="rect">
            <a:avLst/>
          </a:prstGeom>
          <a:noFill/>
          <a:ln/>
        </p:spPr>
        <p:txBody>
          <a:bodyPr wrap="square" rtlCol="0" anchor="ctr"/>
          <a:lstStyle/>
          <a:p>
            <a:pPr indent="0" marL="0">
              <a:buNone/>
            </a:pPr>
            <a:r>
              <a:rPr lang="en-US" sz="950" dirty="0">
                <a:solidFill>
                  <a:srgbClr val="1E293B"/>
                </a:solidFill>
              </a:rPr>
              <a:t>Create / update pages</a:t>
            </a:r>
            <a:endParaRPr lang="en-US" sz="950" dirty="0"/>
          </a:p>
        </p:txBody>
      </p:sp>
      <p:sp>
        <p:nvSpPr>
          <p:cNvPr id="27" name="Shape 23"/>
          <p:cNvSpPr/>
          <p:nvPr/>
        </p:nvSpPr>
        <p:spPr>
          <a:xfrm>
            <a:off x="4892040" y="2478024"/>
            <a:ext cx="82296" cy="82296"/>
          </a:xfrm>
          <a:prstGeom prst="oval">
            <a:avLst/>
          </a:prstGeom>
          <a:solidFill>
            <a:srgbClr val="1A56DB"/>
          </a:solidFill>
          <a:ln w="12700">
            <a:solidFill>
              <a:srgbClr val="1A56DB"/>
            </a:solidFill>
            <a:prstDash val="solid"/>
          </a:ln>
        </p:spPr>
      </p:sp>
      <p:sp>
        <p:nvSpPr>
          <p:cNvPr id="28" name="Text 24"/>
          <p:cNvSpPr/>
          <p:nvPr/>
        </p:nvSpPr>
        <p:spPr>
          <a:xfrm>
            <a:off x="5047488" y="2432304"/>
            <a:ext cx="3657600" cy="210312"/>
          </a:xfrm>
          <a:prstGeom prst="rect">
            <a:avLst/>
          </a:prstGeom>
          <a:noFill/>
          <a:ln/>
        </p:spPr>
        <p:txBody>
          <a:bodyPr wrap="square" rtlCol="0" anchor="ctr"/>
          <a:lstStyle/>
          <a:p>
            <a:pPr indent="0" marL="0">
              <a:buNone/>
            </a:pPr>
            <a:r>
              <a:rPr lang="en-US" sz="950" dirty="0">
                <a:solidFill>
                  <a:srgbClr val="1E293B"/>
                </a:solidFill>
              </a:rPr>
              <a:t>Search workspace</a:t>
            </a:r>
            <a:endParaRPr lang="en-US" sz="950" dirty="0"/>
          </a:p>
        </p:txBody>
      </p:sp>
      <p:sp>
        <p:nvSpPr>
          <p:cNvPr id="29" name="Shape 25"/>
          <p:cNvSpPr/>
          <p:nvPr/>
        </p:nvSpPr>
        <p:spPr>
          <a:xfrm>
            <a:off x="4892040" y="2697480"/>
            <a:ext cx="82296" cy="82296"/>
          </a:xfrm>
          <a:prstGeom prst="oval">
            <a:avLst/>
          </a:prstGeom>
          <a:solidFill>
            <a:srgbClr val="1A56DB"/>
          </a:solidFill>
          <a:ln w="12700">
            <a:solidFill>
              <a:srgbClr val="1A56DB"/>
            </a:solidFill>
            <a:prstDash val="solid"/>
          </a:ln>
        </p:spPr>
      </p:sp>
      <p:sp>
        <p:nvSpPr>
          <p:cNvPr id="30" name="Text 26"/>
          <p:cNvSpPr/>
          <p:nvPr/>
        </p:nvSpPr>
        <p:spPr>
          <a:xfrm>
            <a:off x="5047488" y="2651760"/>
            <a:ext cx="3657600" cy="210312"/>
          </a:xfrm>
          <a:prstGeom prst="rect">
            <a:avLst/>
          </a:prstGeom>
          <a:noFill/>
          <a:ln/>
        </p:spPr>
        <p:txBody>
          <a:bodyPr wrap="square" rtlCol="0" anchor="ctr"/>
          <a:lstStyle/>
          <a:p>
            <a:pPr indent="0" marL="0">
              <a:buNone/>
            </a:pPr>
            <a:r>
              <a:rPr lang="en-US" sz="950" dirty="0">
                <a:solidFill>
                  <a:srgbClr val="1E293B"/>
                </a:solidFill>
              </a:rPr>
              <a:t>Get agenda, add comments</a:t>
            </a:r>
            <a:endParaRPr lang="en-US" sz="950" dirty="0"/>
          </a:p>
        </p:txBody>
      </p:sp>
      <p:sp>
        <p:nvSpPr>
          <p:cNvPr id="31" name="Shape 27"/>
          <p:cNvSpPr/>
          <p:nvPr/>
        </p:nvSpPr>
        <p:spPr>
          <a:xfrm>
            <a:off x="411480" y="3035808"/>
            <a:ext cx="4114800" cy="1645920"/>
          </a:xfrm>
          <a:prstGeom prst="rect">
            <a:avLst/>
          </a:prstGeom>
          <a:solidFill>
            <a:srgbClr val="FFFFFF"/>
          </a:solidFill>
          <a:ln w="6350">
            <a:solidFill>
              <a:srgbClr val="E2E8F0"/>
            </a:solidFill>
            <a:prstDash val="solid"/>
          </a:ln>
        </p:spPr>
      </p:sp>
      <p:sp>
        <p:nvSpPr>
          <p:cNvPr id="32" name="Shape 28"/>
          <p:cNvSpPr/>
          <p:nvPr/>
        </p:nvSpPr>
        <p:spPr>
          <a:xfrm>
            <a:off x="548640" y="3172968"/>
            <a:ext cx="502920" cy="502920"/>
          </a:xfrm>
          <a:prstGeom prst="roundRect">
            <a:avLst>
              <a:gd name="adj" fmla="val 50909"/>
            </a:avLst>
          </a:prstGeom>
          <a:solidFill>
            <a:srgbClr val="0891B2">
              <a:alpha val="15000"/>
            </a:srgbClr>
          </a:solidFill>
          <a:ln w="6350">
            <a:solidFill>
              <a:srgbClr val="0891B2"/>
            </a:solidFill>
            <a:prstDash val="solid"/>
          </a:ln>
        </p:spPr>
      </p:sp>
      <p:pic>
        <p:nvPicPr>
          <p:cNvPr id="33" name="Image 2" descr="preencoded.png">    </p:cNvPr>
          <p:cNvPicPr>
            <a:picLocks noChangeAspect="1"/>
          </p:cNvPicPr>
          <p:nvPr/>
        </p:nvPicPr>
        <p:blipFill>
          <a:blip r:embed="rId3"/>
          <a:stretch>
            <a:fillRect/>
          </a:stretch>
        </p:blipFill>
        <p:spPr>
          <a:xfrm>
            <a:off x="612648" y="3236976"/>
            <a:ext cx="365760" cy="365760"/>
          </a:xfrm>
          <a:prstGeom prst="rect">
            <a:avLst/>
          </a:prstGeom>
        </p:spPr>
      </p:pic>
      <p:sp>
        <p:nvSpPr>
          <p:cNvPr id="34" name="Text 29"/>
          <p:cNvSpPr/>
          <p:nvPr/>
        </p:nvSpPr>
        <p:spPr>
          <a:xfrm>
            <a:off x="1143000" y="3191256"/>
            <a:ext cx="2194560" cy="274320"/>
          </a:xfrm>
          <a:prstGeom prst="rect">
            <a:avLst/>
          </a:prstGeom>
          <a:noFill/>
          <a:ln/>
        </p:spPr>
        <p:txBody>
          <a:bodyPr wrap="square" rtlCol="0" anchor="ctr"/>
          <a:lstStyle/>
          <a:p>
            <a:pPr indent="0" marL="0">
              <a:buNone/>
            </a:pPr>
            <a:r>
              <a:rPr lang="en-US" sz="1400" b="1" dirty="0">
                <a:solidFill>
                  <a:srgbClr val="1E293B"/>
                </a:solidFill>
              </a:rPr>
              <a:t>Calendar</a:t>
            </a:r>
            <a:endParaRPr lang="en-US" sz="1400" dirty="0"/>
          </a:p>
        </p:txBody>
      </p:sp>
      <p:sp>
        <p:nvSpPr>
          <p:cNvPr id="35" name="Text 30"/>
          <p:cNvSpPr/>
          <p:nvPr/>
        </p:nvSpPr>
        <p:spPr>
          <a:xfrm>
            <a:off x="1143000" y="3474720"/>
            <a:ext cx="3200400" cy="201168"/>
          </a:xfrm>
          <a:prstGeom prst="rect">
            <a:avLst/>
          </a:prstGeom>
          <a:noFill/>
          <a:ln/>
        </p:spPr>
        <p:txBody>
          <a:bodyPr wrap="square" rtlCol="0" anchor="ctr"/>
          <a:lstStyle/>
          <a:p>
            <a:pPr indent="0" marL="0">
              <a:buNone/>
            </a:pPr>
            <a:r>
              <a:rPr lang="en-US" sz="850" dirty="0">
                <a:solidFill>
                  <a:srgbClr val="94A3B8"/>
                </a:solidFill>
              </a:rPr>
              <a:t>8 tools  ·  backend/app/mcp_alt/</a:t>
            </a:r>
            <a:endParaRPr lang="en-US" sz="850" dirty="0"/>
          </a:p>
        </p:txBody>
      </p:sp>
      <p:sp>
        <p:nvSpPr>
          <p:cNvPr id="36" name="Shape 31"/>
          <p:cNvSpPr/>
          <p:nvPr/>
        </p:nvSpPr>
        <p:spPr>
          <a:xfrm>
            <a:off x="548640" y="3794760"/>
            <a:ext cx="82296" cy="82296"/>
          </a:xfrm>
          <a:prstGeom prst="oval">
            <a:avLst/>
          </a:prstGeom>
          <a:solidFill>
            <a:srgbClr val="0891B2"/>
          </a:solidFill>
          <a:ln w="12700">
            <a:solidFill>
              <a:srgbClr val="0891B2"/>
            </a:solidFill>
            <a:prstDash val="solid"/>
          </a:ln>
        </p:spPr>
      </p:sp>
      <p:sp>
        <p:nvSpPr>
          <p:cNvPr id="37" name="Text 32"/>
          <p:cNvSpPr/>
          <p:nvPr/>
        </p:nvSpPr>
        <p:spPr>
          <a:xfrm>
            <a:off x="704088" y="3749040"/>
            <a:ext cx="3657600" cy="210312"/>
          </a:xfrm>
          <a:prstGeom prst="rect">
            <a:avLst/>
          </a:prstGeom>
          <a:noFill/>
          <a:ln/>
        </p:spPr>
        <p:txBody>
          <a:bodyPr wrap="square" rtlCol="0" anchor="ctr"/>
          <a:lstStyle/>
          <a:p>
            <a:pPr indent="0" marL="0">
              <a:buNone/>
            </a:pPr>
            <a:r>
              <a:rPr lang="en-US" sz="950" dirty="0">
                <a:solidFill>
                  <a:srgbClr val="1E293B"/>
                </a:solidFill>
              </a:rPr>
              <a:t>Fetch events by date range</a:t>
            </a:r>
            <a:endParaRPr lang="en-US" sz="950" dirty="0"/>
          </a:p>
        </p:txBody>
      </p:sp>
      <p:sp>
        <p:nvSpPr>
          <p:cNvPr id="38" name="Shape 33"/>
          <p:cNvSpPr/>
          <p:nvPr/>
        </p:nvSpPr>
        <p:spPr>
          <a:xfrm>
            <a:off x="548640" y="4014216"/>
            <a:ext cx="82296" cy="82296"/>
          </a:xfrm>
          <a:prstGeom prst="oval">
            <a:avLst/>
          </a:prstGeom>
          <a:solidFill>
            <a:srgbClr val="0891B2"/>
          </a:solidFill>
          <a:ln w="12700">
            <a:solidFill>
              <a:srgbClr val="0891B2"/>
            </a:solidFill>
            <a:prstDash val="solid"/>
          </a:ln>
        </p:spPr>
      </p:sp>
      <p:sp>
        <p:nvSpPr>
          <p:cNvPr id="39" name="Text 34"/>
          <p:cNvSpPr/>
          <p:nvPr/>
        </p:nvSpPr>
        <p:spPr>
          <a:xfrm>
            <a:off x="704088" y="3968496"/>
            <a:ext cx="3657600" cy="210312"/>
          </a:xfrm>
          <a:prstGeom prst="rect">
            <a:avLst/>
          </a:prstGeom>
          <a:noFill/>
          <a:ln/>
        </p:spPr>
        <p:txBody>
          <a:bodyPr wrap="square" rtlCol="0" anchor="ctr"/>
          <a:lstStyle/>
          <a:p>
            <a:pPr indent="0" marL="0">
              <a:buNone/>
            </a:pPr>
            <a:r>
              <a:rPr lang="en-US" sz="950" dirty="0">
                <a:solidFill>
                  <a:srgbClr val="1E293B"/>
                </a:solidFill>
              </a:rPr>
              <a:t>Create / update / delete events</a:t>
            </a:r>
            <a:endParaRPr lang="en-US" sz="950" dirty="0"/>
          </a:p>
        </p:txBody>
      </p:sp>
      <p:sp>
        <p:nvSpPr>
          <p:cNvPr id="40" name="Shape 35"/>
          <p:cNvSpPr/>
          <p:nvPr/>
        </p:nvSpPr>
        <p:spPr>
          <a:xfrm>
            <a:off x="548640" y="4233672"/>
            <a:ext cx="82296" cy="82296"/>
          </a:xfrm>
          <a:prstGeom prst="oval">
            <a:avLst/>
          </a:prstGeom>
          <a:solidFill>
            <a:srgbClr val="0891B2"/>
          </a:solidFill>
          <a:ln w="12700">
            <a:solidFill>
              <a:srgbClr val="0891B2"/>
            </a:solidFill>
            <a:prstDash val="solid"/>
          </a:ln>
        </p:spPr>
      </p:sp>
      <p:sp>
        <p:nvSpPr>
          <p:cNvPr id="41" name="Text 36"/>
          <p:cNvSpPr/>
          <p:nvPr/>
        </p:nvSpPr>
        <p:spPr>
          <a:xfrm>
            <a:off x="704088" y="4187952"/>
            <a:ext cx="3657600" cy="210312"/>
          </a:xfrm>
          <a:prstGeom prst="rect">
            <a:avLst/>
          </a:prstGeom>
          <a:noFill/>
          <a:ln/>
        </p:spPr>
        <p:txBody>
          <a:bodyPr wrap="square" rtlCol="0" anchor="ctr"/>
          <a:lstStyle/>
          <a:p>
            <a:pPr indent="0" marL="0">
              <a:buNone/>
            </a:pPr>
            <a:r>
              <a:rPr lang="en-US" sz="950" dirty="0">
                <a:solidFill>
                  <a:srgbClr val="1E293B"/>
                </a:solidFill>
              </a:rPr>
              <a:t>Find free time slots</a:t>
            </a:r>
            <a:endParaRPr lang="en-US" sz="950" dirty="0"/>
          </a:p>
        </p:txBody>
      </p:sp>
      <p:sp>
        <p:nvSpPr>
          <p:cNvPr id="42" name="Shape 37"/>
          <p:cNvSpPr/>
          <p:nvPr/>
        </p:nvSpPr>
        <p:spPr>
          <a:xfrm>
            <a:off x="548640" y="4453128"/>
            <a:ext cx="82296" cy="82296"/>
          </a:xfrm>
          <a:prstGeom prst="oval">
            <a:avLst/>
          </a:prstGeom>
          <a:solidFill>
            <a:srgbClr val="0891B2"/>
          </a:solidFill>
          <a:ln w="12700">
            <a:solidFill>
              <a:srgbClr val="0891B2"/>
            </a:solidFill>
            <a:prstDash val="solid"/>
          </a:ln>
        </p:spPr>
      </p:sp>
      <p:sp>
        <p:nvSpPr>
          <p:cNvPr id="43" name="Text 38"/>
          <p:cNvSpPr/>
          <p:nvPr/>
        </p:nvSpPr>
        <p:spPr>
          <a:xfrm>
            <a:off x="704088" y="4407408"/>
            <a:ext cx="3657600" cy="210312"/>
          </a:xfrm>
          <a:prstGeom prst="rect">
            <a:avLst/>
          </a:prstGeom>
          <a:noFill/>
          <a:ln/>
        </p:spPr>
        <p:txBody>
          <a:bodyPr wrap="square" rtlCol="0" anchor="ctr"/>
          <a:lstStyle/>
          <a:p>
            <a:pPr indent="0" marL="0">
              <a:buNone/>
            </a:pPr>
            <a:r>
              <a:rPr lang="en-US" sz="950" dirty="0">
                <a:solidFill>
                  <a:srgbClr val="1E293B"/>
                </a:solidFill>
              </a:rPr>
              <a:t>Detect scheduling overlaps</a:t>
            </a:r>
            <a:endParaRPr lang="en-US" sz="950" dirty="0"/>
          </a:p>
        </p:txBody>
      </p:sp>
      <p:sp>
        <p:nvSpPr>
          <p:cNvPr id="44" name="Shape 39"/>
          <p:cNvSpPr/>
          <p:nvPr/>
        </p:nvSpPr>
        <p:spPr>
          <a:xfrm>
            <a:off x="4754880" y="3035808"/>
            <a:ext cx="4114800" cy="1645920"/>
          </a:xfrm>
          <a:prstGeom prst="rect">
            <a:avLst/>
          </a:prstGeom>
          <a:solidFill>
            <a:srgbClr val="FFFFFF"/>
          </a:solidFill>
          <a:ln w="6350">
            <a:solidFill>
              <a:srgbClr val="E2E8F0"/>
            </a:solidFill>
            <a:prstDash val="solid"/>
          </a:ln>
        </p:spPr>
      </p:sp>
      <p:sp>
        <p:nvSpPr>
          <p:cNvPr id="45" name="Shape 40"/>
          <p:cNvSpPr/>
          <p:nvPr/>
        </p:nvSpPr>
        <p:spPr>
          <a:xfrm>
            <a:off x="4892040" y="3172968"/>
            <a:ext cx="502920" cy="502920"/>
          </a:xfrm>
          <a:prstGeom prst="roundRect">
            <a:avLst>
              <a:gd name="adj" fmla="val 50909"/>
            </a:avLst>
          </a:prstGeom>
          <a:solidFill>
            <a:srgbClr val="0891B2">
              <a:alpha val="15000"/>
            </a:srgbClr>
          </a:solidFill>
          <a:ln w="6350">
            <a:solidFill>
              <a:srgbClr val="0891B2"/>
            </a:solidFill>
            <a:prstDash val="solid"/>
          </a:ln>
        </p:spPr>
      </p:sp>
      <p:pic>
        <p:nvPicPr>
          <p:cNvPr id="46" name="Image 3" descr="preencoded.png">    </p:cNvPr>
          <p:cNvPicPr>
            <a:picLocks noChangeAspect="1"/>
          </p:cNvPicPr>
          <p:nvPr/>
        </p:nvPicPr>
        <p:blipFill>
          <a:blip r:embed="rId4"/>
          <a:stretch>
            <a:fillRect/>
          </a:stretch>
        </p:blipFill>
        <p:spPr>
          <a:xfrm>
            <a:off x="4956048" y="3236976"/>
            <a:ext cx="365760" cy="365760"/>
          </a:xfrm>
          <a:prstGeom prst="rect">
            <a:avLst/>
          </a:prstGeom>
        </p:spPr>
      </p:pic>
      <p:sp>
        <p:nvSpPr>
          <p:cNvPr id="47" name="Text 41"/>
          <p:cNvSpPr/>
          <p:nvPr/>
        </p:nvSpPr>
        <p:spPr>
          <a:xfrm>
            <a:off x="5486400" y="3191256"/>
            <a:ext cx="2194560" cy="274320"/>
          </a:xfrm>
          <a:prstGeom prst="rect">
            <a:avLst/>
          </a:prstGeom>
          <a:noFill/>
          <a:ln/>
        </p:spPr>
        <p:txBody>
          <a:bodyPr wrap="square" rtlCol="0" anchor="ctr"/>
          <a:lstStyle/>
          <a:p>
            <a:pPr indent="0" marL="0">
              <a:buNone/>
            </a:pPr>
            <a:r>
              <a:rPr lang="en-US" sz="1400" b="1" dirty="0">
                <a:solidFill>
                  <a:srgbClr val="1E293B"/>
                </a:solidFill>
              </a:rPr>
              <a:t>Gmail</a:t>
            </a:r>
            <a:endParaRPr lang="en-US" sz="1400" dirty="0"/>
          </a:p>
        </p:txBody>
      </p:sp>
      <p:sp>
        <p:nvSpPr>
          <p:cNvPr id="48" name="Text 42"/>
          <p:cNvSpPr/>
          <p:nvPr/>
        </p:nvSpPr>
        <p:spPr>
          <a:xfrm>
            <a:off x="5486400" y="3474720"/>
            <a:ext cx="3200400" cy="201168"/>
          </a:xfrm>
          <a:prstGeom prst="rect">
            <a:avLst/>
          </a:prstGeom>
          <a:noFill/>
          <a:ln/>
        </p:spPr>
        <p:txBody>
          <a:bodyPr wrap="square" rtlCol="0" anchor="ctr"/>
          <a:lstStyle/>
          <a:p>
            <a:pPr indent="0" marL="0">
              <a:buNone/>
            </a:pPr>
            <a:r>
              <a:rPr lang="en-US" sz="850" dirty="0">
                <a:solidFill>
                  <a:srgbClr val="94A3B8"/>
                </a:solidFill>
              </a:rPr>
              <a:t>7 tools  ·  backend/app/mcp_alt/</a:t>
            </a:r>
            <a:endParaRPr lang="en-US" sz="850" dirty="0"/>
          </a:p>
        </p:txBody>
      </p:sp>
      <p:sp>
        <p:nvSpPr>
          <p:cNvPr id="49" name="Shape 43"/>
          <p:cNvSpPr/>
          <p:nvPr/>
        </p:nvSpPr>
        <p:spPr>
          <a:xfrm>
            <a:off x="4892040" y="3794760"/>
            <a:ext cx="82296" cy="82296"/>
          </a:xfrm>
          <a:prstGeom prst="oval">
            <a:avLst/>
          </a:prstGeom>
          <a:solidFill>
            <a:srgbClr val="0891B2"/>
          </a:solidFill>
          <a:ln w="12700">
            <a:solidFill>
              <a:srgbClr val="0891B2"/>
            </a:solidFill>
            <a:prstDash val="solid"/>
          </a:ln>
        </p:spPr>
      </p:sp>
      <p:sp>
        <p:nvSpPr>
          <p:cNvPr id="50" name="Text 44"/>
          <p:cNvSpPr/>
          <p:nvPr/>
        </p:nvSpPr>
        <p:spPr>
          <a:xfrm>
            <a:off x="5047488" y="3749040"/>
            <a:ext cx="3657600" cy="210312"/>
          </a:xfrm>
          <a:prstGeom prst="rect">
            <a:avLst/>
          </a:prstGeom>
          <a:noFill/>
          <a:ln/>
        </p:spPr>
        <p:txBody>
          <a:bodyPr wrap="square" rtlCol="0" anchor="ctr"/>
          <a:lstStyle/>
          <a:p>
            <a:pPr indent="0" marL="0">
              <a:buNone/>
            </a:pPr>
            <a:r>
              <a:rPr lang="en-US" sz="950" dirty="0">
                <a:solidFill>
                  <a:srgbClr val="1E293B"/>
                </a:solidFill>
              </a:rPr>
              <a:t>Search &amp; list threads</a:t>
            </a:r>
            <a:endParaRPr lang="en-US" sz="950" dirty="0"/>
          </a:p>
        </p:txBody>
      </p:sp>
      <p:sp>
        <p:nvSpPr>
          <p:cNvPr id="51" name="Shape 45"/>
          <p:cNvSpPr/>
          <p:nvPr/>
        </p:nvSpPr>
        <p:spPr>
          <a:xfrm>
            <a:off x="4892040" y="4014216"/>
            <a:ext cx="82296" cy="82296"/>
          </a:xfrm>
          <a:prstGeom prst="oval">
            <a:avLst/>
          </a:prstGeom>
          <a:solidFill>
            <a:srgbClr val="0891B2"/>
          </a:solidFill>
          <a:ln w="12700">
            <a:solidFill>
              <a:srgbClr val="0891B2"/>
            </a:solidFill>
            <a:prstDash val="solid"/>
          </a:ln>
        </p:spPr>
      </p:sp>
      <p:sp>
        <p:nvSpPr>
          <p:cNvPr id="52" name="Text 46"/>
          <p:cNvSpPr/>
          <p:nvPr/>
        </p:nvSpPr>
        <p:spPr>
          <a:xfrm>
            <a:off x="5047488" y="3968496"/>
            <a:ext cx="3657600" cy="210312"/>
          </a:xfrm>
          <a:prstGeom prst="rect">
            <a:avLst/>
          </a:prstGeom>
          <a:noFill/>
          <a:ln/>
        </p:spPr>
        <p:txBody>
          <a:bodyPr wrap="square" rtlCol="0" anchor="ctr"/>
          <a:lstStyle/>
          <a:p>
            <a:pPr indent="0" marL="0">
              <a:buNone/>
            </a:pPr>
            <a:r>
              <a:rPr lang="en-US" sz="950" dirty="0">
                <a:solidFill>
                  <a:srgbClr val="1E293B"/>
                </a:solidFill>
              </a:rPr>
              <a:t>Summarize recent emails</a:t>
            </a:r>
            <a:endParaRPr lang="en-US" sz="950" dirty="0"/>
          </a:p>
        </p:txBody>
      </p:sp>
      <p:sp>
        <p:nvSpPr>
          <p:cNvPr id="53" name="Shape 47"/>
          <p:cNvSpPr/>
          <p:nvPr/>
        </p:nvSpPr>
        <p:spPr>
          <a:xfrm>
            <a:off x="4892040" y="4233672"/>
            <a:ext cx="82296" cy="82296"/>
          </a:xfrm>
          <a:prstGeom prst="oval">
            <a:avLst/>
          </a:prstGeom>
          <a:solidFill>
            <a:srgbClr val="0891B2"/>
          </a:solidFill>
          <a:ln w="12700">
            <a:solidFill>
              <a:srgbClr val="0891B2"/>
            </a:solidFill>
            <a:prstDash val="solid"/>
          </a:ln>
        </p:spPr>
      </p:sp>
      <p:sp>
        <p:nvSpPr>
          <p:cNvPr id="54" name="Text 48"/>
          <p:cNvSpPr/>
          <p:nvPr/>
        </p:nvSpPr>
        <p:spPr>
          <a:xfrm>
            <a:off x="5047488" y="4187952"/>
            <a:ext cx="3657600" cy="210312"/>
          </a:xfrm>
          <a:prstGeom prst="rect">
            <a:avLst/>
          </a:prstGeom>
          <a:noFill/>
          <a:ln/>
        </p:spPr>
        <p:txBody>
          <a:bodyPr wrap="square" rtlCol="0" anchor="ctr"/>
          <a:lstStyle/>
          <a:p>
            <a:pPr indent="0" marL="0">
              <a:buNone/>
            </a:pPr>
            <a:r>
              <a:rPr lang="en-US" sz="950" dirty="0">
                <a:solidFill>
                  <a:srgbClr val="1E293B"/>
                </a:solidFill>
              </a:rPr>
              <a:t>Get message / thread by ID</a:t>
            </a:r>
            <a:endParaRPr lang="en-US" sz="950" dirty="0"/>
          </a:p>
        </p:txBody>
      </p:sp>
      <p:sp>
        <p:nvSpPr>
          <p:cNvPr id="55" name="Shape 49"/>
          <p:cNvSpPr/>
          <p:nvPr/>
        </p:nvSpPr>
        <p:spPr>
          <a:xfrm>
            <a:off x="4892040" y="4453128"/>
            <a:ext cx="82296" cy="82296"/>
          </a:xfrm>
          <a:prstGeom prst="oval">
            <a:avLst/>
          </a:prstGeom>
          <a:solidFill>
            <a:srgbClr val="0891B2"/>
          </a:solidFill>
          <a:ln w="12700">
            <a:solidFill>
              <a:srgbClr val="0891B2"/>
            </a:solidFill>
            <a:prstDash val="solid"/>
          </a:ln>
        </p:spPr>
      </p:sp>
      <p:sp>
        <p:nvSpPr>
          <p:cNvPr id="56" name="Text 50"/>
          <p:cNvSpPr/>
          <p:nvPr/>
        </p:nvSpPr>
        <p:spPr>
          <a:xfrm>
            <a:off x="5047488" y="4407408"/>
            <a:ext cx="3657600" cy="210312"/>
          </a:xfrm>
          <a:prstGeom prst="rect">
            <a:avLst/>
          </a:prstGeom>
          <a:noFill/>
          <a:ln/>
        </p:spPr>
        <p:txBody>
          <a:bodyPr wrap="square" rtlCol="0" anchor="ctr"/>
          <a:lstStyle/>
          <a:p>
            <a:pPr indent="0" marL="0">
              <a:buNone/>
            </a:pPr>
            <a:r>
              <a:rPr lang="en-US" sz="950" dirty="0">
                <a:solidFill>
                  <a:srgbClr val="1E293B"/>
                </a:solidFill>
              </a:rPr>
              <a:t>Create draft &amp; send email</a:t>
            </a:r>
            <a:endParaRPr lang="en-US" sz="950" dirty="0"/>
          </a:p>
        </p:txBody>
      </p:sp>
      <p:sp>
        <p:nvSpPr>
          <p:cNvPr id="57" name="Shape 51"/>
          <p:cNvSpPr/>
          <p:nvPr/>
        </p:nvSpPr>
        <p:spPr>
          <a:xfrm>
            <a:off x="411480" y="4709160"/>
            <a:ext cx="8321040" cy="256032"/>
          </a:xfrm>
          <a:prstGeom prst="rect">
            <a:avLst/>
          </a:prstGeom>
          <a:solidFill>
            <a:srgbClr val="E2E8F0"/>
          </a:solidFill>
          <a:ln w="12700">
            <a:solidFill>
              <a:srgbClr val="E2E8F0"/>
            </a:solidFill>
            <a:prstDash val="solid"/>
          </a:ln>
        </p:spPr>
      </p:sp>
      <p:sp>
        <p:nvSpPr>
          <p:cNvPr id="58" name="Text 52"/>
          <p:cNvSpPr/>
          <p:nvPr/>
        </p:nvSpPr>
        <p:spPr>
          <a:xfrm>
            <a:off x="548640" y="4718304"/>
            <a:ext cx="8046720" cy="237744"/>
          </a:xfrm>
          <a:prstGeom prst="rect">
            <a:avLst/>
          </a:prstGeom>
          <a:noFill/>
          <a:ln/>
        </p:spPr>
        <p:txBody>
          <a:bodyPr wrap="square" rtlCol="0" anchor="ctr"/>
          <a:lstStyle/>
          <a:p>
            <a:pPr indent="0" marL="0">
              <a:buNone/>
            </a:pPr>
            <a:r>
              <a:rPr lang="en-US" sz="850" dirty="0">
                <a:solidFill>
                  <a:srgbClr val="94A3B8"/>
                </a:solidFill>
              </a:rPr>
              <a:t>Runtime: MCPAltRegistry caches JSON schemas at startup · Task Planner receives live Tool Catalog · ActionAgent validates all args before execution · user_id injected per call</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F3D"/>
        </a:solidFill>
      </p:bgPr>
    </p:bg>
    <p:spTree>
      <p:nvGrpSpPr>
        <p:cNvPr id="1" name=""/>
        <p:cNvGrpSpPr/>
        <p:nvPr/>
      </p:nvGrpSpPr>
      <p:grpSpPr>
        <a:xfrm>
          <a:off x="0" y="0"/>
          <a:ext cx="0" cy="0"/>
          <a:chOff x="0" y="0"/>
          <a:chExt cx="0" cy="0"/>
        </a:xfrm>
      </p:grpSpPr>
      <p:sp>
        <p:nvSpPr>
          <p:cNvPr id="2" name="Shape 0"/>
          <p:cNvSpPr/>
          <p:nvPr/>
        </p:nvSpPr>
        <p:spPr>
          <a:xfrm>
            <a:off x="411480" y="201168"/>
            <a:ext cx="1645920" cy="256032"/>
          </a:xfrm>
          <a:prstGeom prst="roundRect">
            <a:avLst>
              <a:gd name="adj" fmla="val 50000"/>
            </a:avLst>
          </a:prstGeom>
          <a:solidFill>
            <a:srgbClr val="1A56DB">
              <a:alpha val="15000"/>
            </a:srgbClr>
          </a:solidFill>
          <a:ln w="6350">
            <a:solidFill>
              <a:srgbClr val="1A56DB"/>
            </a:solidFill>
            <a:prstDash val="solid"/>
          </a:ln>
        </p:spPr>
      </p:sp>
      <p:sp>
        <p:nvSpPr>
          <p:cNvPr id="3" name="Text 1"/>
          <p:cNvSpPr/>
          <p:nvPr/>
        </p:nvSpPr>
        <p:spPr>
          <a:xfrm>
            <a:off x="411480" y="201168"/>
            <a:ext cx="1645920" cy="256032"/>
          </a:xfrm>
          <a:prstGeom prst="rect">
            <a:avLst/>
          </a:prstGeom>
          <a:noFill/>
          <a:ln/>
        </p:spPr>
        <p:txBody>
          <a:bodyPr wrap="square" lIns="0" tIns="0" rIns="0" bIns="0" rtlCol="0" anchor="ctr"/>
          <a:lstStyle/>
          <a:p>
            <a:pPr algn="ctr" indent="0" marL="0">
              <a:buNone/>
            </a:pPr>
            <a:r>
              <a:rPr lang="en-US" sz="900" b="1" dirty="0">
                <a:solidFill>
                  <a:srgbClr val="1A56DB"/>
                </a:solidFill>
              </a:rPr>
              <a:t>BACKEND</a:t>
            </a:r>
            <a:endParaRPr lang="en-US" sz="900" dirty="0"/>
          </a:p>
        </p:txBody>
      </p:sp>
      <p:sp>
        <p:nvSpPr>
          <p:cNvPr id="4" name="Text 2"/>
          <p:cNvSpPr/>
          <p:nvPr/>
        </p:nvSpPr>
        <p:spPr>
          <a:xfrm>
            <a:off x="411480" y="475488"/>
            <a:ext cx="8321040" cy="548640"/>
          </a:xfrm>
          <a:prstGeom prst="rect">
            <a:avLst/>
          </a:prstGeom>
          <a:noFill/>
          <a:ln/>
        </p:spPr>
        <p:txBody>
          <a:bodyPr wrap="square" rtlCol="0" anchor="ctr"/>
          <a:lstStyle/>
          <a:p>
            <a:pPr indent="0" marL="0">
              <a:buNone/>
            </a:pPr>
            <a:r>
              <a:rPr lang="en-US" sz="3000" b="1" dirty="0">
                <a:solidFill>
                  <a:srgbClr val="FFFFFF"/>
                </a:solidFill>
              </a:rPr>
              <a:t>Backend Architecture</a:t>
            </a:r>
            <a:endParaRPr lang="en-US" sz="3000" dirty="0"/>
          </a:p>
        </p:txBody>
      </p:sp>
      <p:sp>
        <p:nvSpPr>
          <p:cNvPr id="5" name="Shape 3"/>
          <p:cNvSpPr/>
          <p:nvPr/>
        </p:nvSpPr>
        <p:spPr>
          <a:xfrm>
            <a:off x="2971800" y="1115568"/>
            <a:ext cx="3200400" cy="438912"/>
          </a:xfrm>
          <a:prstGeom prst="roundRect">
            <a:avLst>
              <a:gd name="adj" fmla="val 14583"/>
            </a:avLst>
          </a:prstGeom>
          <a:solidFill>
            <a:srgbClr val="1A3A6E"/>
          </a:solidFill>
          <a:ln w="12700">
            <a:solidFill>
              <a:srgbClr val="1A3A6E"/>
            </a:solidFill>
            <a:prstDash val="solid"/>
          </a:ln>
        </p:spPr>
      </p:sp>
      <p:sp>
        <p:nvSpPr>
          <p:cNvPr id="6" name="Text 4"/>
          <p:cNvSpPr/>
          <p:nvPr/>
        </p:nvSpPr>
        <p:spPr>
          <a:xfrm>
            <a:off x="3017520" y="1161288"/>
            <a:ext cx="3108960" cy="210678"/>
          </a:xfrm>
          <a:prstGeom prst="rect">
            <a:avLst/>
          </a:prstGeom>
          <a:noFill/>
          <a:ln/>
        </p:spPr>
        <p:txBody>
          <a:bodyPr wrap="square" lIns="0" tIns="0" rIns="0" bIns="0" rtlCol="0" anchor="ctr"/>
          <a:lstStyle/>
          <a:p>
            <a:pPr algn="ctr" indent="0" marL="0">
              <a:buNone/>
            </a:pPr>
            <a:r>
              <a:rPr lang="en-US" sz="900" b="1" dirty="0">
                <a:solidFill>
                  <a:srgbClr val="FFFFFF"/>
                </a:solidFill>
              </a:rPr>
              <a:t>main.py  (FastAPI v3.0)</a:t>
            </a:r>
            <a:endParaRPr lang="en-US" sz="900" dirty="0"/>
          </a:p>
        </p:txBody>
      </p:sp>
      <p:sp>
        <p:nvSpPr>
          <p:cNvPr id="7" name="Text 5"/>
          <p:cNvSpPr/>
          <p:nvPr/>
        </p:nvSpPr>
        <p:spPr>
          <a:xfrm>
            <a:off x="3017520" y="1335024"/>
            <a:ext cx="3108960" cy="201900"/>
          </a:xfrm>
          <a:prstGeom prst="rect">
            <a:avLst/>
          </a:prstGeom>
          <a:noFill/>
          <a:ln/>
        </p:spPr>
        <p:txBody>
          <a:bodyPr wrap="square" lIns="0" tIns="0" rIns="0" bIns="0" rtlCol="0" anchor="ctr"/>
          <a:lstStyle/>
          <a:p>
            <a:pPr algn="ctr" indent="0" marL="0">
              <a:buNone/>
            </a:pPr>
            <a:r>
              <a:rPr lang="en-US" sz="750" dirty="0">
                <a:solidFill>
                  <a:srgbClr val="BFDBFE"/>
                </a:solidFill>
              </a:rPr>
              <a:t>AuthMiddleware · CORSMiddleware · lifespan</a:t>
            </a:r>
            <a:endParaRPr lang="en-US" sz="750" dirty="0"/>
          </a:p>
        </p:txBody>
      </p:sp>
      <p:sp>
        <p:nvSpPr>
          <p:cNvPr id="8" name="Shape 6"/>
          <p:cNvSpPr/>
          <p:nvPr/>
        </p:nvSpPr>
        <p:spPr>
          <a:xfrm>
            <a:off x="4572000" y="1554480"/>
            <a:ext cx="0" cy="164592"/>
          </a:xfrm>
          <a:prstGeom prst="line">
            <a:avLst/>
          </a:prstGeom>
          <a:noFill/>
          <a:ln w="12700">
            <a:solidFill>
              <a:srgbClr val="06B6D4"/>
            </a:solidFill>
            <a:prstDash val="sysDash"/>
          </a:ln>
        </p:spPr>
      </p:sp>
      <p:sp>
        <p:nvSpPr>
          <p:cNvPr id="9" name="Text 7"/>
          <p:cNvSpPr/>
          <p:nvPr/>
        </p:nvSpPr>
        <p:spPr>
          <a:xfrm>
            <a:off x="292608" y="1719072"/>
            <a:ext cx="3657600" cy="164592"/>
          </a:xfrm>
          <a:prstGeom prst="rect">
            <a:avLst/>
          </a:prstGeom>
          <a:noFill/>
          <a:ln/>
        </p:spPr>
        <p:txBody>
          <a:bodyPr wrap="square" rtlCol="0" anchor="ctr"/>
          <a:lstStyle/>
          <a:p>
            <a:pPr indent="0" marL="0">
              <a:buNone/>
            </a:pPr>
            <a:r>
              <a:rPr lang="en-US" sz="800" b="1" dirty="0">
                <a:solidFill>
                  <a:srgbClr val="06B6D4"/>
                </a:solidFill>
              </a:rPr>
              <a:t>api/v1/ routers</a:t>
            </a:r>
            <a:endParaRPr lang="en-US" sz="800" dirty="0"/>
          </a:p>
        </p:txBody>
      </p:sp>
      <p:sp>
        <p:nvSpPr>
          <p:cNvPr id="10" name="Shape 8"/>
          <p:cNvSpPr/>
          <p:nvPr/>
        </p:nvSpPr>
        <p:spPr>
          <a:xfrm>
            <a:off x="292608" y="1883664"/>
            <a:ext cx="1335024" cy="512064"/>
          </a:xfrm>
          <a:prstGeom prst="roundRect">
            <a:avLst>
              <a:gd name="adj" fmla="val 12500"/>
            </a:avLst>
          </a:prstGeom>
          <a:solidFill>
            <a:srgbClr val="163968"/>
          </a:solidFill>
          <a:ln w="12700">
            <a:solidFill>
              <a:srgbClr val="163968"/>
            </a:solidFill>
            <a:prstDash val="solid"/>
          </a:ln>
        </p:spPr>
      </p:sp>
      <p:sp>
        <p:nvSpPr>
          <p:cNvPr id="11" name="Text 9"/>
          <p:cNvSpPr/>
          <p:nvPr/>
        </p:nvSpPr>
        <p:spPr>
          <a:xfrm>
            <a:off x="338328" y="1929384"/>
            <a:ext cx="1243584" cy="245791"/>
          </a:xfrm>
          <a:prstGeom prst="rect">
            <a:avLst/>
          </a:prstGeom>
          <a:noFill/>
          <a:ln/>
        </p:spPr>
        <p:txBody>
          <a:bodyPr wrap="square" lIns="0" tIns="0" rIns="0" bIns="0" rtlCol="0" anchor="ctr"/>
          <a:lstStyle/>
          <a:p>
            <a:pPr algn="ctr" indent="0" marL="0">
              <a:buNone/>
            </a:pPr>
            <a:r>
              <a:rPr lang="en-US" sz="900" b="1" dirty="0">
                <a:solidFill>
                  <a:srgbClr val="FFFFFF"/>
                </a:solidFill>
              </a:rPr>
              <a:t>chat.py</a:t>
            </a:r>
            <a:endParaRPr lang="en-US" sz="900" dirty="0"/>
          </a:p>
        </p:txBody>
      </p:sp>
      <p:sp>
        <p:nvSpPr>
          <p:cNvPr id="12" name="Text 10"/>
          <p:cNvSpPr/>
          <p:nvPr/>
        </p:nvSpPr>
        <p:spPr>
          <a:xfrm>
            <a:off x="338328" y="2139696"/>
            <a:ext cx="1243584" cy="235549"/>
          </a:xfrm>
          <a:prstGeom prst="rect">
            <a:avLst/>
          </a:prstGeom>
          <a:noFill/>
          <a:ln/>
        </p:spPr>
        <p:txBody>
          <a:bodyPr wrap="square" lIns="0" tIns="0" rIns="0" bIns="0" rtlCol="0" anchor="ctr"/>
          <a:lstStyle/>
          <a:p>
            <a:pPr algn="ctr" indent="0" marL="0">
              <a:buNone/>
            </a:pPr>
            <a:r>
              <a:rPr lang="en-US" sz="750" dirty="0">
                <a:solidFill>
                  <a:srgbClr val="BFDBFE"/>
                </a:solidFill>
              </a:rPr>
              <a:t>POST /chat</a:t>
            </a:r>
            <a:endParaRPr lang="en-US" sz="750" dirty="0"/>
          </a:p>
          <a:p>
            <a:pPr algn="ctr" indent="0" marL="0">
              <a:buNone/>
            </a:pPr>
            <a:r>
              <a:rPr lang="en-US" sz="750" dirty="0">
                <a:solidFill>
                  <a:srgbClr val="BFDBFE"/>
                </a:solidFill>
              </a:rPr>
              <a:t>WS /ws/chat</a:t>
            </a:r>
            <a:endParaRPr lang="en-US" sz="750" dirty="0"/>
          </a:p>
        </p:txBody>
      </p:sp>
      <p:sp>
        <p:nvSpPr>
          <p:cNvPr id="13" name="Shape 11"/>
          <p:cNvSpPr/>
          <p:nvPr/>
        </p:nvSpPr>
        <p:spPr>
          <a:xfrm>
            <a:off x="1737360" y="1883664"/>
            <a:ext cx="1335024" cy="512064"/>
          </a:xfrm>
          <a:prstGeom prst="roundRect">
            <a:avLst>
              <a:gd name="adj" fmla="val 12500"/>
            </a:avLst>
          </a:prstGeom>
          <a:solidFill>
            <a:srgbClr val="163968"/>
          </a:solidFill>
          <a:ln w="12700">
            <a:solidFill>
              <a:srgbClr val="163968"/>
            </a:solidFill>
            <a:prstDash val="solid"/>
          </a:ln>
        </p:spPr>
      </p:sp>
      <p:sp>
        <p:nvSpPr>
          <p:cNvPr id="14" name="Text 12"/>
          <p:cNvSpPr/>
          <p:nvPr/>
        </p:nvSpPr>
        <p:spPr>
          <a:xfrm>
            <a:off x="1783080" y="1929384"/>
            <a:ext cx="1243584" cy="245791"/>
          </a:xfrm>
          <a:prstGeom prst="rect">
            <a:avLst/>
          </a:prstGeom>
          <a:noFill/>
          <a:ln/>
        </p:spPr>
        <p:txBody>
          <a:bodyPr wrap="square" lIns="0" tIns="0" rIns="0" bIns="0" rtlCol="0" anchor="ctr"/>
          <a:lstStyle/>
          <a:p>
            <a:pPr algn="ctr" indent="0" marL="0">
              <a:buNone/>
            </a:pPr>
            <a:r>
              <a:rPr lang="en-US" sz="900" b="1" dirty="0">
                <a:solidFill>
                  <a:srgbClr val="FFFFFF"/>
                </a:solidFill>
              </a:rPr>
              <a:t>agents.py</a:t>
            </a:r>
            <a:endParaRPr lang="en-US" sz="900" dirty="0"/>
          </a:p>
        </p:txBody>
      </p:sp>
      <p:sp>
        <p:nvSpPr>
          <p:cNvPr id="15" name="Text 13"/>
          <p:cNvSpPr/>
          <p:nvPr/>
        </p:nvSpPr>
        <p:spPr>
          <a:xfrm>
            <a:off x="1783080" y="2139696"/>
            <a:ext cx="1243584" cy="235549"/>
          </a:xfrm>
          <a:prstGeom prst="rect">
            <a:avLst/>
          </a:prstGeom>
          <a:noFill/>
          <a:ln/>
        </p:spPr>
        <p:txBody>
          <a:bodyPr wrap="square" lIns="0" tIns="0" rIns="0" bIns="0" rtlCol="0" anchor="ctr"/>
          <a:lstStyle/>
          <a:p>
            <a:pPr algn="ctr" indent="0" marL="0">
              <a:buNone/>
            </a:pPr>
            <a:r>
              <a:rPr lang="en-US" sz="750" dirty="0">
                <a:solidFill>
                  <a:srgbClr val="BFDBFE"/>
                </a:solidFill>
              </a:rPr>
              <a:t>plan status</a:t>
            </a:r>
            <a:endParaRPr lang="en-US" sz="750" dirty="0"/>
          </a:p>
        </p:txBody>
      </p:sp>
      <p:sp>
        <p:nvSpPr>
          <p:cNvPr id="16" name="Shape 14"/>
          <p:cNvSpPr/>
          <p:nvPr/>
        </p:nvSpPr>
        <p:spPr>
          <a:xfrm>
            <a:off x="3182112" y="1883664"/>
            <a:ext cx="1335024" cy="512064"/>
          </a:xfrm>
          <a:prstGeom prst="roundRect">
            <a:avLst>
              <a:gd name="adj" fmla="val 12500"/>
            </a:avLst>
          </a:prstGeom>
          <a:solidFill>
            <a:srgbClr val="163968"/>
          </a:solidFill>
          <a:ln w="12700">
            <a:solidFill>
              <a:srgbClr val="163968"/>
            </a:solidFill>
            <a:prstDash val="solid"/>
          </a:ln>
        </p:spPr>
      </p:sp>
      <p:sp>
        <p:nvSpPr>
          <p:cNvPr id="17" name="Text 15"/>
          <p:cNvSpPr/>
          <p:nvPr/>
        </p:nvSpPr>
        <p:spPr>
          <a:xfrm>
            <a:off x="3227832" y="1929384"/>
            <a:ext cx="1243584" cy="245791"/>
          </a:xfrm>
          <a:prstGeom prst="rect">
            <a:avLst/>
          </a:prstGeom>
          <a:noFill/>
          <a:ln/>
        </p:spPr>
        <p:txBody>
          <a:bodyPr wrap="square" lIns="0" tIns="0" rIns="0" bIns="0" rtlCol="0" anchor="ctr"/>
          <a:lstStyle/>
          <a:p>
            <a:pPr algn="ctr" indent="0" marL="0">
              <a:buNone/>
            </a:pPr>
            <a:r>
              <a:rPr lang="en-US" sz="900" b="1" dirty="0">
                <a:solidFill>
                  <a:srgbClr val="FFFFFF"/>
                </a:solidFill>
              </a:rPr>
              <a:t>mcp.py</a:t>
            </a:r>
            <a:endParaRPr lang="en-US" sz="900" dirty="0"/>
          </a:p>
        </p:txBody>
      </p:sp>
      <p:sp>
        <p:nvSpPr>
          <p:cNvPr id="18" name="Text 16"/>
          <p:cNvSpPr/>
          <p:nvPr/>
        </p:nvSpPr>
        <p:spPr>
          <a:xfrm>
            <a:off x="3227832" y="2139696"/>
            <a:ext cx="1243584" cy="235549"/>
          </a:xfrm>
          <a:prstGeom prst="rect">
            <a:avLst/>
          </a:prstGeom>
          <a:noFill/>
          <a:ln/>
        </p:spPr>
        <p:txBody>
          <a:bodyPr wrap="square" lIns="0" tIns="0" rIns="0" bIns="0" rtlCol="0" anchor="ctr"/>
          <a:lstStyle/>
          <a:p>
            <a:pPr algn="ctr" indent="0" marL="0">
              <a:buNone/>
            </a:pPr>
            <a:r>
              <a:rPr lang="en-US" sz="750" dirty="0">
                <a:solidFill>
                  <a:srgbClr val="BFDBFE"/>
                </a:solidFill>
              </a:rPr>
              <a:t>tools · invoke</a:t>
            </a:r>
            <a:endParaRPr lang="en-US" sz="750" dirty="0"/>
          </a:p>
        </p:txBody>
      </p:sp>
      <p:sp>
        <p:nvSpPr>
          <p:cNvPr id="19" name="Shape 17"/>
          <p:cNvSpPr/>
          <p:nvPr/>
        </p:nvSpPr>
        <p:spPr>
          <a:xfrm>
            <a:off x="4626864" y="1883664"/>
            <a:ext cx="1335024" cy="512064"/>
          </a:xfrm>
          <a:prstGeom prst="roundRect">
            <a:avLst>
              <a:gd name="adj" fmla="val 12500"/>
            </a:avLst>
          </a:prstGeom>
          <a:solidFill>
            <a:srgbClr val="163968"/>
          </a:solidFill>
          <a:ln w="12700">
            <a:solidFill>
              <a:srgbClr val="163968"/>
            </a:solidFill>
            <a:prstDash val="solid"/>
          </a:ln>
        </p:spPr>
      </p:sp>
      <p:sp>
        <p:nvSpPr>
          <p:cNvPr id="20" name="Text 18"/>
          <p:cNvSpPr/>
          <p:nvPr/>
        </p:nvSpPr>
        <p:spPr>
          <a:xfrm>
            <a:off x="4672584" y="1929384"/>
            <a:ext cx="1243584" cy="245791"/>
          </a:xfrm>
          <a:prstGeom prst="rect">
            <a:avLst/>
          </a:prstGeom>
          <a:noFill/>
          <a:ln/>
        </p:spPr>
        <p:txBody>
          <a:bodyPr wrap="square" lIns="0" tIns="0" rIns="0" bIns="0" rtlCol="0" anchor="ctr"/>
          <a:lstStyle/>
          <a:p>
            <a:pPr algn="ctr" indent="0" marL="0">
              <a:buNone/>
            </a:pPr>
            <a:r>
              <a:rPr lang="en-US" sz="900" b="1" dirty="0">
                <a:solidFill>
                  <a:srgbClr val="FFFFFF"/>
                </a:solidFill>
              </a:rPr>
              <a:t>auth.py</a:t>
            </a:r>
            <a:endParaRPr lang="en-US" sz="900" dirty="0"/>
          </a:p>
        </p:txBody>
      </p:sp>
      <p:sp>
        <p:nvSpPr>
          <p:cNvPr id="21" name="Text 19"/>
          <p:cNvSpPr/>
          <p:nvPr/>
        </p:nvSpPr>
        <p:spPr>
          <a:xfrm>
            <a:off x="4672584" y="2139696"/>
            <a:ext cx="1243584" cy="235549"/>
          </a:xfrm>
          <a:prstGeom prst="rect">
            <a:avLst/>
          </a:prstGeom>
          <a:noFill/>
          <a:ln/>
        </p:spPr>
        <p:txBody>
          <a:bodyPr wrap="square" lIns="0" tIns="0" rIns="0" bIns="0" rtlCol="0" anchor="ctr"/>
          <a:lstStyle/>
          <a:p>
            <a:pPr algn="ctr" indent="0" marL="0">
              <a:buNone/>
            </a:pPr>
            <a:r>
              <a:rPr lang="en-US" sz="750" dirty="0">
                <a:solidFill>
                  <a:srgbClr val="BFDBFE"/>
                </a:solidFill>
              </a:rPr>
              <a:t>Google login</a:t>
            </a:r>
            <a:endParaRPr lang="en-US" sz="750" dirty="0"/>
          </a:p>
        </p:txBody>
      </p:sp>
      <p:sp>
        <p:nvSpPr>
          <p:cNvPr id="22" name="Shape 20"/>
          <p:cNvSpPr/>
          <p:nvPr/>
        </p:nvSpPr>
        <p:spPr>
          <a:xfrm>
            <a:off x="6071616" y="1883664"/>
            <a:ext cx="1335024" cy="512064"/>
          </a:xfrm>
          <a:prstGeom prst="roundRect">
            <a:avLst>
              <a:gd name="adj" fmla="val 12500"/>
            </a:avLst>
          </a:prstGeom>
          <a:solidFill>
            <a:srgbClr val="163968"/>
          </a:solidFill>
          <a:ln w="12700">
            <a:solidFill>
              <a:srgbClr val="163968"/>
            </a:solidFill>
            <a:prstDash val="solid"/>
          </a:ln>
        </p:spPr>
      </p:sp>
      <p:sp>
        <p:nvSpPr>
          <p:cNvPr id="23" name="Text 21"/>
          <p:cNvSpPr/>
          <p:nvPr/>
        </p:nvSpPr>
        <p:spPr>
          <a:xfrm>
            <a:off x="6117336" y="1929384"/>
            <a:ext cx="1243584" cy="245791"/>
          </a:xfrm>
          <a:prstGeom prst="rect">
            <a:avLst/>
          </a:prstGeom>
          <a:noFill/>
          <a:ln/>
        </p:spPr>
        <p:txBody>
          <a:bodyPr wrap="square" lIns="0" tIns="0" rIns="0" bIns="0" rtlCol="0" anchor="ctr"/>
          <a:lstStyle/>
          <a:p>
            <a:pPr algn="ctr" indent="0" marL="0">
              <a:buNone/>
            </a:pPr>
            <a:r>
              <a:rPr lang="en-US" sz="900" b="1" dirty="0">
                <a:solidFill>
                  <a:srgbClr val="FFFFFF"/>
                </a:solidFill>
              </a:rPr>
              <a:t>plan / task</a:t>
            </a:r>
            <a:endParaRPr lang="en-US" sz="900" dirty="0"/>
          </a:p>
        </p:txBody>
      </p:sp>
      <p:sp>
        <p:nvSpPr>
          <p:cNvPr id="24" name="Text 22"/>
          <p:cNvSpPr/>
          <p:nvPr/>
        </p:nvSpPr>
        <p:spPr>
          <a:xfrm>
            <a:off x="6117336" y="2139696"/>
            <a:ext cx="1243584" cy="235549"/>
          </a:xfrm>
          <a:prstGeom prst="rect">
            <a:avLst/>
          </a:prstGeom>
          <a:noFill/>
          <a:ln/>
        </p:spPr>
        <p:txBody>
          <a:bodyPr wrap="square" lIns="0" tIns="0" rIns="0" bIns="0" rtlCol="0" anchor="ctr"/>
          <a:lstStyle/>
          <a:p>
            <a:pPr algn="ctr" indent="0" marL="0">
              <a:buNone/>
            </a:pPr>
            <a:r>
              <a:rPr lang="en-US" sz="750" dirty="0">
                <a:solidFill>
                  <a:srgbClr val="BFDBFE"/>
                </a:solidFill>
              </a:rPr>
              <a:t>CRUD plans</a:t>
            </a:r>
            <a:endParaRPr lang="en-US" sz="750" dirty="0"/>
          </a:p>
        </p:txBody>
      </p:sp>
      <p:sp>
        <p:nvSpPr>
          <p:cNvPr id="25" name="Shape 23"/>
          <p:cNvSpPr/>
          <p:nvPr/>
        </p:nvSpPr>
        <p:spPr>
          <a:xfrm>
            <a:off x="7516368" y="1883664"/>
            <a:ext cx="1335024" cy="512064"/>
          </a:xfrm>
          <a:prstGeom prst="roundRect">
            <a:avLst>
              <a:gd name="adj" fmla="val 12500"/>
            </a:avLst>
          </a:prstGeom>
          <a:solidFill>
            <a:srgbClr val="163968"/>
          </a:solidFill>
          <a:ln w="12700">
            <a:solidFill>
              <a:srgbClr val="163968"/>
            </a:solidFill>
            <a:prstDash val="solid"/>
          </a:ln>
        </p:spPr>
      </p:sp>
      <p:sp>
        <p:nvSpPr>
          <p:cNvPr id="26" name="Text 24"/>
          <p:cNvSpPr/>
          <p:nvPr/>
        </p:nvSpPr>
        <p:spPr>
          <a:xfrm>
            <a:off x="7562088" y="1929384"/>
            <a:ext cx="1243584" cy="245791"/>
          </a:xfrm>
          <a:prstGeom prst="rect">
            <a:avLst/>
          </a:prstGeom>
          <a:noFill/>
          <a:ln/>
        </p:spPr>
        <p:txBody>
          <a:bodyPr wrap="square" lIns="0" tIns="0" rIns="0" bIns="0" rtlCol="0" anchor="ctr"/>
          <a:lstStyle/>
          <a:p>
            <a:pPr algn="ctr" indent="0" marL="0">
              <a:buNone/>
            </a:pPr>
            <a:r>
              <a:rPr lang="en-US" sz="900" b="1" dirty="0">
                <a:solidFill>
                  <a:srgbClr val="FFFFFF"/>
                </a:solidFill>
              </a:rPr>
              <a:t>session / audit</a:t>
            </a:r>
            <a:endParaRPr lang="en-US" sz="900" dirty="0"/>
          </a:p>
        </p:txBody>
      </p:sp>
      <p:sp>
        <p:nvSpPr>
          <p:cNvPr id="27" name="Text 25"/>
          <p:cNvSpPr/>
          <p:nvPr/>
        </p:nvSpPr>
        <p:spPr>
          <a:xfrm>
            <a:off x="7562088" y="2139696"/>
            <a:ext cx="1243584" cy="235549"/>
          </a:xfrm>
          <a:prstGeom prst="rect">
            <a:avLst/>
          </a:prstGeom>
          <a:noFill/>
          <a:ln/>
        </p:spPr>
        <p:txBody>
          <a:bodyPr wrap="square" lIns="0" tIns="0" rIns="0" bIns="0" rtlCol="0" anchor="ctr"/>
          <a:lstStyle/>
          <a:p>
            <a:pPr algn="ctr" indent="0" marL="0">
              <a:buNone/>
            </a:pPr>
            <a:r>
              <a:rPr lang="en-US" sz="750" dirty="0">
                <a:solidFill>
                  <a:srgbClr val="BFDBFE"/>
                </a:solidFill>
              </a:rPr>
              <a:t>history</a:t>
            </a:r>
            <a:endParaRPr lang="en-US" sz="750" dirty="0"/>
          </a:p>
        </p:txBody>
      </p:sp>
      <p:sp>
        <p:nvSpPr>
          <p:cNvPr id="28" name="Shape 26"/>
          <p:cNvSpPr/>
          <p:nvPr/>
        </p:nvSpPr>
        <p:spPr>
          <a:xfrm>
            <a:off x="4572000" y="2395728"/>
            <a:ext cx="0" cy="146304"/>
          </a:xfrm>
          <a:prstGeom prst="line">
            <a:avLst/>
          </a:prstGeom>
          <a:noFill/>
          <a:ln w="12700">
            <a:solidFill>
              <a:srgbClr val="06B6D4"/>
            </a:solidFill>
            <a:prstDash val="sysDash"/>
          </a:ln>
        </p:spPr>
      </p:sp>
      <p:sp>
        <p:nvSpPr>
          <p:cNvPr id="29" name="Text 27"/>
          <p:cNvSpPr/>
          <p:nvPr/>
        </p:nvSpPr>
        <p:spPr>
          <a:xfrm>
            <a:off x="292608" y="2542032"/>
            <a:ext cx="4572000" cy="164592"/>
          </a:xfrm>
          <a:prstGeom prst="rect">
            <a:avLst/>
          </a:prstGeom>
          <a:noFill/>
          <a:ln/>
        </p:spPr>
        <p:txBody>
          <a:bodyPr wrap="square" rtlCol="0" anchor="ctr"/>
          <a:lstStyle/>
          <a:p>
            <a:pPr indent="0" marL="0">
              <a:buNone/>
            </a:pPr>
            <a:r>
              <a:rPr lang="en-US" sz="800" b="1" dirty="0">
                <a:solidFill>
                  <a:srgbClr val="06B6D4"/>
                </a:solidFill>
              </a:rPr>
              <a:t>core/  ·  db/  ·  services/</a:t>
            </a:r>
            <a:endParaRPr lang="en-US" sz="800" dirty="0"/>
          </a:p>
        </p:txBody>
      </p:sp>
      <p:sp>
        <p:nvSpPr>
          <p:cNvPr id="30" name="Shape 28"/>
          <p:cNvSpPr/>
          <p:nvPr/>
        </p:nvSpPr>
        <p:spPr>
          <a:xfrm>
            <a:off x="292608" y="2706624"/>
            <a:ext cx="1335024" cy="621792"/>
          </a:xfrm>
          <a:prstGeom prst="roundRect">
            <a:avLst>
              <a:gd name="adj" fmla="val 10294"/>
            </a:avLst>
          </a:prstGeom>
          <a:solidFill>
            <a:srgbClr val="0E4C8A"/>
          </a:solidFill>
          <a:ln w="12700">
            <a:solidFill>
              <a:srgbClr val="0E4C8A"/>
            </a:solidFill>
            <a:prstDash val="solid"/>
          </a:ln>
        </p:spPr>
      </p:sp>
      <p:sp>
        <p:nvSpPr>
          <p:cNvPr id="31" name="Text 29"/>
          <p:cNvSpPr/>
          <p:nvPr/>
        </p:nvSpPr>
        <p:spPr>
          <a:xfrm>
            <a:off x="338328" y="2752344"/>
            <a:ext cx="1243584" cy="298460"/>
          </a:xfrm>
          <a:prstGeom prst="rect">
            <a:avLst/>
          </a:prstGeom>
          <a:noFill/>
          <a:ln/>
        </p:spPr>
        <p:txBody>
          <a:bodyPr wrap="square" lIns="0" tIns="0" rIns="0" bIns="0" rtlCol="0" anchor="ctr"/>
          <a:lstStyle/>
          <a:p>
            <a:pPr algn="ctr" indent="0" marL="0">
              <a:buNone/>
            </a:pPr>
            <a:r>
              <a:rPr lang="en-US" sz="900" b="1" dirty="0">
                <a:solidFill>
                  <a:srgbClr val="FFFFFF"/>
                </a:solidFill>
              </a:rPr>
              <a:t>openrouter.py</a:t>
            </a:r>
            <a:endParaRPr lang="en-US" sz="900" dirty="0"/>
          </a:p>
        </p:txBody>
      </p:sp>
      <p:sp>
        <p:nvSpPr>
          <p:cNvPr id="32" name="Text 30"/>
          <p:cNvSpPr/>
          <p:nvPr/>
        </p:nvSpPr>
        <p:spPr>
          <a:xfrm>
            <a:off x="338328" y="3017520"/>
            <a:ext cx="1243584" cy="286024"/>
          </a:xfrm>
          <a:prstGeom prst="rect">
            <a:avLst/>
          </a:prstGeom>
          <a:noFill/>
          <a:ln/>
        </p:spPr>
        <p:txBody>
          <a:bodyPr wrap="square" lIns="0" tIns="0" rIns="0" bIns="0" rtlCol="0" anchor="ctr"/>
          <a:lstStyle/>
          <a:p>
            <a:pPr algn="ctr" indent="0" marL="0">
              <a:buNone/>
            </a:pPr>
            <a:r>
              <a:rPr lang="en-US" sz="750" dirty="0">
                <a:solidFill>
                  <a:srgbClr val="BFDBFE"/>
                </a:solidFill>
              </a:rPr>
              <a:t>LLM client</a:t>
            </a:r>
            <a:endParaRPr lang="en-US" sz="750" dirty="0"/>
          </a:p>
        </p:txBody>
      </p:sp>
      <p:sp>
        <p:nvSpPr>
          <p:cNvPr id="33" name="Shape 31"/>
          <p:cNvSpPr/>
          <p:nvPr/>
        </p:nvSpPr>
        <p:spPr>
          <a:xfrm>
            <a:off x="1737360" y="2706624"/>
            <a:ext cx="1335024" cy="621792"/>
          </a:xfrm>
          <a:prstGeom prst="roundRect">
            <a:avLst>
              <a:gd name="adj" fmla="val 10294"/>
            </a:avLst>
          </a:prstGeom>
          <a:solidFill>
            <a:srgbClr val="0E4C8A"/>
          </a:solidFill>
          <a:ln w="12700">
            <a:solidFill>
              <a:srgbClr val="0E4C8A"/>
            </a:solidFill>
            <a:prstDash val="solid"/>
          </a:ln>
        </p:spPr>
      </p:sp>
      <p:sp>
        <p:nvSpPr>
          <p:cNvPr id="34" name="Text 32"/>
          <p:cNvSpPr/>
          <p:nvPr/>
        </p:nvSpPr>
        <p:spPr>
          <a:xfrm>
            <a:off x="1783080" y="2752344"/>
            <a:ext cx="1243584" cy="298460"/>
          </a:xfrm>
          <a:prstGeom prst="rect">
            <a:avLst/>
          </a:prstGeom>
          <a:noFill/>
          <a:ln/>
        </p:spPr>
        <p:txBody>
          <a:bodyPr wrap="square" lIns="0" tIns="0" rIns="0" bIns="0" rtlCol="0" anchor="ctr"/>
          <a:lstStyle/>
          <a:p>
            <a:pPr algn="ctr" indent="0" marL="0">
              <a:buNone/>
            </a:pPr>
            <a:r>
              <a:rPr lang="en-US" sz="900" b="1" dirty="0">
                <a:solidFill>
                  <a:srgbClr val="FFFFFF"/>
                </a:solidFill>
              </a:rPr>
              <a:t>prompts.py</a:t>
            </a:r>
            <a:endParaRPr lang="en-US" sz="900" dirty="0"/>
          </a:p>
        </p:txBody>
      </p:sp>
      <p:sp>
        <p:nvSpPr>
          <p:cNvPr id="35" name="Text 33"/>
          <p:cNvSpPr/>
          <p:nvPr/>
        </p:nvSpPr>
        <p:spPr>
          <a:xfrm>
            <a:off x="1783080" y="3017520"/>
            <a:ext cx="1243584" cy="286024"/>
          </a:xfrm>
          <a:prstGeom prst="rect">
            <a:avLst/>
          </a:prstGeom>
          <a:noFill/>
          <a:ln/>
        </p:spPr>
        <p:txBody>
          <a:bodyPr wrap="square" lIns="0" tIns="0" rIns="0" bIns="0" rtlCol="0" anchor="ctr"/>
          <a:lstStyle/>
          <a:p>
            <a:pPr algn="ctr" indent="0" marL="0">
              <a:buNone/>
            </a:pPr>
            <a:r>
              <a:rPr lang="en-US" sz="750" dirty="0">
                <a:solidFill>
                  <a:srgbClr val="BFDBFE"/>
                </a:solidFill>
              </a:rPr>
              <a:t>system_prompts/</a:t>
            </a:r>
            <a:endParaRPr lang="en-US" sz="750" dirty="0"/>
          </a:p>
          <a:p>
            <a:pPr algn="ctr" indent="0" marL="0">
              <a:buNone/>
            </a:pPr>
            <a:r>
              <a:rPr lang="en-US" sz="750" dirty="0">
                <a:solidFill>
                  <a:srgbClr val="BFDBFE"/>
                </a:solidFill>
              </a:rPr>
              <a:t>dynamic load</a:t>
            </a:r>
            <a:endParaRPr lang="en-US" sz="750" dirty="0"/>
          </a:p>
        </p:txBody>
      </p:sp>
      <p:sp>
        <p:nvSpPr>
          <p:cNvPr id="36" name="Shape 34"/>
          <p:cNvSpPr/>
          <p:nvPr/>
        </p:nvSpPr>
        <p:spPr>
          <a:xfrm>
            <a:off x="3182112" y="2706624"/>
            <a:ext cx="1335024" cy="621792"/>
          </a:xfrm>
          <a:prstGeom prst="roundRect">
            <a:avLst>
              <a:gd name="adj" fmla="val 10294"/>
            </a:avLst>
          </a:prstGeom>
          <a:solidFill>
            <a:srgbClr val="0E4C8A"/>
          </a:solidFill>
          <a:ln w="12700">
            <a:solidFill>
              <a:srgbClr val="0E4C8A"/>
            </a:solidFill>
            <a:prstDash val="solid"/>
          </a:ln>
        </p:spPr>
      </p:sp>
      <p:sp>
        <p:nvSpPr>
          <p:cNvPr id="37" name="Text 35"/>
          <p:cNvSpPr/>
          <p:nvPr/>
        </p:nvSpPr>
        <p:spPr>
          <a:xfrm>
            <a:off x="3227832" y="2752344"/>
            <a:ext cx="1243584" cy="298460"/>
          </a:xfrm>
          <a:prstGeom prst="rect">
            <a:avLst/>
          </a:prstGeom>
          <a:noFill/>
          <a:ln/>
        </p:spPr>
        <p:txBody>
          <a:bodyPr wrap="square" lIns="0" tIns="0" rIns="0" bIns="0" rtlCol="0" anchor="ctr"/>
          <a:lstStyle/>
          <a:p>
            <a:pPr algn="ctr" indent="0" marL="0">
              <a:buNone/>
            </a:pPr>
            <a:r>
              <a:rPr lang="en-US" sz="900" b="1" dirty="0">
                <a:solidFill>
                  <a:srgbClr val="FFFFFF"/>
                </a:solidFill>
              </a:rPr>
              <a:t>security.py</a:t>
            </a:r>
            <a:endParaRPr lang="en-US" sz="900" dirty="0"/>
          </a:p>
        </p:txBody>
      </p:sp>
      <p:sp>
        <p:nvSpPr>
          <p:cNvPr id="38" name="Text 36"/>
          <p:cNvSpPr/>
          <p:nvPr/>
        </p:nvSpPr>
        <p:spPr>
          <a:xfrm>
            <a:off x="3227832" y="3017520"/>
            <a:ext cx="1243584" cy="286024"/>
          </a:xfrm>
          <a:prstGeom prst="rect">
            <a:avLst/>
          </a:prstGeom>
          <a:noFill/>
          <a:ln/>
        </p:spPr>
        <p:txBody>
          <a:bodyPr wrap="square" lIns="0" tIns="0" rIns="0" bIns="0" rtlCol="0" anchor="ctr"/>
          <a:lstStyle/>
          <a:p>
            <a:pPr algn="ctr" indent="0" marL="0">
              <a:buNone/>
            </a:pPr>
            <a:r>
              <a:rPr lang="en-US" sz="750" dirty="0">
                <a:solidFill>
                  <a:srgbClr val="BFDBFE"/>
                </a:solidFill>
              </a:rPr>
              <a:t>JWT sign &amp; verify</a:t>
            </a:r>
            <a:endParaRPr lang="en-US" sz="750" dirty="0"/>
          </a:p>
        </p:txBody>
      </p:sp>
      <p:sp>
        <p:nvSpPr>
          <p:cNvPr id="39" name="Shape 37"/>
          <p:cNvSpPr/>
          <p:nvPr/>
        </p:nvSpPr>
        <p:spPr>
          <a:xfrm>
            <a:off x="4626864" y="2706624"/>
            <a:ext cx="1335024" cy="621792"/>
          </a:xfrm>
          <a:prstGeom prst="roundRect">
            <a:avLst>
              <a:gd name="adj" fmla="val 10294"/>
            </a:avLst>
          </a:prstGeom>
          <a:solidFill>
            <a:srgbClr val="134E4A"/>
          </a:solidFill>
          <a:ln w="12700">
            <a:solidFill>
              <a:srgbClr val="134E4A"/>
            </a:solidFill>
            <a:prstDash val="solid"/>
          </a:ln>
        </p:spPr>
      </p:sp>
      <p:sp>
        <p:nvSpPr>
          <p:cNvPr id="40" name="Text 38"/>
          <p:cNvSpPr/>
          <p:nvPr/>
        </p:nvSpPr>
        <p:spPr>
          <a:xfrm>
            <a:off x="4672584" y="2752344"/>
            <a:ext cx="1243584" cy="298460"/>
          </a:xfrm>
          <a:prstGeom prst="rect">
            <a:avLst/>
          </a:prstGeom>
          <a:noFill/>
          <a:ln/>
        </p:spPr>
        <p:txBody>
          <a:bodyPr wrap="square" lIns="0" tIns="0" rIns="0" bIns="0" rtlCol="0" anchor="ctr"/>
          <a:lstStyle/>
          <a:p>
            <a:pPr algn="ctr" indent="0" marL="0">
              <a:buNone/>
            </a:pPr>
            <a:r>
              <a:rPr lang="en-US" sz="900" b="1" dirty="0">
                <a:solidFill>
                  <a:srgbClr val="FFFFFF"/>
                </a:solidFill>
              </a:rPr>
              <a:t>db/models</a:t>
            </a:r>
            <a:endParaRPr lang="en-US" sz="900" dirty="0"/>
          </a:p>
        </p:txBody>
      </p:sp>
      <p:sp>
        <p:nvSpPr>
          <p:cNvPr id="41" name="Text 39"/>
          <p:cNvSpPr/>
          <p:nvPr/>
        </p:nvSpPr>
        <p:spPr>
          <a:xfrm>
            <a:off x="4672584" y="3017520"/>
            <a:ext cx="1243584" cy="286024"/>
          </a:xfrm>
          <a:prstGeom prst="rect">
            <a:avLst/>
          </a:prstGeom>
          <a:noFill/>
          <a:ln/>
        </p:spPr>
        <p:txBody>
          <a:bodyPr wrap="square" lIns="0" tIns="0" rIns="0" bIns="0" rtlCol="0" anchor="ctr"/>
          <a:lstStyle/>
          <a:p>
            <a:pPr algn="ctr" indent="0" marL="0">
              <a:buNone/>
            </a:pPr>
            <a:r>
              <a:rPr lang="en-US" sz="750" dirty="0">
                <a:solidFill>
                  <a:srgbClr val="BFDBFE"/>
                </a:solidFill>
              </a:rPr>
              <a:t>User · Session</a:t>
            </a:r>
            <a:endParaRPr lang="en-US" sz="750" dirty="0"/>
          </a:p>
          <a:p>
            <a:pPr algn="ctr" indent="0" marL="0">
              <a:buNone/>
            </a:pPr>
            <a:r>
              <a:rPr lang="en-US" sz="750" dirty="0">
                <a:solidFill>
                  <a:srgbClr val="BFDBFE"/>
                </a:solidFill>
              </a:rPr>
              <a:t>Plan · Task · AuditLog</a:t>
            </a:r>
            <a:endParaRPr lang="en-US" sz="750" dirty="0"/>
          </a:p>
        </p:txBody>
      </p:sp>
      <p:sp>
        <p:nvSpPr>
          <p:cNvPr id="42" name="Shape 40"/>
          <p:cNvSpPr/>
          <p:nvPr/>
        </p:nvSpPr>
        <p:spPr>
          <a:xfrm>
            <a:off x="6071616" y="2706624"/>
            <a:ext cx="1335024" cy="621792"/>
          </a:xfrm>
          <a:prstGeom prst="roundRect">
            <a:avLst>
              <a:gd name="adj" fmla="val 10294"/>
            </a:avLst>
          </a:prstGeom>
          <a:solidFill>
            <a:srgbClr val="134E4A"/>
          </a:solidFill>
          <a:ln w="12700">
            <a:solidFill>
              <a:srgbClr val="134E4A"/>
            </a:solidFill>
            <a:prstDash val="solid"/>
          </a:ln>
        </p:spPr>
      </p:sp>
      <p:sp>
        <p:nvSpPr>
          <p:cNvPr id="43" name="Text 41"/>
          <p:cNvSpPr/>
          <p:nvPr/>
        </p:nvSpPr>
        <p:spPr>
          <a:xfrm>
            <a:off x="6117336" y="2752344"/>
            <a:ext cx="1243584" cy="298460"/>
          </a:xfrm>
          <a:prstGeom prst="rect">
            <a:avLst/>
          </a:prstGeom>
          <a:noFill/>
          <a:ln/>
        </p:spPr>
        <p:txBody>
          <a:bodyPr wrap="square" lIns="0" tIns="0" rIns="0" bIns="0" rtlCol="0" anchor="ctr"/>
          <a:lstStyle/>
          <a:p>
            <a:pPr algn="ctr" indent="0" marL="0">
              <a:buNone/>
            </a:pPr>
            <a:r>
              <a:rPr lang="en-US" sz="900" b="1" dirty="0">
                <a:solidFill>
                  <a:srgbClr val="FFFFFF"/>
                </a:solidFill>
              </a:rPr>
              <a:t>db/repos</a:t>
            </a:r>
            <a:endParaRPr lang="en-US" sz="900" dirty="0"/>
          </a:p>
        </p:txBody>
      </p:sp>
      <p:sp>
        <p:nvSpPr>
          <p:cNvPr id="44" name="Text 42"/>
          <p:cNvSpPr/>
          <p:nvPr/>
        </p:nvSpPr>
        <p:spPr>
          <a:xfrm>
            <a:off x="6117336" y="3017520"/>
            <a:ext cx="1243584" cy="286024"/>
          </a:xfrm>
          <a:prstGeom prst="rect">
            <a:avLst/>
          </a:prstGeom>
          <a:noFill/>
          <a:ln/>
        </p:spPr>
        <p:txBody>
          <a:bodyPr wrap="square" lIns="0" tIns="0" rIns="0" bIns="0" rtlCol="0" anchor="ctr"/>
          <a:lstStyle/>
          <a:p>
            <a:pPr algn="ctr" indent="0" marL="0">
              <a:buNone/>
            </a:pPr>
            <a:r>
              <a:rPr lang="en-US" sz="750" dirty="0">
                <a:solidFill>
                  <a:srgbClr val="BFDBFE"/>
                </a:solidFill>
              </a:rPr>
              <a:t>user · plan</a:t>
            </a:r>
            <a:endParaRPr lang="en-US" sz="750" dirty="0"/>
          </a:p>
          <a:p>
            <a:pPr algn="ctr" indent="0" marL="0">
              <a:buNone/>
            </a:pPr>
            <a:r>
              <a:rPr lang="en-US" sz="750" dirty="0">
                <a:solidFill>
                  <a:srgbClr val="BFDBFE"/>
                </a:solidFill>
              </a:rPr>
              <a:t>audit repos</a:t>
            </a:r>
            <a:endParaRPr lang="en-US" sz="750" dirty="0"/>
          </a:p>
        </p:txBody>
      </p:sp>
      <p:sp>
        <p:nvSpPr>
          <p:cNvPr id="45" name="Shape 43"/>
          <p:cNvSpPr/>
          <p:nvPr/>
        </p:nvSpPr>
        <p:spPr>
          <a:xfrm>
            <a:off x="7516368" y="2706624"/>
            <a:ext cx="1335024" cy="621792"/>
          </a:xfrm>
          <a:prstGeom prst="roundRect">
            <a:avLst>
              <a:gd name="adj" fmla="val 10294"/>
            </a:avLst>
          </a:prstGeom>
          <a:solidFill>
            <a:srgbClr val="1A3D5C"/>
          </a:solidFill>
          <a:ln w="12700">
            <a:solidFill>
              <a:srgbClr val="1A3D5C"/>
            </a:solidFill>
            <a:prstDash val="solid"/>
          </a:ln>
        </p:spPr>
      </p:sp>
      <p:sp>
        <p:nvSpPr>
          <p:cNvPr id="46" name="Text 44"/>
          <p:cNvSpPr/>
          <p:nvPr/>
        </p:nvSpPr>
        <p:spPr>
          <a:xfrm>
            <a:off x="7562088" y="2752344"/>
            <a:ext cx="1243584" cy="298460"/>
          </a:xfrm>
          <a:prstGeom prst="rect">
            <a:avLst/>
          </a:prstGeom>
          <a:noFill/>
          <a:ln/>
        </p:spPr>
        <p:txBody>
          <a:bodyPr wrap="square" lIns="0" tIns="0" rIns="0" bIns="0" rtlCol="0" anchor="ctr"/>
          <a:lstStyle/>
          <a:p>
            <a:pPr algn="ctr" indent="0" marL="0">
              <a:buNone/>
            </a:pPr>
            <a:r>
              <a:rPr lang="en-US" sz="900" b="1" dirty="0">
                <a:solidFill>
                  <a:srgbClr val="FFFFFF"/>
                </a:solidFill>
              </a:rPr>
              <a:t>cache / registry</a:t>
            </a:r>
            <a:endParaRPr lang="en-US" sz="900" dirty="0"/>
          </a:p>
        </p:txBody>
      </p:sp>
      <p:sp>
        <p:nvSpPr>
          <p:cNvPr id="47" name="Text 45"/>
          <p:cNvSpPr/>
          <p:nvPr/>
        </p:nvSpPr>
        <p:spPr>
          <a:xfrm>
            <a:off x="7562088" y="3017520"/>
            <a:ext cx="1243584" cy="286024"/>
          </a:xfrm>
          <a:prstGeom prst="rect">
            <a:avLst/>
          </a:prstGeom>
          <a:noFill/>
          <a:ln/>
        </p:spPr>
        <p:txBody>
          <a:bodyPr wrap="square" lIns="0" tIns="0" rIns="0" bIns="0" rtlCol="0" anchor="ctr"/>
          <a:lstStyle/>
          <a:p>
            <a:pPr algn="ctr" indent="0" marL="0">
              <a:buNone/>
            </a:pPr>
            <a:r>
              <a:rPr lang="en-US" sz="750" dirty="0">
                <a:solidFill>
                  <a:srgbClr val="BFDBFE"/>
                </a:solidFill>
              </a:rPr>
              <a:t>Redis</a:t>
            </a:r>
            <a:endParaRPr lang="en-US" sz="750" dirty="0"/>
          </a:p>
          <a:p>
            <a:pPr algn="ctr" indent="0" marL="0">
              <a:buNone/>
            </a:pPr>
            <a:r>
              <a:rPr lang="en-US" sz="750" dirty="0">
                <a:solidFill>
                  <a:srgbClr val="BFDBFE"/>
                </a:solidFill>
              </a:rPr>
              <a:t>MCPAltRegistry</a:t>
            </a:r>
            <a:endParaRPr lang="en-US" sz="750" dirty="0"/>
          </a:p>
        </p:txBody>
      </p:sp>
      <p:sp>
        <p:nvSpPr>
          <p:cNvPr id="48" name="Shape 46"/>
          <p:cNvSpPr/>
          <p:nvPr/>
        </p:nvSpPr>
        <p:spPr>
          <a:xfrm>
            <a:off x="4572000" y="3328416"/>
            <a:ext cx="0" cy="164592"/>
          </a:xfrm>
          <a:prstGeom prst="line">
            <a:avLst/>
          </a:prstGeom>
          <a:noFill/>
          <a:ln w="12700">
            <a:solidFill>
              <a:srgbClr val="06B6D4"/>
            </a:solidFill>
            <a:prstDash val="sysDash"/>
          </a:ln>
        </p:spPr>
      </p:sp>
      <p:sp>
        <p:nvSpPr>
          <p:cNvPr id="49" name="Text 47"/>
          <p:cNvSpPr/>
          <p:nvPr/>
        </p:nvSpPr>
        <p:spPr>
          <a:xfrm>
            <a:off x="292608" y="3493008"/>
            <a:ext cx="3657600" cy="164592"/>
          </a:xfrm>
          <a:prstGeom prst="rect">
            <a:avLst/>
          </a:prstGeom>
          <a:noFill/>
          <a:ln/>
        </p:spPr>
        <p:txBody>
          <a:bodyPr wrap="square" rtlCol="0" anchor="ctr"/>
          <a:lstStyle/>
          <a:p>
            <a:pPr indent="0" marL="0">
              <a:buNone/>
            </a:pPr>
            <a:r>
              <a:rPr lang="en-US" sz="800" b="1" dirty="0">
                <a:solidFill>
                  <a:srgbClr val="06B6D4"/>
                </a:solidFill>
              </a:rPr>
              <a:t>agents/  ·  mcp_alt/</a:t>
            </a:r>
            <a:endParaRPr lang="en-US" sz="800" dirty="0"/>
          </a:p>
        </p:txBody>
      </p:sp>
      <p:sp>
        <p:nvSpPr>
          <p:cNvPr id="50" name="Shape 48"/>
          <p:cNvSpPr/>
          <p:nvPr/>
        </p:nvSpPr>
        <p:spPr>
          <a:xfrm>
            <a:off x="292608" y="3657600"/>
            <a:ext cx="1335024" cy="621792"/>
          </a:xfrm>
          <a:prstGeom prst="roundRect">
            <a:avLst>
              <a:gd name="adj" fmla="val 10294"/>
            </a:avLst>
          </a:prstGeom>
          <a:solidFill>
            <a:srgbClr val="4A1878"/>
          </a:solidFill>
          <a:ln w="12700">
            <a:solidFill>
              <a:srgbClr val="4A1878"/>
            </a:solidFill>
            <a:prstDash val="solid"/>
          </a:ln>
        </p:spPr>
      </p:sp>
      <p:sp>
        <p:nvSpPr>
          <p:cNvPr id="51" name="Text 49"/>
          <p:cNvSpPr/>
          <p:nvPr/>
        </p:nvSpPr>
        <p:spPr>
          <a:xfrm>
            <a:off x="338328" y="3703320"/>
            <a:ext cx="1243584" cy="298460"/>
          </a:xfrm>
          <a:prstGeom prst="rect">
            <a:avLst/>
          </a:prstGeom>
          <a:noFill/>
          <a:ln/>
        </p:spPr>
        <p:txBody>
          <a:bodyPr wrap="square" lIns="0" tIns="0" rIns="0" bIns="0" rtlCol="0" anchor="ctr"/>
          <a:lstStyle/>
          <a:p>
            <a:pPr algn="ctr" indent="0" marL="0">
              <a:buNone/>
            </a:pPr>
            <a:r>
              <a:rPr lang="en-US" sz="900" b="1" dirty="0">
                <a:solidFill>
                  <a:srgbClr val="FFFFFF"/>
                </a:solidFill>
              </a:rPr>
              <a:t>intent_agent.py</a:t>
            </a:r>
            <a:endParaRPr lang="en-US" sz="900" dirty="0"/>
          </a:p>
        </p:txBody>
      </p:sp>
      <p:sp>
        <p:nvSpPr>
          <p:cNvPr id="52" name="Text 50"/>
          <p:cNvSpPr/>
          <p:nvPr/>
        </p:nvSpPr>
        <p:spPr>
          <a:xfrm>
            <a:off x="338328" y="3968496"/>
            <a:ext cx="1243584" cy="286024"/>
          </a:xfrm>
          <a:prstGeom prst="rect">
            <a:avLst/>
          </a:prstGeom>
          <a:noFill/>
          <a:ln/>
        </p:spPr>
        <p:txBody>
          <a:bodyPr wrap="square" lIns="0" tIns="0" rIns="0" bIns="0" rtlCol="0" anchor="ctr"/>
          <a:lstStyle/>
          <a:p>
            <a:pPr algn="ctr" indent="0" marL="0">
              <a:buNone/>
            </a:pPr>
            <a:r>
              <a:rPr lang="en-US" sz="750" dirty="0">
                <a:solidFill>
                  <a:srgbClr val="BFDBFE"/>
                </a:solidFill>
              </a:rPr>
              <a:t>Classify → validated_intent</a:t>
            </a:r>
            <a:endParaRPr lang="en-US" sz="750" dirty="0"/>
          </a:p>
        </p:txBody>
      </p:sp>
      <p:sp>
        <p:nvSpPr>
          <p:cNvPr id="53" name="Shape 51"/>
          <p:cNvSpPr/>
          <p:nvPr/>
        </p:nvSpPr>
        <p:spPr>
          <a:xfrm>
            <a:off x="1737360" y="3657600"/>
            <a:ext cx="1335024" cy="621792"/>
          </a:xfrm>
          <a:prstGeom prst="roundRect">
            <a:avLst>
              <a:gd name="adj" fmla="val 10294"/>
            </a:avLst>
          </a:prstGeom>
          <a:solidFill>
            <a:srgbClr val="4A1878"/>
          </a:solidFill>
          <a:ln w="12700">
            <a:solidFill>
              <a:srgbClr val="4A1878"/>
            </a:solidFill>
            <a:prstDash val="solid"/>
          </a:ln>
        </p:spPr>
      </p:sp>
      <p:sp>
        <p:nvSpPr>
          <p:cNvPr id="54" name="Text 52"/>
          <p:cNvSpPr/>
          <p:nvPr/>
        </p:nvSpPr>
        <p:spPr>
          <a:xfrm>
            <a:off x="1783080" y="3703320"/>
            <a:ext cx="1243584" cy="298460"/>
          </a:xfrm>
          <a:prstGeom prst="rect">
            <a:avLst/>
          </a:prstGeom>
          <a:noFill/>
          <a:ln/>
        </p:spPr>
        <p:txBody>
          <a:bodyPr wrap="square" lIns="0" tIns="0" rIns="0" bIns="0" rtlCol="0" anchor="ctr"/>
          <a:lstStyle/>
          <a:p>
            <a:pPr algn="ctr" indent="0" marL="0">
              <a:buNone/>
            </a:pPr>
            <a:r>
              <a:rPr lang="en-US" sz="900" b="1" dirty="0">
                <a:solidFill>
                  <a:srgbClr val="FFFFFF"/>
                </a:solidFill>
              </a:rPr>
              <a:t>task_planner.py</a:t>
            </a:r>
            <a:endParaRPr lang="en-US" sz="900" dirty="0"/>
          </a:p>
        </p:txBody>
      </p:sp>
      <p:sp>
        <p:nvSpPr>
          <p:cNvPr id="55" name="Text 53"/>
          <p:cNvSpPr/>
          <p:nvPr/>
        </p:nvSpPr>
        <p:spPr>
          <a:xfrm>
            <a:off x="1783080" y="3968496"/>
            <a:ext cx="1243584" cy="286024"/>
          </a:xfrm>
          <a:prstGeom prst="rect">
            <a:avLst/>
          </a:prstGeom>
          <a:noFill/>
          <a:ln/>
        </p:spPr>
        <p:txBody>
          <a:bodyPr wrap="square" lIns="0" tIns="0" rIns="0" bIns="0" rtlCol="0" anchor="ctr"/>
          <a:lstStyle/>
          <a:p>
            <a:pPr algn="ctr" indent="0" marL="0">
              <a:buNone/>
            </a:pPr>
            <a:r>
              <a:rPr lang="en-US" sz="750" dirty="0">
                <a:solidFill>
                  <a:srgbClr val="BFDBFE"/>
                </a:solidFill>
              </a:rPr>
              <a:t>LLM → JSON task list</a:t>
            </a:r>
            <a:endParaRPr lang="en-US" sz="750" dirty="0"/>
          </a:p>
        </p:txBody>
      </p:sp>
      <p:sp>
        <p:nvSpPr>
          <p:cNvPr id="56" name="Shape 54"/>
          <p:cNvSpPr/>
          <p:nvPr/>
        </p:nvSpPr>
        <p:spPr>
          <a:xfrm>
            <a:off x="3182112" y="3657600"/>
            <a:ext cx="1335024" cy="621792"/>
          </a:xfrm>
          <a:prstGeom prst="roundRect">
            <a:avLst>
              <a:gd name="adj" fmla="val 10294"/>
            </a:avLst>
          </a:prstGeom>
          <a:solidFill>
            <a:srgbClr val="4A1878"/>
          </a:solidFill>
          <a:ln w="12700">
            <a:solidFill>
              <a:srgbClr val="4A1878"/>
            </a:solidFill>
            <a:prstDash val="solid"/>
          </a:ln>
        </p:spPr>
      </p:sp>
      <p:sp>
        <p:nvSpPr>
          <p:cNvPr id="57" name="Text 55"/>
          <p:cNvSpPr/>
          <p:nvPr/>
        </p:nvSpPr>
        <p:spPr>
          <a:xfrm>
            <a:off x="3227832" y="3703320"/>
            <a:ext cx="1243584" cy="298460"/>
          </a:xfrm>
          <a:prstGeom prst="rect">
            <a:avLst/>
          </a:prstGeom>
          <a:noFill/>
          <a:ln/>
        </p:spPr>
        <p:txBody>
          <a:bodyPr wrap="square" lIns="0" tIns="0" rIns="0" bIns="0" rtlCol="0" anchor="ctr"/>
          <a:lstStyle/>
          <a:p>
            <a:pPr algn="ctr" indent="0" marL="0">
              <a:buNone/>
            </a:pPr>
            <a:r>
              <a:rPr lang="en-US" sz="900" b="1" dirty="0">
                <a:solidFill>
                  <a:srgbClr val="FFFFFF"/>
                </a:solidFill>
              </a:rPr>
              <a:t>action_agent.py</a:t>
            </a:r>
            <a:endParaRPr lang="en-US" sz="900" dirty="0"/>
          </a:p>
        </p:txBody>
      </p:sp>
      <p:sp>
        <p:nvSpPr>
          <p:cNvPr id="58" name="Text 56"/>
          <p:cNvSpPr/>
          <p:nvPr/>
        </p:nvSpPr>
        <p:spPr>
          <a:xfrm>
            <a:off x="3227832" y="3968496"/>
            <a:ext cx="1243584" cy="286024"/>
          </a:xfrm>
          <a:prstGeom prst="rect">
            <a:avLst/>
          </a:prstGeom>
          <a:noFill/>
          <a:ln/>
        </p:spPr>
        <p:txBody>
          <a:bodyPr wrap="square" lIns="0" tIns="0" rIns="0" bIns="0" rtlCol="0" anchor="ctr"/>
          <a:lstStyle/>
          <a:p>
            <a:pPr algn="ctr" indent="0" marL="0">
              <a:buNone/>
            </a:pPr>
            <a:r>
              <a:rPr lang="en-US" sz="750" dirty="0">
                <a:solidFill>
                  <a:srgbClr val="BFDBFE"/>
                </a:solidFill>
              </a:rPr>
              <a:t>MCP exec + jsonschema</a:t>
            </a:r>
            <a:endParaRPr lang="en-US" sz="750" dirty="0"/>
          </a:p>
        </p:txBody>
      </p:sp>
      <p:sp>
        <p:nvSpPr>
          <p:cNvPr id="59" name="Shape 57"/>
          <p:cNvSpPr/>
          <p:nvPr/>
        </p:nvSpPr>
        <p:spPr>
          <a:xfrm>
            <a:off x="4626864" y="3657600"/>
            <a:ext cx="1335024" cy="621792"/>
          </a:xfrm>
          <a:prstGeom prst="roundRect">
            <a:avLst>
              <a:gd name="adj" fmla="val 10294"/>
            </a:avLst>
          </a:prstGeom>
          <a:solidFill>
            <a:srgbClr val="4A1878"/>
          </a:solidFill>
          <a:ln w="12700">
            <a:solidFill>
              <a:srgbClr val="4A1878"/>
            </a:solidFill>
            <a:prstDash val="solid"/>
          </a:ln>
        </p:spPr>
      </p:sp>
      <p:sp>
        <p:nvSpPr>
          <p:cNvPr id="60" name="Text 58"/>
          <p:cNvSpPr/>
          <p:nvPr/>
        </p:nvSpPr>
        <p:spPr>
          <a:xfrm>
            <a:off x="4672584" y="3703320"/>
            <a:ext cx="1243584" cy="298460"/>
          </a:xfrm>
          <a:prstGeom prst="rect">
            <a:avLst/>
          </a:prstGeom>
          <a:noFill/>
          <a:ln/>
        </p:spPr>
        <p:txBody>
          <a:bodyPr wrap="square" lIns="0" tIns="0" rIns="0" bIns="0" rtlCol="0" anchor="ctr"/>
          <a:lstStyle/>
          <a:p>
            <a:pPr algn="ctr" indent="0" marL="0">
              <a:buNone/>
            </a:pPr>
            <a:r>
              <a:rPr lang="en-US" sz="900" b="1" dirty="0">
                <a:solidFill>
                  <a:srgbClr val="FFFFFF"/>
                </a:solidFill>
              </a:rPr>
              <a:t>managerial_agent</a:t>
            </a:r>
            <a:endParaRPr lang="en-US" sz="900" dirty="0"/>
          </a:p>
        </p:txBody>
      </p:sp>
      <p:sp>
        <p:nvSpPr>
          <p:cNvPr id="61" name="Text 59"/>
          <p:cNvSpPr/>
          <p:nvPr/>
        </p:nvSpPr>
        <p:spPr>
          <a:xfrm>
            <a:off x="4672584" y="3968496"/>
            <a:ext cx="1243584" cy="286024"/>
          </a:xfrm>
          <a:prstGeom prst="rect">
            <a:avLst/>
          </a:prstGeom>
          <a:noFill/>
          <a:ln/>
        </p:spPr>
        <p:txBody>
          <a:bodyPr wrap="square" lIns="0" tIns="0" rIns="0" bIns="0" rtlCol="0" anchor="ctr"/>
          <a:lstStyle/>
          <a:p>
            <a:pPr algn="ctr" indent="0" marL="0">
              <a:buNone/>
            </a:pPr>
            <a:r>
              <a:rPr lang="en-US" sz="750" dirty="0">
                <a:solidFill>
                  <a:srgbClr val="BFDBFE"/>
                </a:solidFill>
              </a:rPr>
              <a:t>LangGraph graph + routing</a:t>
            </a:r>
            <a:endParaRPr lang="en-US" sz="750" dirty="0"/>
          </a:p>
        </p:txBody>
      </p:sp>
      <p:sp>
        <p:nvSpPr>
          <p:cNvPr id="62" name="Shape 60"/>
          <p:cNvSpPr/>
          <p:nvPr/>
        </p:nvSpPr>
        <p:spPr>
          <a:xfrm>
            <a:off x="6071616" y="3657600"/>
            <a:ext cx="1335024" cy="621792"/>
          </a:xfrm>
          <a:prstGeom prst="roundRect">
            <a:avLst>
              <a:gd name="adj" fmla="val 10294"/>
            </a:avLst>
          </a:prstGeom>
          <a:solidFill>
            <a:srgbClr val="0C4A6E"/>
          </a:solidFill>
          <a:ln w="12700">
            <a:solidFill>
              <a:srgbClr val="0C4A6E"/>
            </a:solidFill>
            <a:prstDash val="solid"/>
          </a:ln>
        </p:spPr>
      </p:sp>
      <p:sp>
        <p:nvSpPr>
          <p:cNvPr id="63" name="Text 61"/>
          <p:cNvSpPr/>
          <p:nvPr/>
        </p:nvSpPr>
        <p:spPr>
          <a:xfrm>
            <a:off x="6117336" y="3703320"/>
            <a:ext cx="1243584" cy="298460"/>
          </a:xfrm>
          <a:prstGeom prst="rect">
            <a:avLst/>
          </a:prstGeom>
          <a:noFill/>
          <a:ln/>
        </p:spPr>
        <p:txBody>
          <a:bodyPr wrap="square" lIns="0" tIns="0" rIns="0" bIns="0" rtlCol="0" anchor="ctr"/>
          <a:lstStyle/>
          <a:p>
            <a:pPr algn="ctr" indent="0" marL="0">
              <a:buNone/>
            </a:pPr>
            <a:r>
              <a:rPr lang="en-US" sz="900" b="1" dirty="0">
                <a:solidFill>
                  <a:srgbClr val="FFFFFF"/>
                </a:solidFill>
              </a:rPr>
              <a:t>github/notion</a:t>
            </a:r>
            <a:endParaRPr lang="en-US" sz="900" dirty="0"/>
          </a:p>
          <a:p>
            <a:pPr algn="ctr" indent="0" marL="0">
              <a:buNone/>
            </a:pPr>
            <a:r>
              <a:rPr lang="en-US" sz="900" b="1" dirty="0">
                <a:solidFill>
                  <a:srgbClr val="FFFFFF"/>
                </a:solidFill>
              </a:rPr>
              <a:t>calendar/gmail</a:t>
            </a:r>
            <a:endParaRPr lang="en-US" sz="900" dirty="0"/>
          </a:p>
        </p:txBody>
      </p:sp>
      <p:sp>
        <p:nvSpPr>
          <p:cNvPr id="64" name="Text 62"/>
          <p:cNvSpPr/>
          <p:nvPr/>
        </p:nvSpPr>
        <p:spPr>
          <a:xfrm>
            <a:off x="6117336" y="3968496"/>
            <a:ext cx="1243584" cy="286024"/>
          </a:xfrm>
          <a:prstGeom prst="rect">
            <a:avLst/>
          </a:prstGeom>
          <a:noFill/>
          <a:ln/>
        </p:spPr>
        <p:txBody>
          <a:bodyPr wrap="square" lIns="0" tIns="0" rIns="0" bIns="0" rtlCol="0" anchor="ctr"/>
          <a:lstStyle/>
          <a:p>
            <a:pPr algn="ctr" indent="0" marL="0">
              <a:buNone/>
            </a:pPr>
            <a:r>
              <a:rPr lang="en-US" sz="750" dirty="0">
                <a:solidFill>
                  <a:srgbClr val="BFDBFE"/>
                </a:solidFill>
              </a:rPr>
              <a:t>FastMCP @server.tool</a:t>
            </a:r>
            <a:endParaRPr lang="en-US" sz="750" dirty="0"/>
          </a:p>
        </p:txBody>
      </p:sp>
      <p:sp>
        <p:nvSpPr>
          <p:cNvPr id="65" name="Shape 63"/>
          <p:cNvSpPr/>
          <p:nvPr/>
        </p:nvSpPr>
        <p:spPr>
          <a:xfrm>
            <a:off x="7516368" y="3657600"/>
            <a:ext cx="1335024" cy="621792"/>
          </a:xfrm>
          <a:prstGeom prst="roundRect">
            <a:avLst>
              <a:gd name="adj" fmla="val 10294"/>
            </a:avLst>
          </a:prstGeom>
          <a:solidFill>
            <a:srgbClr val="1A3D5C"/>
          </a:solidFill>
          <a:ln w="12700">
            <a:solidFill>
              <a:srgbClr val="1A3D5C"/>
            </a:solidFill>
            <a:prstDash val="solid"/>
          </a:ln>
        </p:spPr>
      </p:sp>
      <p:sp>
        <p:nvSpPr>
          <p:cNvPr id="66" name="Text 64"/>
          <p:cNvSpPr/>
          <p:nvPr/>
        </p:nvSpPr>
        <p:spPr>
          <a:xfrm>
            <a:off x="7562088" y="3703320"/>
            <a:ext cx="1243584" cy="298460"/>
          </a:xfrm>
          <a:prstGeom prst="rect">
            <a:avLst/>
          </a:prstGeom>
          <a:noFill/>
          <a:ln/>
        </p:spPr>
        <p:txBody>
          <a:bodyPr wrap="square" lIns="0" tIns="0" rIns="0" bIns="0" rtlCol="0" anchor="ctr"/>
          <a:lstStyle/>
          <a:p>
            <a:pPr algn="ctr" indent="0" marL="0">
              <a:buNone/>
            </a:pPr>
            <a:r>
              <a:rPr lang="en-US" sz="900" b="1" dirty="0">
                <a:solidFill>
                  <a:srgbClr val="FFFFFF"/>
                </a:solidFill>
              </a:rPr>
              <a:t>state.py</a:t>
            </a:r>
            <a:endParaRPr lang="en-US" sz="900" dirty="0"/>
          </a:p>
          <a:p>
            <a:pPr algn="ctr" indent="0" marL="0">
              <a:buNone/>
            </a:pPr>
            <a:r>
              <a:rPr lang="en-US" sz="900" b="1" dirty="0">
                <a:solidFill>
                  <a:srgbClr val="FFFFFF"/>
                </a:solidFill>
              </a:rPr>
              <a:t>registry.py</a:t>
            </a:r>
            <a:endParaRPr lang="en-US" sz="900" dirty="0"/>
          </a:p>
        </p:txBody>
      </p:sp>
      <p:sp>
        <p:nvSpPr>
          <p:cNvPr id="67" name="Text 65"/>
          <p:cNvSpPr/>
          <p:nvPr/>
        </p:nvSpPr>
        <p:spPr>
          <a:xfrm>
            <a:off x="7562088" y="3968496"/>
            <a:ext cx="1243584" cy="286024"/>
          </a:xfrm>
          <a:prstGeom prst="rect">
            <a:avLst/>
          </a:prstGeom>
          <a:noFill/>
          <a:ln/>
        </p:spPr>
        <p:txBody>
          <a:bodyPr wrap="square" lIns="0" tIns="0" rIns="0" bIns="0" rtlCol="0" anchor="ctr"/>
          <a:lstStyle/>
          <a:p>
            <a:pPr algn="ctr" indent="0" marL="0">
              <a:buNone/>
            </a:pPr>
            <a:r>
              <a:rPr lang="en-US" sz="750" dirty="0">
                <a:solidFill>
                  <a:srgbClr val="BFDBFE"/>
                </a:solidFill>
              </a:rPr>
              <a:t>AgentState</a:t>
            </a:r>
            <a:endParaRPr lang="en-US" sz="750" dirty="0"/>
          </a:p>
          <a:p>
            <a:pPr algn="ctr" indent="0" marL="0">
              <a:buNone/>
            </a:pPr>
            <a:r>
              <a:rPr lang="en-US" sz="750" dirty="0">
                <a:solidFill>
                  <a:srgbClr val="BFDBFE"/>
                </a:solidFill>
              </a:rPr>
              <a:t>MCPAltRegistry</a:t>
            </a:r>
            <a:endParaRPr lang="en-US" sz="750" dirty="0"/>
          </a:p>
        </p:txBody>
      </p:sp>
      <p:sp>
        <p:nvSpPr>
          <p:cNvPr id="68" name="Shape 66"/>
          <p:cNvSpPr/>
          <p:nvPr/>
        </p:nvSpPr>
        <p:spPr>
          <a:xfrm>
            <a:off x="292608" y="4425696"/>
            <a:ext cx="8558784" cy="530352"/>
          </a:xfrm>
          <a:prstGeom prst="rect">
            <a:avLst/>
          </a:prstGeom>
          <a:solidFill>
            <a:srgbClr val="0A1628"/>
          </a:solidFill>
          <a:ln w="6350">
            <a:solidFill>
              <a:srgbClr val="1A3A6E"/>
            </a:solidFill>
            <a:prstDash val="solid"/>
          </a:ln>
        </p:spPr>
      </p:sp>
      <p:sp>
        <p:nvSpPr>
          <p:cNvPr id="69" name="Text 67"/>
          <p:cNvSpPr/>
          <p:nvPr/>
        </p:nvSpPr>
        <p:spPr>
          <a:xfrm>
            <a:off x="457200" y="4462272"/>
            <a:ext cx="8321040" cy="457200"/>
          </a:xfrm>
          <a:prstGeom prst="rect">
            <a:avLst/>
          </a:prstGeom>
          <a:noFill/>
          <a:ln/>
        </p:spPr>
        <p:txBody>
          <a:bodyPr wrap="square" rtlCol="0" anchor="ctr"/>
          <a:lstStyle/>
          <a:p>
            <a:pPr algn="ctr" indent="0" marL="0">
              <a:buNone/>
            </a:pPr>
            <a:r>
              <a:rPr lang="en-US" sz="950" dirty="0">
                <a:solidFill>
                  <a:srgbClr val="9ECFFF"/>
                </a:solidFill>
              </a:rPr>
              <a:t>Python 3.11+  ·  uv for deps  ·  asyncpg + SQLAlchemy async  ·  Alembic migrations  ·  pytest unit / integration / e2e  ·  Pydantic Settings config</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11480" y="201168"/>
            <a:ext cx="1645920" cy="256032"/>
          </a:xfrm>
          <a:prstGeom prst="roundRect">
            <a:avLst>
              <a:gd name="adj" fmla="val 50000"/>
            </a:avLst>
          </a:prstGeom>
          <a:solidFill>
            <a:srgbClr val="1A56DB">
              <a:alpha val="15000"/>
            </a:srgbClr>
          </a:solidFill>
          <a:ln w="6350">
            <a:solidFill>
              <a:srgbClr val="1A56DB"/>
            </a:solidFill>
            <a:prstDash val="solid"/>
          </a:ln>
        </p:spPr>
      </p:sp>
      <p:sp>
        <p:nvSpPr>
          <p:cNvPr id="3" name="Text 1"/>
          <p:cNvSpPr/>
          <p:nvPr/>
        </p:nvSpPr>
        <p:spPr>
          <a:xfrm>
            <a:off x="411480" y="201168"/>
            <a:ext cx="1645920" cy="256032"/>
          </a:xfrm>
          <a:prstGeom prst="rect">
            <a:avLst/>
          </a:prstGeom>
          <a:noFill/>
          <a:ln/>
        </p:spPr>
        <p:txBody>
          <a:bodyPr wrap="square" lIns="0" tIns="0" rIns="0" bIns="0" rtlCol="0" anchor="ctr"/>
          <a:lstStyle/>
          <a:p>
            <a:pPr algn="ctr" indent="0" marL="0">
              <a:buNone/>
            </a:pPr>
            <a:r>
              <a:rPr lang="en-US" sz="900" b="1" dirty="0">
                <a:solidFill>
                  <a:srgbClr val="1A56DB"/>
                </a:solidFill>
              </a:rPr>
              <a:t>FRONTEND</a:t>
            </a:r>
            <a:endParaRPr lang="en-US" sz="900" dirty="0"/>
          </a:p>
        </p:txBody>
      </p:sp>
      <p:sp>
        <p:nvSpPr>
          <p:cNvPr id="4" name="Text 2"/>
          <p:cNvSpPr/>
          <p:nvPr/>
        </p:nvSpPr>
        <p:spPr>
          <a:xfrm>
            <a:off x="411480" y="475488"/>
            <a:ext cx="8321040" cy="548640"/>
          </a:xfrm>
          <a:prstGeom prst="rect">
            <a:avLst/>
          </a:prstGeom>
          <a:noFill/>
          <a:ln/>
        </p:spPr>
        <p:txBody>
          <a:bodyPr wrap="square" rtlCol="0" anchor="ctr"/>
          <a:lstStyle/>
          <a:p>
            <a:pPr indent="0" marL="0">
              <a:buNone/>
            </a:pPr>
            <a:r>
              <a:rPr lang="en-US" sz="3000" b="1" dirty="0">
                <a:solidFill>
                  <a:srgbClr val="1E293B"/>
                </a:solidFill>
              </a:rPr>
              <a:t>Frontend Architecture</a:t>
            </a:r>
            <a:endParaRPr lang="en-US" sz="3000" dirty="0"/>
          </a:p>
        </p:txBody>
      </p:sp>
      <p:sp>
        <p:nvSpPr>
          <p:cNvPr id="5" name="Text 3"/>
          <p:cNvSpPr/>
          <p:nvPr/>
        </p:nvSpPr>
        <p:spPr>
          <a:xfrm>
            <a:off x="411480" y="1133856"/>
            <a:ext cx="3931920" cy="201168"/>
          </a:xfrm>
          <a:prstGeom prst="rect">
            <a:avLst/>
          </a:prstGeom>
          <a:noFill/>
          <a:ln/>
        </p:spPr>
        <p:txBody>
          <a:bodyPr wrap="square" rtlCol="0" anchor="ctr"/>
          <a:lstStyle/>
          <a:p>
            <a:pPr indent="0" marL="0">
              <a:buNone/>
            </a:pPr>
            <a:r>
              <a:rPr lang="en-US" sz="850" b="1" spc="200" kern="0" dirty="0">
                <a:solidFill>
                  <a:srgbClr val="1A56DB"/>
                </a:solidFill>
              </a:rPr>
              <a:t>STACK</a:t>
            </a:r>
            <a:endParaRPr lang="en-US" sz="850" dirty="0"/>
          </a:p>
        </p:txBody>
      </p:sp>
      <p:sp>
        <p:nvSpPr>
          <p:cNvPr id="6" name="Shape 4"/>
          <p:cNvSpPr/>
          <p:nvPr/>
        </p:nvSpPr>
        <p:spPr>
          <a:xfrm>
            <a:off x="411480" y="1353312"/>
            <a:ext cx="73152" cy="292608"/>
          </a:xfrm>
          <a:prstGeom prst="roundRect">
            <a:avLst>
              <a:gd name="adj" fmla="val 50000"/>
            </a:avLst>
          </a:prstGeom>
          <a:solidFill>
            <a:srgbClr val="1A56DB"/>
          </a:solidFill>
          <a:ln w="12700">
            <a:solidFill>
              <a:srgbClr val="1A56DB"/>
            </a:solidFill>
            <a:prstDash val="solid"/>
          </a:ln>
        </p:spPr>
      </p:sp>
      <p:sp>
        <p:nvSpPr>
          <p:cNvPr id="7" name="Text 5"/>
          <p:cNvSpPr/>
          <p:nvPr/>
        </p:nvSpPr>
        <p:spPr>
          <a:xfrm>
            <a:off x="566928" y="1362456"/>
            <a:ext cx="1783080" cy="164592"/>
          </a:xfrm>
          <a:prstGeom prst="rect">
            <a:avLst/>
          </a:prstGeom>
          <a:noFill/>
          <a:ln/>
        </p:spPr>
        <p:txBody>
          <a:bodyPr wrap="square" rtlCol="0" anchor="ctr"/>
          <a:lstStyle/>
          <a:p>
            <a:pPr indent="0" marL="0">
              <a:buNone/>
            </a:pPr>
            <a:r>
              <a:rPr lang="en-US" sz="1050" b="1" dirty="0">
                <a:solidFill>
                  <a:srgbClr val="1E293B"/>
                </a:solidFill>
              </a:rPr>
              <a:t>Next.js 14.2</a:t>
            </a:r>
            <a:endParaRPr lang="en-US" sz="1050" dirty="0"/>
          </a:p>
        </p:txBody>
      </p:sp>
      <p:sp>
        <p:nvSpPr>
          <p:cNvPr id="8" name="Text 6"/>
          <p:cNvSpPr/>
          <p:nvPr/>
        </p:nvSpPr>
        <p:spPr>
          <a:xfrm>
            <a:off x="566928" y="1536192"/>
            <a:ext cx="3337560" cy="164592"/>
          </a:xfrm>
          <a:prstGeom prst="rect">
            <a:avLst/>
          </a:prstGeom>
          <a:noFill/>
          <a:ln/>
        </p:spPr>
        <p:txBody>
          <a:bodyPr wrap="square" rtlCol="0" anchor="ctr"/>
          <a:lstStyle/>
          <a:p>
            <a:pPr indent="0" marL="0">
              <a:buNone/>
            </a:pPr>
            <a:r>
              <a:rPr lang="en-US" sz="900" dirty="0">
                <a:solidFill>
                  <a:srgbClr val="94A3B8"/>
                </a:solidFill>
              </a:rPr>
              <a:t>App Router · static export in prod</a:t>
            </a:r>
            <a:endParaRPr lang="en-US" sz="900" dirty="0"/>
          </a:p>
        </p:txBody>
      </p:sp>
      <p:sp>
        <p:nvSpPr>
          <p:cNvPr id="9" name="Shape 7"/>
          <p:cNvSpPr/>
          <p:nvPr/>
        </p:nvSpPr>
        <p:spPr>
          <a:xfrm>
            <a:off x="411480" y="1755648"/>
            <a:ext cx="73152" cy="292608"/>
          </a:xfrm>
          <a:prstGeom prst="roundRect">
            <a:avLst>
              <a:gd name="adj" fmla="val 50000"/>
            </a:avLst>
          </a:prstGeom>
          <a:solidFill>
            <a:srgbClr val="0891B2"/>
          </a:solidFill>
          <a:ln w="12700">
            <a:solidFill>
              <a:srgbClr val="0891B2"/>
            </a:solidFill>
            <a:prstDash val="solid"/>
          </a:ln>
        </p:spPr>
      </p:sp>
      <p:sp>
        <p:nvSpPr>
          <p:cNvPr id="10" name="Text 8"/>
          <p:cNvSpPr/>
          <p:nvPr/>
        </p:nvSpPr>
        <p:spPr>
          <a:xfrm>
            <a:off x="566928" y="1764792"/>
            <a:ext cx="1783080" cy="164592"/>
          </a:xfrm>
          <a:prstGeom prst="rect">
            <a:avLst/>
          </a:prstGeom>
          <a:noFill/>
          <a:ln/>
        </p:spPr>
        <p:txBody>
          <a:bodyPr wrap="square" rtlCol="0" anchor="ctr"/>
          <a:lstStyle/>
          <a:p>
            <a:pPr indent="0" marL="0">
              <a:buNone/>
            </a:pPr>
            <a:r>
              <a:rPr lang="en-US" sz="1050" b="1" dirty="0">
                <a:solidFill>
                  <a:srgbClr val="1E293B"/>
                </a:solidFill>
              </a:rPr>
              <a:t>React 18</a:t>
            </a:r>
            <a:endParaRPr lang="en-US" sz="1050" dirty="0"/>
          </a:p>
        </p:txBody>
      </p:sp>
      <p:sp>
        <p:nvSpPr>
          <p:cNvPr id="11" name="Text 9"/>
          <p:cNvSpPr/>
          <p:nvPr/>
        </p:nvSpPr>
        <p:spPr>
          <a:xfrm>
            <a:off x="566928" y="1938528"/>
            <a:ext cx="3337560" cy="164592"/>
          </a:xfrm>
          <a:prstGeom prst="rect">
            <a:avLst/>
          </a:prstGeom>
          <a:noFill/>
          <a:ln/>
        </p:spPr>
        <p:txBody>
          <a:bodyPr wrap="square" rtlCol="0" anchor="ctr"/>
          <a:lstStyle/>
          <a:p>
            <a:pPr indent="0" marL="0">
              <a:buNone/>
            </a:pPr>
            <a:r>
              <a:rPr lang="en-US" sz="900" dirty="0">
                <a:solidFill>
                  <a:srgbClr val="94A3B8"/>
                </a:solidFill>
              </a:rPr>
              <a:t>Server + client components</a:t>
            </a:r>
            <a:endParaRPr lang="en-US" sz="900" dirty="0"/>
          </a:p>
        </p:txBody>
      </p:sp>
      <p:sp>
        <p:nvSpPr>
          <p:cNvPr id="12" name="Shape 10"/>
          <p:cNvSpPr/>
          <p:nvPr/>
        </p:nvSpPr>
        <p:spPr>
          <a:xfrm>
            <a:off x="411480" y="2157984"/>
            <a:ext cx="73152" cy="292608"/>
          </a:xfrm>
          <a:prstGeom prst="roundRect">
            <a:avLst>
              <a:gd name="adj" fmla="val 50000"/>
            </a:avLst>
          </a:prstGeom>
          <a:solidFill>
            <a:srgbClr val="0891B2"/>
          </a:solidFill>
          <a:ln w="12700">
            <a:solidFill>
              <a:srgbClr val="0891B2"/>
            </a:solidFill>
            <a:prstDash val="solid"/>
          </a:ln>
        </p:spPr>
      </p:sp>
      <p:sp>
        <p:nvSpPr>
          <p:cNvPr id="13" name="Text 11"/>
          <p:cNvSpPr/>
          <p:nvPr/>
        </p:nvSpPr>
        <p:spPr>
          <a:xfrm>
            <a:off x="566928" y="2167128"/>
            <a:ext cx="1783080" cy="164592"/>
          </a:xfrm>
          <a:prstGeom prst="rect">
            <a:avLst/>
          </a:prstGeom>
          <a:noFill/>
          <a:ln/>
        </p:spPr>
        <p:txBody>
          <a:bodyPr wrap="square" rtlCol="0" anchor="ctr"/>
          <a:lstStyle/>
          <a:p>
            <a:pPr indent="0" marL="0">
              <a:buNone/>
            </a:pPr>
            <a:r>
              <a:rPr lang="en-US" sz="1050" b="1" dirty="0">
                <a:solidFill>
                  <a:srgbClr val="1E293B"/>
                </a:solidFill>
              </a:rPr>
              <a:t>Tailwind CSS</a:t>
            </a:r>
            <a:endParaRPr lang="en-US" sz="1050" dirty="0"/>
          </a:p>
        </p:txBody>
      </p:sp>
      <p:sp>
        <p:nvSpPr>
          <p:cNvPr id="14" name="Text 12"/>
          <p:cNvSpPr/>
          <p:nvPr/>
        </p:nvSpPr>
        <p:spPr>
          <a:xfrm>
            <a:off x="566928" y="2340864"/>
            <a:ext cx="3337560" cy="164592"/>
          </a:xfrm>
          <a:prstGeom prst="rect">
            <a:avLst/>
          </a:prstGeom>
          <a:noFill/>
          <a:ln/>
        </p:spPr>
        <p:txBody>
          <a:bodyPr wrap="square" rtlCol="0" anchor="ctr"/>
          <a:lstStyle/>
          <a:p>
            <a:pPr indent="0" marL="0">
              <a:buNone/>
            </a:pPr>
            <a:r>
              <a:rPr lang="en-US" sz="900" dirty="0">
                <a:solidFill>
                  <a:srgbClr val="94A3B8"/>
                </a:solidFill>
              </a:rPr>
              <a:t>Utility-first styling</a:t>
            </a:r>
            <a:endParaRPr lang="en-US" sz="900" dirty="0"/>
          </a:p>
        </p:txBody>
      </p:sp>
      <p:sp>
        <p:nvSpPr>
          <p:cNvPr id="15" name="Shape 13"/>
          <p:cNvSpPr/>
          <p:nvPr/>
        </p:nvSpPr>
        <p:spPr>
          <a:xfrm>
            <a:off x="411480" y="2560320"/>
            <a:ext cx="73152" cy="292608"/>
          </a:xfrm>
          <a:prstGeom prst="roundRect">
            <a:avLst>
              <a:gd name="adj" fmla="val 50000"/>
            </a:avLst>
          </a:prstGeom>
          <a:solidFill>
            <a:srgbClr val="7C3AED"/>
          </a:solidFill>
          <a:ln w="12700">
            <a:solidFill>
              <a:srgbClr val="7C3AED"/>
            </a:solidFill>
            <a:prstDash val="solid"/>
          </a:ln>
        </p:spPr>
      </p:sp>
      <p:sp>
        <p:nvSpPr>
          <p:cNvPr id="16" name="Text 14"/>
          <p:cNvSpPr/>
          <p:nvPr/>
        </p:nvSpPr>
        <p:spPr>
          <a:xfrm>
            <a:off x="566928" y="2569464"/>
            <a:ext cx="1783080" cy="164592"/>
          </a:xfrm>
          <a:prstGeom prst="rect">
            <a:avLst/>
          </a:prstGeom>
          <a:noFill/>
          <a:ln/>
        </p:spPr>
        <p:txBody>
          <a:bodyPr wrap="square" rtlCol="0" anchor="ctr"/>
          <a:lstStyle/>
          <a:p>
            <a:pPr indent="0" marL="0">
              <a:buNone/>
            </a:pPr>
            <a:r>
              <a:rPr lang="en-US" sz="1050" b="1" dirty="0">
                <a:solidFill>
                  <a:srgbClr val="1E293B"/>
                </a:solidFill>
              </a:rPr>
              <a:t>Zustand</a:t>
            </a:r>
            <a:endParaRPr lang="en-US" sz="1050" dirty="0"/>
          </a:p>
        </p:txBody>
      </p:sp>
      <p:sp>
        <p:nvSpPr>
          <p:cNvPr id="17" name="Text 15"/>
          <p:cNvSpPr/>
          <p:nvPr/>
        </p:nvSpPr>
        <p:spPr>
          <a:xfrm>
            <a:off x="566928" y="2743200"/>
            <a:ext cx="3337560" cy="164592"/>
          </a:xfrm>
          <a:prstGeom prst="rect">
            <a:avLst/>
          </a:prstGeom>
          <a:noFill/>
          <a:ln/>
        </p:spPr>
        <p:txBody>
          <a:bodyPr wrap="square" rtlCol="0" anchor="ctr"/>
          <a:lstStyle/>
          <a:p>
            <a:pPr indent="0" marL="0">
              <a:buNone/>
            </a:pPr>
            <a:r>
              <a:rPr lang="en-US" sz="900" dirty="0">
                <a:solidFill>
                  <a:srgbClr val="94A3B8"/>
                </a:solidFill>
              </a:rPr>
              <a:t>Global client state</a:t>
            </a:r>
            <a:endParaRPr lang="en-US" sz="900" dirty="0"/>
          </a:p>
        </p:txBody>
      </p:sp>
      <p:sp>
        <p:nvSpPr>
          <p:cNvPr id="18" name="Shape 16"/>
          <p:cNvSpPr/>
          <p:nvPr/>
        </p:nvSpPr>
        <p:spPr>
          <a:xfrm>
            <a:off x="411480" y="2962656"/>
            <a:ext cx="73152" cy="292608"/>
          </a:xfrm>
          <a:prstGeom prst="roundRect">
            <a:avLst>
              <a:gd name="adj" fmla="val 50000"/>
            </a:avLst>
          </a:prstGeom>
          <a:solidFill>
            <a:srgbClr val="7C3AED"/>
          </a:solidFill>
          <a:ln w="12700">
            <a:solidFill>
              <a:srgbClr val="7C3AED"/>
            </a:solidFill>
            <a:prstDash val="solid"/>
          </a:ln>
        </p:spPr>
      </p:sp>
      <p:sp>
        <p:nvSpPr>
          <p:cNvPr id="19" name="Text 17"/>
          <p:cNvSpPr/>
          <p:nvPr/>
        </p:nvSpPr>
        <p:spPr>
          <a:xfrm>
            <a:off x="566928" y="2971800"/>
            <a:ext cx="1783080" cy="164592"/>
          </a:xfrm>
          <a:prstGeom prst="rect">
            <a:avLst/>
          </a:prstGeom>
          <a:noFill/>
          <a:ln/>
        </p:spPr>
        <p:txBody>
          <a:bodyPr wrap="square" rtlCol="0" anchor="ctr"/>
          <a:lstStyle/>
          <a:p>
            <a:pPr indent="0" marL="0">
              <a:buNone/>
            </a:pPr>
            <a:r>
              <a:rPr lang="en-US" sz="1050" b="1" dirty="0">
                <a:solidFill>
                  <a:srgbClr val="1E293B"/>
                </a:solidFill>
              </a:rPr>
              <a:t>sonner</a:t>
            </a:r>
            <a:endParaRPr lang="en-US" sz="1050" dirty="0"/>
          </a:p>
        </p:txBody>
      </p:sp>
      <p:sp>
        <p:nvSpPr>
          <p:cNvPr id="20" name="Text 18"/>
          <p:cNvSpPr/>
          <p:nvPr/>
        </p:nvSpPr>
        <p:spPr>
          <a:xfrm>
            <a:off x="566928" y="3145536"/>
            <a:ext cx="3337560" cy="164592"/>
          </a:xfrm>
          <a:prstGeom prst="rect">
            <a:avLst/>
          </a:prstGeom>
          <a:noFill/>
          <a:ln/>
        </p:spPr>
        <p:txBody>
          <a:bodyPr wrap="square" rtlCol="0" anchor="ctr"/>
          <a:lstStyle/>
          <a:p>
            <a:pPr indent="0" marL="0">
              <a:buNone/>
            </a:pPr>
            <a:r>
              <a:rPr lang="en-US" sz="900" dirty="0">
                <a:solidFill>
                  <a:srgbClr val="94A3B8"/>
                </a:solidFill>
              </a:rPr>
              <a:t>Toast notifications</a:t>
            </a:r>
            <a:endParaRPr lang="en-US" sz="900" dirty="0"/>
          </a:p>
        </p:txBody>
      </p:sp>
      <p:sp>
        <p:nvSpPr>
          <p:cNvPr id="21" name="Shape 19"/>
          <p:cNvSpPr/>
          <p:nvPr/>
        </p:nvSpPr>
        <p:spPr>
          <a:xfrm>
            <a:off x="411480" y="3364992"/>
            <a:ext cx="73152" cy="292608"/>
          </a:xfrm>
          <a:prstGeom prst="roundRect">
            <a:avLst>
              <a:gd name="adj" fmla="val 50000"/>
            </a:avLst>
          </a:prstGeom>
          <a:solidFill>
            <a:srgbClr val="DC2626"/>
          </a:solidFill>
          <a:ln w="12700">
            <a:solidFill>
              <a:srgbClr val="DC2626"/>
            </a:solidFill>
            <a:prstDash val="solid"/>
          </a:ln>
        </p:spPr>
      </p:sp>
      <p:sp>
        <p:nvSpPr>
          <p:cNvPr id="22" name="Text 20"/>
          <p:cNvSpPr/>
          <p:nvPr/>
        </p:nvSpPr>
        <p:spPr>
          <a:xfrm>
            <a:off x="566928" y="3374136"/>
            <a:ext cx="1783080" cy="164592"/>
          </a:xfrm>
          <a:prstGeom prst="rect">
            <a:avLst/>
          </a:prstGeom>
          <a:noFill/>
          <a:ln/>
        </p:spPr>
        <p:txBody>
          <a:bodyPr wrap="square" rtlCol="0" anchor="ctr"/>
          <a:lstStyle/>
          <a:p>
            <a:pPr indent="0" marL="0">
              <a:buNone/>
            </a:pPr>
            <a:r>
              <a:rPr lang="en-US" sz="1050" b="1" dirty="0">
                <a:solidFill>
                  <a:srgbClr val="1E293B"/>
                </a:solidFill>
              </a:rPr>
              <a:t>@react-oauth/google</a:t>
            </a:r>
            <a:endParaRPr lang="en-US" sz="1050" dirty="0"/>
          </a:p>
        </p:txBody>
      </p:sp>
      <p:sp>
        <p:nvSpPr>
          <p:cNvPr id="23" name="Text 21"/>
          <p:cNvSpPr/>
          <p:nvPr/>
        </p:nvSpPr>
        <p:spPr>
          <a:xfrm>
            <a:off x="566928" y="3547872"/>
            <a:ext cx="3337560" cy="164592"/>
          </a:xfrm>
          <a:prstGeom prst="rect">
            <a:avLst/>
          </a:prstGeom>
          <a:noFill/>
          <a:ln/>
        </p:spPr>
        <p:txBody>
          <a:bodyPr wrap="square" rtlCol="0" anchor="ctr"/>
          <a:lstStyle/>
          <a:p>
            <a:pPr indent="0" marL="0">
              <a:buNone/>
            </a:pPr>
            <a:r>
              <a:rPr lang="en-US" sz="900" dirty="0">
                <a:solidFill>
                  <a:srgbClr val="94A3B8"/>
                </a:solidFill>
              </a:rPr>
              <a:t>Google Sign-In</a:t>
            </a:r>
            <a:endParaRPr lang="en-US" sz="900" dirty="0"/>
          </a:p>
        </p:txBody>
      </p:sp>
      <p:sp>
        <p:nvSpPr>
          <p:cNvPr id="24" name="Shape 22"/>
          <p:cNvSpPr/>
          <p:nvPr/>
        </p:nvSpPr>
        <p:spPr>
          <a:xfrm>
            <a:off x="411480" y="3822192"/>
            <a:ext cx="3931920" cy="475488"/>
          </a:xfrm>
          <a:prstGeom prst="roundRect">
            <a:avLst>
              <a:gd name="adj" fmla="val 11538"/>
            </a:avLst>
          </a:prstGeom>
          <a:solidFill>
            <a:srgbClr val="EFF6FF"/>
          </a:solidFill>
          <a:ln w="6350">
            <a:solidFill>
              <a:srgbClr val="1A56DB"/>
            </a:solidFill>
            <a:prstDash val="solid"/>
          </a:ln>
        </p:spPr>
      </p:sp>
      <p:sp>
        <p:nvSpPr>
          <p:cNvPr id="25" name="Text 23"/>
          <p:cNvSpPr/>
          <p:nvPr/>
        </p:nvSpPr>
        <p:spPr>
          <a:xfrm>
            <a:off x="566928" y="3858768"/>
            <a:ext cx="1645920" cy="182880"/>
          </a:xfrm>
          <a:prstGeom prst="rect">
            <a:avLst/>
          </a:prstGeom>
          <a:noFill/>
          <a:ln/>
        </p:spPr>
        <p:txBody>
          <a:bodyPr wrap="square" rtlCol="0" anchor="ctr"/>
          <a:lstStyle/>
          <a:p>
            <a:pPr indent="0" marL="0">
              <a:buNone/>
            </a:pPr>
            <a:r>
              <a:rPr lang="en-US" sz="950" b="1" dirty="0">
                <a:solidFill>
                  <a:srgbClr val="1A56DB"/>
                </a:solidFill>
              </a:rPr>
              <a:t>Production build</a:t>
            </a:r>
            <a:endParaRPr lang="en-US" sz="950" dirty="0"/>
          </a:p>
        </p:txBody>
      </p:sp>
      <p:sp>
        <p:nvSpPr>
          <p:cNvPr id="26" name="Text 24"/>
          <p:cNvSpPr/>
          <p:nvPr/>
        </p:nvSpPr>
        <p:spPr>
          <a:xfrm>
            <a:off x="566928" y="4023360"/>
            <a:ext cx="3611880" cy="237744"/>
          </a:xfrm>
          <a:prstGeom prst="rect">
            <a:avLst/>
          </a:prstGeom>
          <a:noFill/>
          <a:ln/>
        </p:spPr>
        <p:txBody>
          <a:bodyPr wrap="square" rtlCol="0" anchor="ctr"/>
          <a:lstStyle/>
          <a:p>
            <a:pPr indent="0" marL="0">
              <a:buNone/>
            </a:pPr>
            <a:r>
              <a:rPr lang="en-US" sz="850" dirty="0">
                <a:solidFill>
                  <a:srgbClr val="1E293B"/>
                </a:solidFill>
              </a:rPr>
              <a:t>STATIC_EXPORT=1 next build → frontend/out → copied into Docker image → served by FastAPI</a:t>
            </a:r>
            <a:endParaRPr lang="en-US" sz="850" dirty="0"/>
          </a:p>
        </p:txBody>
      </p:sp>
      <p:sp>
        <p:nvSpPr>
          <p:cNvPr id="27" name="Text 25"/>
          <p:cNvSpPr/>
          <p:nvPr/>
        </p:nvSpPr>
        <p:spPr>
          <a:xfrm>
            <a:off x="4572000" y="1133856"/>
            <a:ext cx="4160520" cy="201168"/>
          </a:xfrm>
          <a:prstGeom prst="rect">
            <a:avLst/>
          </a:prstGeom>
          <a:noFill/>
          <a:ln/>
        </p:spPr>
        <p:txBody>
          <a:bodyPr wrap="square" rtlCol="0" anchor="ctr"/>
          <a:lstStyle/>
          <a:p>
            <a:pPr indent="0" marL="0">
              <a:buNone/>
            </a:pPr>
            <a:r>
              <a:rPr lang="en-US" sz="850" b="1" spc="200" kern="0" dirty="0">
                <a:solidFill>
                  <a:srgbClr val="1A56DB"/>
                </a:solidFill>
              </a:rPr>
              <a:t>ROUTE MAP  ·  20 PAGES</a:t>
            </a:r>
            <a:endParaRPr lang="en-US" sz="850" dirty="0"/>
          </a:p>
        </p:txBody>
      </p:sp>
      <p:sp>
        <p:nvSpPr>
          <p:cNvPr id="28" name="Shape 26"/>
          <p:cNvSpPr/>
          <p:nvPr/>
        </p:nvSpPr>
        <p:spPr>
          <a:xfrm>
            <a:off x="4572000" y="1353312"/>
            <a:ext cx="4160520" cy="274320"/>
          </a:xfrm>
          <a:prstGeom prst="roundRect">
            <a:avLst>
              <a:gd name="adj" fmla="val 16667"/>
            </a:avLst>
          </a:prstGeom>
          <a:solidFill>
            <a:srgbClr val="DBEAFE"/>
          </a:solidFill>
          <a:ln w="6350">
            <a:solidFill>
              <a:srgbClr val="BFDBFE"/>
            </a:solidFill>
            <a:prstDash val="solid"/>
          </a:ln>
        </p:spPr>
      </p:sp>
      <p:sp>
        <p:nvSpPr>
          <p:cNvPr id="29" name="Text 27"/>
          <p:cNvSpPr/>
          <p:nvPr/>
        </p:nvSpPr>
        <p:spPr>
          <a:xfrm>
            <a:off x="4681728" y="1353312"/>
            <a:ext cx="3931920" cy="274320"/>
          </a:xfrm>
          <a:prstGeom prst="rect">
            <a:avLst/>
          </a:prstGeom>
          <a:noFill/>
          <a:ln/>
        </p:spPr>
        <p:txBody>
          <a:bodyPr wrap="square" rtlCol="0" anchor="ctr"/>
          <a:lstStyle/>
          <a:p>
            <a:pPr indent="0" marL="0">
              <a:buNone/>
            </a:pPr>
            <a:r>
              <a:rPr lang="en-US" sz="900" dirty="0">
                <a:solidFill>
                  <a:srgbClr val="1E40AF"/>
                </a:solidFill>
              </a:rPr>
              <a:t>PUBLIC  ·  /  /sign-in  /sign-up  /help  /about  /privacy  /terms</a:t>
            </a:r>
            <a:endParaRPr lang="en-US" sz="900" dirty="0"/>
          </a:p>
        </p:txBody>
      </p:sp>
      <p:sp>
        <p:nvSpPr>
          <p:cNvPr id="30" name="Shape 28"/>
          <p:cNvSpPr/>
          <p:nvPr/>
        </p:nvSpPr>
        <p:spPr>
          <a:xfrm>
            <a:off x="4572000" y="1719072"/>
            <a:ext cx="4160520" cy="301752"/>
          </a:xfrm>
          <a:prstGeom prst="rect">
            <a:avLst/>
          </a:prstGeom>
          <a:solidFill>
            <a:srgbClr val="F8FAFC"/>
          </a:solidFill>
          <a:ln w="3810">
            <a:solidFill>
              <a:srgbClr val="E2E8F0"/>
            </a:solidFill>
            <a:prstDash val="solid"/>
          </a:ln>
        </p:spPr>
      </p:sp>
      <p:sp>
        <p:nvSpPr>
          <p:cNvPr id="31" name="Text 29"/>
          <p:cNvSpPr/>
          <p:nvPr/>
        </p:nvSpPr>
        <p:spPr>
          <a:xfrm>
            <a:off x="4626864" y="1764792"/>
            <a:ext cx="1600200" cy="219456"/>
          </a:xfrm>
          <a:prstGeom prst="rect">
            <a:avLst/>
          </a:prstGeom>
          <a:noFill/>
          <a:ln/>
        </p:spPr>
        <p:txBody>
          <a:bodyPr wrap="square" rtlCol="0" anchor="ctr"/>
          <a:lstStyle/>
          <a:p>
            <a:pPr indent="0" marL="0">
              <a:buNone/>
            </a:pPr>
            <a:r>
              <a:rPr lang="en-US" sz="900" b="1" dirty="0">
                <a:solidFill>
                  <a:srgbClr val="1A56DB"/>
                </a:solidFill>
                <a:latin typeface="Consolas" pitchFamily="34" charset="0"/>
                <a:ea typeface="Consolas" pitchFamily="34" charset="-122"/>
                <a:cs typeface="Consolas" pitchFamily="34" charset="-120"/>
              </a:rPr>
              <a:t>/dashboard</a:t>
            </a:r>
            <a:endParaRPr lang="en-US" sz="900" dirty="0"/>
          </a:p>
        </p:txBody>
      </p:sp>
      <p:sp>
        <p:nvSpPr>
          <p:cNvPr id="32" name="Text 30"/>
          <p:cNvSpPr/>
          <p:nvPr/>
        </p:nvSpPr>
        <p:spPr>
          <a:xfrm>
            <a:off x="6254496" y="1764792"/>
            <a:ext cx="2423160" cy="219456"/>
          </a:xfrm>
          <a:prstGeom prst="rect">
            <a:avLst/>
          </a:prstGeom>
          <a:noFill/>
          <a:ln/>
        </p:spPr>
        <p:txBody>
          <a:bodyPr wrap="square" rtlCol="0" anchor="ctr"/>
          <a:lstStyle/>
          <a:p>
            <a:pPr indent="0" marL="0">
              <a:buNone/>
            </a:pPr>
            <a:r>
              <a:rPr lang="en-US" sz="850" dirty="0">
                <a:solidFill>
                  <a:srgbClr val="94A3B8"/>
                </a:solidFill>
              </a:rPr>
              <a:t>Stats, quick actions, recent plans, services</a:t>
            </a:r>
            <a:endParaRPr lang="en-US" sz="850" dirty="0"/>
          </a:p>
        </p:txBody>
      </p:sp>
      <p:sp>
        <p:nvSpPr>
          <p:cNvPr id="33" name="Shape 31"/>
          <p:cNvSpPr/>
          <p:nvPr/>
        </p:nvSpPr>
        <p:spPr>
          <a:xfrm>
            <a:off x="4572000" y="2020824"/>
            <a:ext cx="4160520" cy="301752"/>
          </a:xfrm>
          <a:prstGeom prst="rect">
            <a:avLst/>
          </a:prstGeom>
          <a:solidFill>
            <a:srgbClr val="FFFFFF"/>
          </a:solidFill>
          <a:ln w="3810">
            <a:solidFill>
              <a:srgbClr val="E2E8F0"/>
            </a:solidFill>
            <a:prstDash val="solid"/>
          </a:ln>
        </p:spPr>
      </p:sp>
      <p:sp>
        <p:nvSpPr>
          <p:cNvPr id="34" name="Text 32"/>
          <p:cNvSpPr/>
          <p:nvPr/>
        </p:nvSpPr>
        <p:spPr>
          <a:xfrm>
            <a:off x="4626864" y="2066544"/>
            <a:ext cx="1600200" cy="219456"/>
          </a:xfrm>
          <a:prstGeom prst="rect">
            <a:avLst/>
          </a:prstGeom>
          <a:noFill/>
          <a:ln/>
        </p:spPr>
        <p:txBody>
          <a:bodyPr wrap="square" rtlCol="0" anchor="ctr"/>
          <a:lstStyle/>
          <a:p>
            <a:pPr indent="0" marL="0">
              <a:buNone/>
            </a:pPr>
            <a:r>
              <a:rPr lang="en-US" sz="900" b="1" dirty="0">
                <a:solidFill>
                  <a:srgbClr val="1A56DB"/>
                </a:solidFill>
                <a:latin typeface="Consolas" pitchFamily="34" charset="0"/>
                <a:ea typeface="Consolas" pitchFamily="34" charset="-122"/>
                <a:cs typeface="Consolas" pitchFamily="34" charset="-120"/>
              </a:rPr>
              <a:t>/chat</a:t>
            </a:r>
            <a:endParaRPr lang="en-US" sz="900" dirty="0"/>
          </a:p>
        </p:txBody>
      </p:sp>
      <p:sp>
        <p:nvSpPr>
          <p:cNvPr id="35" name="Text 33"/>
          <p:cNvSpPr/>
          <p:nvPr/>
        </p:nvSpPr>
        <p:spPr>
          <a:xfrm>
            <a:off x="6254496" y="2066544"/>
            <a:ext cx="2423160" cy="219456"/>
          </a:xfrm>
          <a:prstGeom prst="rect">
            <a:avLst/>
          </a:prstGeom>
          <a:noFill/>
          <a:ln/>
        </p:spPr>
        <p:txBody>
          <a:bodyPr wrap="square" rtlCol="0" anchor="ctr"/>
          <a:lstStyle/>
          <a:p>
            <a:pPr indent="0" marL="0">
              <a:buNone/>
            </a:pPr>
            <a:r>
              <a:rPr lang="en-US" sz="850" dirty="0">
                <a:solidFill>
                  <a:srgbClr val="94A3B8"/>
                </a:solidFill>
              </a:rPr>
              <a:t>WebSocket streaming, markdown, suggestions</a:t>
            </a:r>
            <a:endParaRPr lang="en-US" sz="850" dirty="0"/>
          </a:p>
        </p:txBody>
      </p:sp>
      <p:sp>
        <p:nvSpPr>
          <p:cNvPr id="36" name="Shape 34"/>
          <p:cNvSpPr/>
          <p:nvPr/>
        </p:nvSpPr>
        <p:spPr>
          <a:xfrm>
            <a:off x="4572000" y="2322576"/>
            <a:ext cx="4160520" cy="301752"/>
          </a:xfrm>
          <a:prstGeom prst="rect">
            <a:avLst/>
          </a:prstGeom>
          <a:solidFill>
            <a:srgbClr val="F8FAFC"/>
          </a:solidFill>
          <a:ln w="3810">
            <a:solidFill>
              <a:srgbClr val="E2E8F0"/>
            </a:solidFill>
            <a:prstDash val="solid"/>
          </a:ln>
        </p:spPr>
      </p:sp>
      <p:sp>
        <p:nvSpPr>
          <p:cNvPr id="37" name="Text 35"/>
          <p:cNvSpPr/>
          <p:nvPr/>
        </p:nvSpPr>
        <p:spPr>
          <a:xfrm>
            <a:off x="4626864" y="2368296"/>
            <a:ext cx="1600200" cy="219456"/>
          </a:xfrm>
          <a:prstGeom prst="rect">
            <a:avLst/>
          </a:prstGeom>
          <a:noFill/>
          <a:ln/>
        </p:spPr>
        <p:txBody>
          <a:bodyPr wrap="square" rtlCol="0" anchor="ctr"/>
          <a:lstStyle/>
          <a:p>
            <a:pPr indent="0" marL="0">
              <a:buNone/>
            </a:pPr>
            <a:r>
              <a:rPr lang="en-US" sz="900" b="1" dirty="0">
                <a:solidFill>
                  <a:srgbClr val="1A56DB"/>
                </a:solidFill>
                <a:latin typeface="Consolas" pitchFamily="34" charset="0"/>
                <a:ea typeface="Consolas" pitchFamily="34" charset="-122"/>
                <a:cs typeface="Consolas" pitchFamily="34" charset="-120"/>
              </a:rPr>
              <a:t>/chat/history</a:t>
            </a:r>
            <a:endParaRPr lang="en-US" sz="900" dirty="0"/>
          </a:p>
        </p:txBody>
      </p:sp>
      <p:sp>
        <p:nvSpPr>
          <p:cNvPr id="38" name="Text 36"/>
          <p:cNvSpPr/>
          <p:nvPr/>
        </p:nvSpPr>
        <p:spPr>
          <a:xfrm>
            <a:off x="6254496" y="2368296"/>
            <a:ext cx="2423160" cy="219456"/>
          </a:xfrm>
          <a:prstGeom prst="rect">
            <a:avLst/>
          </a:prstGeom>
          <a:noFill/>
          <a:ln/>
        </p:spPr>
        <p:txBody>
          <a:bodyPr wrap="square" rtlCol="0" anchor="ctr"/>
          <a:lstStyle/>
          <a:p>
            <a:pPr indent="0" marL="0">
              <a:buNone/>
            </a:pPr>
            <a:r>
              <a:rPr lang="en-US" sz="850" dirty="0">
                <a:solidFill>
                  <a:srgbClr val="94A3B8"/>
                </a:solidFill>
              </a:rPr>
              <a:t>Past session list</a:t>
            </a:r>
            <a:endParaRPr lang="en-US" sz="850" dirty="0"/>
          </a:p>
        </p:txBody>
      </p:sp>
      <p:sp>
        <p:nvSpPr>
          <p:cNvPr id="39" name="Shape 37"/>
          <p:cNvSpPr/>
          <p:nvPr/>
        </p:nvSpPr>
        <p:spPr>
          <a:xfrm>
            <a:off x="4572000" y="2624328"/>
            <a:ext cx="4160520" cy="301752"/>
          </a:xfrm>
          <a:prstGeom prst="rect">
            <a:avLst/>
          </a:prstGeom>
          <a:solidFill>
            <a:srgbClr val="FFFFFF"/>
          </a:solidFill>
          <a:ln w="3810">
            <a:solidFill>
              <a:srgbClr val="E2E8F0"/>
            </a:solidFill>
            <a:prstDash val="solid"/>
          </a:ln>
        </p:spPr>
      </p:sp>
      <p:sp>
        <p:nvSpPr>
          <p:cNvPr id="40" name="Text 38"/>
          <p:cNvSpPr/>
          <p:nvPr/>
        </p:nvSpPr>
        <p:spPr>
          <a:xfrm>
            <a:off x="4626864" y="2670048"/>
            <a:ext cx="1600200" cy="219456"/>
          </a:xfrm>
          <a:prstGeom prst="rect">
            <a:avLst/>
          </a:prstGeom>
          <a:noFill/>
          <a:ln/>
        </p:spPr>
        <p:txBody>
          <a:bodyPr wrap="square" rtlCol="0" anchor="ctr"/>
          <a:lstStyle/>
          <a:p>
            <a:pPr indent="0" marL="0">
              <a:buNone/>
            </a:pPr>
            <a:r>
              <a:rPr lang="en-US" sz="900" b="1" dirty="0">
                <a:solidFill>
                  <a:srgbClr val="1A56DB"/>
                </a:solidFill>
                <a:latin typeface="Consolas" pitchFamily="34" charset="0"/>
                <a:ea typeface="Consolas" pitchFamily="34" charset="-122"/>
                <a:cs typeface="Consolas" pitchFamily="34" charset="-120"/>
              </a:rPr>
              <a:t>/chat/session/[id]</a:t>
            </a:r>
            <a:endParaRPr lang="en-US" sz="900" dirty="0"/>
          </a:p>
        </p:txBody>
      </p:sp>
      <p:sp>
        <p:nvSpPr>
          <p:cNvPr id="41" name="Text 39"/>
          <p:cNvSpPr/>
          <p:nvPr/>
        </p:nvSpPr>
        <p:spPr>
          <a:xfrm>
            <a:off x="6254496" y="2670048"/>
            <a:ext cx="2423160" cy="219456"/>
          </a:xfrm>
          <a:prstGeom prst="rect">
            <a:avLst/>
          </a:prstGeom>
          <a:noFill/>
          <a:ln/>
        </p:spPr>
        <p:txBody>
          <a:bodyPr wrap="square" rtlCol="0" anchor="ctr"/>
          <a:lstStyle/>
          <a:p>
            <a:pPr indent="0" marL="0">
              <a:buNone/>
            </a:pPr>
            <a:r>
              <a:rPr lang="en-US" sz="850" dirty="0">
                <a:solidFill>
                  <a:srgbClr val="94A3B8"/>
                </a:solidFill>
              </a:rPr>
              <a:t>Replay a conversation</a:t>
            </a:r>
            <a:endParaRPr lang="en-US" sz="850" dirty="0"/>
          </a:p>
        </p:txBody>
      </p:sp>
      <p:sp>
        <p:nvSpPr>
          <p:cNvPr id="42" name="Shape 40"/>
          <p:cNvSpPr/>
          <p:nvPr/>
        </p:nvSpPr>
        <p:spPr>
          <a:xfrm>
            <a:off x="4572000" y="2926080"/>
            <a:ext cx="4160520" cy="301752"/>
          </a:xfrm>
          <a:prstGeom prst="rect">
            <a:avLst/>
          </a:prstGeom>
          <a:solidFill>
            <a:srgbClr val="F8FAFC"/>
          </a:solidFill>
          <a:ln w="3810">
            <a:solidFill>
              <a:srgbClr val="E2E8F0"/>
            </a:solidFill>
            <a:prstDash val="solid"/>
          </a:ln>
        </p:spPr>
      </p:sp>
      <p:sp>
        <p:nvSpPr>
          <p:cNvPr id="43" name="Text 41"/>
          <p:cNvSpPr/>
          <p:nvPr/>
        </p:nvSpPr>
        <p:spPr>
          <a:xfrm>
            <a:off x="4626864" y="2971800"/>
            <a:ext cx="1600200" cy="219456"/>
          </a:xfrm>
          <a:prstGeom prst="rect">
            <a:avLst/>
          </a:prstGeom>
          <a:noFill/>
          <a:ln/>
        </p:spPr>
        <p:txBody>
          <a:bodyPr wrap="square" rtlCol="0" anchor="ctr"/>
          <a:lstStyle/>
          <a:p>
            <a:pPr indent="0" marL="0">
              <a:buNone/>
            </a:pPr>
            <a:r>
              <a:rPr lang="en-US" sz="900" b="1" dirty="0">
                <a:solidFill>
                  <a:srgbClr val="1A56DB"/>
                </a:solidFill>
                <a:latin typeface="Consolas" pitchFamily="34" charset="0"/>
                <a:ea typeface="Consolas" pitchFamily="34" charset="-122"/>
                <a:cs typeface="Consolas" pitchFamily="34" charset="-120"/>
              </a:rPr>
              <a:t>/integrations</a:t>
            </a:r>
            <a:endParaRPr lang="en-US" sz="900" dirty="0"/>
          </a:p>
        </p:txBody>
      </p:sp>
      <p:sp>
        <p:nvSpPr>
          <p:cNvPr id="44" name="Text 42"/>
          <p:cNvSpPr/>
          <p:nvPr/>
        </p:nvSpPr>
        <p:spPr>
          <a:xfrm>
            <a:off x="6254496" y="2971800"/>
            <a:ext cx="2423160" cy="219456"/>
          </a:xfrm>
          <a:prstGeom prst="rect">
            <a:avLst/>
          </a:prstGeom>
          <a:noFill/>
          <a:ln/>
        </p:spPr>
        <p:txBody>
          <a:bodyPr wrap="square" rtlCol="0" anchor="ctr"/>
          <a:lstStyle/>
          <a:p>
            <a:pPr indent="0" marL="0">
              <a:buNone/>
            </a:pPr>
            <a:r>
              <a:rPr lang="en-US" sz="850" dirty="0">
                <a:solidFill>
                  <a:srgbClr val="94A3B8"/>
                </a:solidFill>
              </a:rPr>
              <a:t>Connect GitHub, Notion, Calendar, Gmail</a:t>
            </a:r>
            <a:endParaRPr lang="en-US" sz="850" dirty="0"/>
          </a:p>
        </p:txBody>
      </p:sp>
      <p:sp>
        <p:nvSpPr>
          <p:cNvPr id="45" name="Shape 43"/>
          <p:cNvSpPr/>
          <p:nvPr/>
        </p:nvSpPr>
        <p:spPr>
          <a:xfrm>
            <a:off x="4572000" y="3227832"/>
            <a:ext cx="4160520" cy="301752"/>
          </a:xfrm>
          <a:prstGeom prst="rect">
            <a:avLst/>
          </a:prstGeom>
          <a:solidFill>
            <a:srgbClr val="FFFFFF"/>
          </a:solidFill>
          <a:ln w="3810">
            <a:solidFill>
              <a:srgbClr val="E2E8F0"/>
            </a:solidFill>
            <a:prstDash val="solid"/>
          </a:ln>
        </p:spPr>
      </p:sp>
      <p:sp>
        <p:nvSpPr>
          <p:cNvPr id="46" name="Text 44"/>
          <p:cNvSpPr/>
          <p:nvPr/>
        </p:nvSpPr>
        <p:spPr>
          <a:xfrm>
            <a:off x="4626864" y="3273552"/>
            <a:ext cx="1600200" cy="219456"/>
          </a:xfrm>
          <a:prstGeom prst="rect">
            <a:avLst/>
          </a:prstGeom>
          <a:noFill/>
          <a:ln/>
        </p:spPr>
        <p:txBody>
          <a:bodyPr wrap="square" rtlCol="0" anchor="ctr"/>
          <a:lstStyle/>
          <a:p>
            <a:pPr indent="0" marL="0">
              <a:buNone/>
            </a:pPr>
            <a:r>
              <a:rPr lang="en-US" sz="900" b="1" dirty="0">
                <a:solidFill>
                  <a:srgbClr val="1A56DB"/>
                </a:solidFill>
                <a:latin typeface="Consolas" pitchFamily="34" charset="0"/>
                <a:ea typeface="Consolas" pitchFamily="34" charset="-122"/>
                <a:cs typeface="Consolas" pitchFamily="34" charset="-120"/>
              </a:rPr>
              <a:t>/plans</a:t>
            </a:r>
            <a:endParaRPr lang="en-US" sz="900" dirty="0"/>
          </a:p>
        </p:txBody>
      </p:sp>
      <p:sp>
        <p:nvSpPr>
          <p:cNvPr id="47" name="Text 45"/>
          <p:cNvSpPr/>
          <p:nvPr/>
        </p:nvSpPr>
        <p:spPr>
          <a:xfrm>
            <a:off x="6254496" y="3273552"/>
            <a:ext cx="2423160" cy="219456"/>
          </a:xfrm>
          <a:prstGeom prst="rect">
            <a:avLst/>
          </a:prstGeom>
          <a:noFill/>
          <a:ln/>
        </p:spPr>
        <p:txBody>
          <a:bodyPr wrap="square" rtlCol="0" anchor="ctr"/>
          <a:lstStyle/>
          <a:p>
            <a:pPr indent="0" marL="0">
              <a:buNone/>
            </a:pPr>
            <a:r>
              <a:rPr lang="en-US" sz="850" dirty="0">
                <a:solidFill>
                  <a:srgbClr val="94A3B8"/>
                </a:solidFill>
              </a:rPr>
              <a:t>Execution plan history</a:t>
            </a:r>
            <a:endParaRPr lang="en-US" sz="850" dirty="0"/>
          </a:p>
        </p:txBody>
      </p:sp>
      <p:sp>
        <p:nvSpPr>
          <p:cNvPr id="48" name="Shape 46"/>
          <p:cNvSpPr/>
          <p:nvPr/>
        </p:nvSpPr>
        <p:spPr>
          <a:xfrm>
            <a:off x="4572000" y="3529584"/>
            <a:ext cx="4160520" cy="301752"/>
          </a:xfrm>
          <a:prstGeom prst="rect">
            <a:avLst/>
          </a:prstGeom>
          <a:solidFill>
            <a:srgbClr val="F8FAFC"/>
          </a:solidFill>
          <a:ln w="3810">
            <a:solidFill>
              <a:srgbClr val="E2E8F0"/>
            </a:solidFill>
            <a:prstDash val="solid"/>
          </a:ln>
        </p:spPr>
      </p:sp>
      <p:sp>
        <p:nvSpPr>
          <p:cNvPr id="49" name="Text 47"/>
          <p:cNvSpPr/>
          <p:nvPr/>
        </p:nvSpPr>
        <p:spPr>
          <a:xfrm>
            <a:off x="4626864" y="3575304"/>
            <a:ext cx="1600200" cy="219456"/>
          </a:xfrm>
          <a:prstGeom prst="rect">
            <a:avLst/>
          </a:prstGeom>
          <a:noFill/>
          <a:ln/>
        </p:spPr>
        <p:txBody>
          <a:bodyPr wrap="square" rtlCol="0" anchor="ctr"/>
          <a:lstStyle/>
          <a:p>
            <a:pPr indent="0" marL="0">
              <a:buNone/>
            </a:pPr>
            <a:r>
              <a:rPr lang="en-US" sz="900" b="1" dirty="0">
                <a:solidFill>
                  <a:srgbClr val="1A56DB"/>
                </a:solidFill>
                <a:latin typeface="Consolas" pitchFamily="34" charset="0"/>
                <a:ea typeface="Consolas" pitchFamily="34" charset="-122"/>
                <a:cs typeface="Consolas" pitchFamily="34" charset="-120"/>
              </a:rPr>
              <a:t>/plans/[id]</a:t>
            </a:r>
            <a:endParaRPr lang="en-US" sz="900" dirty="0"/>
          </a:p>
        </p:txBody>
      </p:sp>
      <p:sp>
        <p:nvSpPr>
          <p:cNvPr id="50" name="Text 48"/>
          <p:cNvSpPr/>
          <p:nvPr/>
        </p:nvSpPr>
        <p:spPr>
          <a:xfrm>
            <a:off x="6254496" y="3575304"/>
            <a:ext cx="2423160" cy="219456"/>
          </a:xfrm>
          <a:prstGeom prst="rect">
            <a:avLst/>
          </a:prstGeom>
          <a:noFill/>
          <a:ln/>
        </p:spPr>
        <p:txBody>
          <a:bodyPr wrap="square" rtlCol="0" anchor="ctr"/>
          <a:lstStyle/>
          <a:p>
            <a:pPr indent="0" marL="0">
              <a:buNone/>
            </a:pPr>
            <a:r>
              <a:rPr lang="en-US" sz="850" dirty="0">
                <a:solidFill>
                  <a:srgbClr val="94A3B8"/>
                </a:solidFill>
              </a:rPr>
              <a:t>Per-task tool, duration, JSON result</a:t>
            </a:r>
            <a:endParaRPr lang="en-US" sz="850" dirty="0"/>
          </a:p>
        </p:txBody>
      </p:sp>
      <p:sp>
        <p:nvSpPr>
          <p:cNvPr id="51" name="Shape 49"/>
          <p:cNvSpPr/>
          <p:nvPr/>
        </p:nvSpPr>
        <p:spPr>
          <a:xfrm>
            <a:off x="4572000" y="3831336"/>
            <a:ext cx="4160520" cy="301752"/>
          </a:xfrm>
          <a:prstGeom prst="rect">
            <a:avLst/>
          </a:prstGeom>
          <a:solidFill>
            <a:srgbClr val="FFFFFF"/>
          </a:solidFill>
          <a:ln w="3810">
            <a:solidFill>
              <a:srgbClr val="E2E8F0"/>
            </a:solidFill>
            <a:prstDash val="solid"/>
          </a:ln>
        </p:spPr>
      </p:sp>
      <p:sp>
        <p:nvSpPr>
          <p:cNvPr id="52" name="Text 50"/>
          <p:cNvSpPr/>
          <p:nvPr/>
        </p:nvSpPr>
        <p:spPr>
          <a:xfrm>
            <a:off x="4626864" y="3877056"/>
            <a:ext cx="1600200" cy="219456"/>
          </a:xfrm>
          <a:prstGeom prst="rect">
            <a:avLst/>
          </a:prstGeom>
          <a:noFill/>
          <a:ln/>
        </p:spPr>
        <p:txBody>
          <a:bodyPr wrap="square" rtlCol="0" anchor="ctr"/>
          <a:lstStyle/>
          <a:p>
            <a:pPr indent="0" marL="0">
              <a:buNone/>
            </a:pPr>
            <a:r>
              <a:rPr lang="en-US" sz="900" b="1" dirty="0">
                <a:solidFill>
                  <a:srgbClr val="1A56DB"/>
                </a:solidFill>
                <a:latin typeface="Consolas" pitchFamily="34" charset="0"/>
                <a:ea typeface="Consolas" pitchFamily="34" charset="-122"/>
                <a:cs typeface="Consolas" pitchFamily="34" charset="-120"/>
              </a:rPr>
              <a:t>/activity</a:t>
            </a:r>
            <a:endParaRPr lang="en-US" sz="900" dirty="0"/>
          </a:p>
        </p:txBody>
      </p:sp>
      <p:sp>
        <p:nvSpPr>
          <p:cNvPr id="53" name="Text 51"/>
          <p:cNvSpPr/>
          <p:nvPr/>
        </p:nvSpPr>
        <p:spPr>
          <a:xfrm>
            <a:off x="6254496" y="3877056"/>
            <a:ext cx="2423160" cy="219456"/>
          </a:xfrm>
          <a:prstGeom prst="rect">
            <a:avLst/>
          </a:prstGeom>
          <a:noFill/>
          <a:ln/>
        </p:spPr>
        <p:txBody>
          <a:bodyPr wrap="square" rtlCol="0" anchor="ctr"/>
          <a:lstStyle/>
          <a:p>
            <a:pPr indent="0" marL="0">
              <a:buNone/>
            </a:pPr>
            <a:r>
              <a:rPr lang="en-US" sz="850" dirty="0">
                <a:solidFill>
                  <a:srgbClr val="94A3B8"/>
                </a:solidFill>
              </a:rPr>
              <a:t>Audit log viewer</a:t>
            </a:r>
            <a:endParaRPr lang="en-US" sz="850" dirty="0"/>
          </a:p>
        </p:txBody>
      </p:sp>
      <p:sp>
        <p:nvSpPr>
          <p:cNvPr id="54" name="Shape 52"/>
          <p:cNvSpPr/>
          <p:nvPr/>
        </p:nvSpPr>
        <p:spPr>
          <a:xfrm>
            <a:off x="4572000" y="4133088"/>
            <a:ext cx="4160520" cy="301752"/>
          </a:xfrm>
          <a:prstGeom prst="rect">
            <a:avLst/>
          </a:prstGeom>
          <a:solidFill>
            <a:srgbClr val="F8FAFC"/>
          </a:solidFill>
          <a:ln w="3810">
            <a:solidFill>
              <a:srgbClr val="E2E8F0"/>
            </a:solidFill>
            <a:prstDash val="solid"/>
          </a:ln>
        </p:spPr>
      </p:sp>
      <p:sp>
        <p:nvSpPr>
          <p:cNvPr id="55" name="Text 53"/>
          <p:cNvSpPr/>
          <p:nvPr/>
        </p:nvSpPr>
        <p:spPr>
          <a:xfrm>
            <a:off x="4626864" y="4178808"/>
            <a:ext cx="1600200" cy="219456"/>
          </a:xfrm>
          <a:prstGeom prst="rect">
            <a:avLst/>
          </a:prstGeom>
          <a:noFill/>
          <a:ln/>
        </p:spPr>
        <p:txBody>
          <a:bodyPr wrap="square" rtlCol="0" anchor="ctr"/>
          <a:lstStyle/>
          <a:p>
            <a:pPr indent="0" marL="0">
              <a:buNone/>
            </a:pPr>
            <a:r>
              <a:rPr lang="en-US" sz="900" b="1" dirty="0">
                <a:solidFill>
                  <a:srgbClr val="1A56DB"/>
                </a:solidFill>
                <a:latin typeface="Consolas" pitchFamily="34" charset="0"/>
                <a:ea typeface="Consolas" pitchFamily="34" charset="-122"/>
                <a:cs typeface="Consolas" pitchFamily="34" charset="-120"/>
              </a:rPr>
              <a:t>/settings/*</a:t>
            </a:r>
            <a:endParaRPr lang="en-US" sz="900" dirty="0"/>
          </a:p>
        </p:txBody>
      </p:sp>
      <p:sp>
        <p:nvSpPr>
          <p:cNvPr id="56" name="Text 54"/>
          <p:cNvSpPr/>
          <p:nvPr/>
        </p:nvSpPr>
        <p:spPr>
          <a:xfrm>
            <a:off x="6254496" y="4178808"/>
            <a:ext cx="2423160" cy="219456"/>
          </a:xfrm>
          <a:prstGeom prst="rect">
            <a:avLst/>
          </a:prstGeom>
          <a:noFill/>
          <a:ln/>
        </p:spPr>
        <p:txBody>
          <a:bodyPr wrap="square" rtlCol="0" anchor="ctr"/>
          <a:lstStyle/>
          <a:p>
            <a:pPr indent="0" marL="0">
              <a:buNone/>
            </a:pPr>
            <a:r>
              <a:rPr lang="en-US" sz="850" dirty="0">
                <a:solidFill>
                  <a:srgbClr val="94A3B8"/>
                </a:solidFill>
              </a:rPr>
              <a:t>Profile, preferences, tokens, usage</a:t>
            </a:r>
            <a:endParaRPr lang="en-US" sz="850" dirty="0"/>
          </a:p>
        </p:txBody>
      </p:sp>
      <p:sp>
        <p:nvSpPr>
          <p:cNvPr id="57" name="Shape 55"/>
          <p:cNvSpPr/>
          <p:nvPr/>
        </p:nvSpPr>
        <p:spPr>
          <a:xfrm>
            <a:off x="411480" y="4425696"/>
            <a:ext cx="8321040" cy="530352"/>
          </a:xfrm>
          <a:prstGeom prst="rect">
            <a:avLst/>
          </a:prstGeom>
          <a:solidFill>
            <a:srgbClr val="EFF6FF"/>
          </a:solidFill>
          <a:ln w="6350">
            <a:solidFill>
              <a:srgbClr val="BFDBFE"/>
            </a:solidFill>
            <a:prstDash val="solid"/>
          </a:ln>
        </p:spPr>
      </p:sp>
      <p:sp>
        <p:nvSpPr>
          <p:cNvPr id="58" name="Shape 56"/>
          <p:cNvSpPr/>
          <p:nvPr/>
        </p:nvSpPr>
        <p:spPr>
          <a:xfrm>
            <a:off x="411480" y="4425696"/>
            <a:ext cx="54864" cy="530352"/>
          </a:xfrm>
          <a:prstGeom prst="rect">
            <a:avLst/>
          </a:prstGeom>
          <a:solidFill>
            <a:srgbClr val="1A56DB"/>
          </a:solidFill>
          <a:ln w="12700">
            <a:solidFill>
              <a:srgbClr val="1A56DB"/>
            </a:solidFill>
            <a:prstDash val="solid"/>
          </a:ln>
        </p:spPr>
      </p:sp>
      <p:sp>
        <p:nvSpPr>
          <p:cNvPr id="59" name="Text 57"/>
          <p:cNvSpPr/>
          <p:nvPr/>
        </p:nvSpPr>
        <p:spPr>
          <a:xfrm>
            <a:off x="566928" y="4443984"/>
            <a:ext cx="8092440" cy="493776"/>
          </a:xfrm>
          <a:prstGeom prst="rect">
            <a:avLst/>
          </a:prstGeom>
          <a:noFill/>
          <a:ln/>
        </p:spPr>
        <p:txBody>
          <a:bodyPr wrap="square" rtlCol="0" anchor="ctr"/>
          <a:lstStyle/>
          <a:p>
            <a:pPr indent="0" marL="0">
              <a:buNone/>
            </a:pPr>
            <a:r>
              <a:rPr lang="en-US" sz="950" dirty="0">
                <a:solidFill>
                  <a:srgbClr val="1E293B"/>
                </a:solidFill>
              </a:rPr>
              <a:t>Route protection: Next.js middleware  ·  Auth: httpOnly cookie + sessionStorage for WS  ·  Responsive: sidebar hidden &lt;640px  ·  First paint: Landing &lt;1s · Chat &lt;2s interactive</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F3D"/>
        </a:solidFill>
      </p:bgPr>
    </p:bg>
    <p:spTree>
      <p:nvGrpSpPr>
        <p:cNvPr id="1" name=""/>
        <p:cNvGrpSpPr/>
        <p:nvPr/>
      </p:nvGrpSpPr>
      <p:grpSpPr>
        <a:xfrm>
          <a:off x="0" y="0"/>
          <a:ext cx="0" cy="0"/>
          <a:chOff x="0" y="0"/>
          <a:chExt cx="0" cy="0"/>
        </a:xfrm>
      </p:grpSpPr>
      <p:sp>
        <p:nvSpPr>
          <p:cNvPr id="2" name="Shape 0"/>
          <p:cNvSpPr/>
          <p:nvPr/>
        </p:nvSpPr>
        <p:spPr>
          <a:xfrm>
            <a:off x="411480" y="201168"/>
            <a:ext cx="1645920" cy="256032"/>
          </a:xfrm>
          <a:prstGeom prst="roundRect">
            <a:avLst>
              <a:gd name="adj" fmla="val 50000"/>
            </a:avLst>
          </a:prstGeom>
          <a:solidFill>
            <a:srgbClr val="1A56DB">
              <a:alpha val="15000"/>
            </a:srgbClr>
          </a:solidFill>
          <a:ln w="6350">
            <a:solidFill>
              <a:srgbClr val="1A56DB"/>
            </a:solidFill>
            <a:prstDash val="solid"/>
          </a:ln>
        </p:spPr>
      </p:sp>
      <p:sp>
        <p:nvSpPr>
          <p:cNvPr id="3" name="Text 1"/>
          <p:cNvSpPr/>
          <p:nvPr/>
        </p:nvSpPr>
        <p:spPr>
          <a:xfrm>
            <a:off x="411480" y="201168"/>
            <a:ext cx="1645920" cy="256032"/>
          </a:xfrm>
          <a:prstGeom prst="rect">
            <a:avLst/>
          </a:prstGeom>
          <a:noFill/>
          <a:ln/>
        </p:spPr>
        <p:txBody>
          <a:bodyPr wrap="square" lIns="0" tIns="0" rIns="0" bIns="0" rtlCol="0" anchor="ctr"/>
          <a:lstStyle/>
          <a:p>
            <a:pPr algn="ctr" indent="0" marL="0">
              <a:buNone/>
            </a:pPr>
            <a:r>
              <a:rPr lang="en-US" sz="900" b="1" dirty="0">
                <a:solidFill>
                  <a:srgbClr val="1A56DB"/>
                </a:solidFill>
              </a:rPr>
              <a:t>AUTH &amp; API</a:t>
            </a:r>
            <a:endParaRPr lang="en-US" sz="900" dirty="0"/>
          </a:p>
        </p:txBody>
      </p:sp>
      <p:sp>
        <p:nvSpPr>
          <p:cNvPr id="4" name="Text 2"/>
          <p:cNvSpPr/>
          <p:nvPr/>
        </p:nvSpPr>
        <p:spPr>
          <a:xfrm>
            <a:off x="411480" y="502920"/>
            <a:ext cx="8321040" cy="640080"/>
          </a:xfrm>
          <a:prstGeom prst="rect">
            <a:avLst/>
          </a:prstGeom>
          <a:noFill/>
          <a:ln/>
        </p:spPr>
        <p:txBody>
          <a:bodyPr wrap="square" rtlCol="0" anchor="ctr"/>
          <a:lstStyle/>
          <a:p>
            <a:pPr indent="0" marL="0">
              <a:buNone/>
            </a:pPr>
            <a:r>
              <a:rPr lang="en-US" sz="3000" b="1" dirty="0">
                <a:solidFill>
                  <a:srgbClr val="FFFFFF"/>
                </a:solidFill>
              </a:rPr>
              <a:t>Auth &amp; API Design</a:t>
            </a:r>
            <a:endParaRPr lang="en-US" sz="3000" dirty="0"/>
          </a:p>
        </p:txBody>
      </p:sp>
      <p:sp>
        <p:nvSpPr>
          <p:cNvPr id="5" name="Shape 3"/>
          <p:cNvSpPr/>
          <p:nvPr/>
        </p:nvSpPr>
        <p:spPr>
          <a:xfrm>
            <a:off x="411480" y="1234440"/>
            <a:ext cx="5029200" cy="2377440"/>
          </a:xfrm>
          <a:prstGeom prst="rect">
            <a:avLst/>
          </a:prstGeom>
          <a:solidFill>
            <a:srgbClr val="0D2137"/>
          </a:solidFill>
          <a:ln w="6350">
            <a:solidFill>
              <a:srgbClr val="E2E8F0"/>
            </a:solidFill>
            <a:prstDash val="solid"/>
          </a:ln>
        </p:spPr>
      </p:sp>
      <p:sp>
        <p:nvSpPr>
          <p:cNvPr id="6" name="Text 4"/>
          <p:cNvSpPr/>
          <p:nvPr/>
        </p:nvSpPr>
        <p:spPr>
          <a:xfrm>
            <a:off x="594360" y="1353312"/>
            <a:ext cx="4572000" cy="228600"/>
          </a:xfrm>
          <a:prstGeom prst="rect">
            <a:avLst/>
          </a:prstGeom>
          <a:noFill/>
          <a:ln/>
        </p:spPr>
        <p:txBody>
          <a:bodyPr wrap="square" rtlCol="0" anchor="ctr"/>
          <a:lstStyle/>
          <a:p>
            <a:pPr indent="0" marL="0">
              <a:buNone/>
            </a:pPr>
            <a:r>
              <a:rPr lang="en-US" sz="850" b="1" spc="200" kern="0" dirty="0">
                <a:solidFill>
                  <a:srgbClr val="06B6D4"/>
                </a:solidFill>
              </a:rPr>
              <a:t>AUTHENTICATION FLOW</a:t>
            </a:r>
            <a:endParaRPr lang="en-US" sz="850" dirty="0"/>
          </a:p>
        </p:txBody>
      </p:sp>
      <p:sp>
        <p:nvSpPr>
          <p:cNvPr id="7" name="Shape 5"/>
          <p:cNvSpPr/>
          <p:nvPr/>
        </p:nvSpPr>
        <p:spPr>
          <a:xfrm>
            <a:off x="594360" y="1691640"/>
            <a:ext cx="256032" cy="256032"/>
          </a:xfrm>
          <a:prstGeom prst="roundRect">
            <a:avLst>
              <a:gd name="adj" fmla="val 50000"/>
            </a:avLst>
          </a:prstGeom>
          <a:solidFill>
            <a:srgbClr val="1A56DB"/>
          </a:solidFill>
          <a:ln w="12700">
            <a:solidFill>
              <a:srgbClr val="1A56DB"/>
            </a:solidFill>
            <a:prstDash val="solid"/>
          </a:ln>
        </p:spPr>
      </p:sp>
      <p:sp>
        <p:nvSpPr>
          <p:cNvPr id="8" name="Text 6"/>
          <p:cNvSpPr/>
          <p:nvPr/>
        </p:nvSpPr>
        <p:spPr>
          <a:xfrm>
            <a:off x="594360" y="169164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1</a:t>
            </a:r>
            <a:endParaRPr lang="en-US" sz="900" dirty="0"/>
          </a:p>
        </p:txBody>
      </p:sp>
      <p:sp>
        <p:nvSpPr>
          <p:cNvPr id="9" name="Text 7"/>
          <p:cNvSpPr/>
          <p:nvPr/>
        </p:nvSpPr>
        <p:spPr>
          <a:xfrm>
            <a:off x="960120" y="1709928"/>
            <a:ext cx="4297680" cy="274320"/>
          </a:xfrm>
          <a:prstGeom prst="rect">
            <a:avLst/>
          </a:prstGeom>
          <a:noFill/>
          <a:ln/>
        </p:spPr>
        <p:txBody>
          <a:bodyPr wrap="square" rtlCol="0" anchor="ctr"/>
          <a:lstStyle/>
          <a:p>
            <a:pPr indent="0" marL="0">
              <a:buNone/>
            </a:pPr>
            <a:r>
              <a:rPr lang="en-US" sz="1000" dirty="0">
                <a:solidFill>
                  <a:srgbClr val="CBD5E1"/>
                </a:solidFill>
              </a:rPr>
              <a:t>User signs in with Google → frontend sends ID token</a:t>
            </a:r>
            <a:endParaRPr lang="en-US" sz="1000" dirty="0"/>
          </a:p>
        </p:txBody>
      </p:sp>
      <p:sp>
        <p:nvSpPr>
          <p:cNvPr id="10" name="Shape 8"/>
          <p:cNvSpPr/>
          <p:nvPr/>
        </p:nvSpPr>
        <p:spPr>
          <a:xfrm>
            <a:off x="594360" y="2039112"/>
            <a:ext cx="256032" cy="256032"/>
          </a:xfrm>
          <a:prstGeom prst="roundRect">
            <a:avLst>
              <a:gd name="adj" fmla="val 50000"/>
            </a:avLst>
          </a:prstGeom>
          <a:solidFill>
            <a:srgbClr val="1A56DB"/>
          </a:solidFill>
          <a:ln w="12700">
            <a:solidFill>
              <a:srgbClr val="1A56DB"/>
            </a:solidFill>
            <a:prstDash val="solid"/>
          </a:ln>
        </p:spPr>
      </p:sp>
      <p:sp>
        <p:nvSpPr>
          <p:cNvPr id="11" name="Text 9"/>
          <p:cNvSpPr/>
          <p:nvPr/>
        </p:nvSpPr>
        <p:spPr>
          <a:xfrm>
            <a:off x="594360" y="203911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2</a:t>
            </a:r>
            <a:endParaRPr lang="en-US" sz="900" dirty="0"/>
          </a:p>
        </p:txBody>
      </p:sp>
      <p:sp>
        <p:nvSpPr>
          <p:cNvPr id="12" name="Text 10"/>
          <p:cNvSpPr/>
          <p:nvPr/>
        </p:nvSpPr>
        <p:spPr>
          <a:xfrm>
            <a:off x="960120" y="2057400"/>
            <a:ext cx="4297680" cy="274320"/>
          </a:xfrm>
          <a:prstGeom prst="rect">
            <a:avLst/>
          </a:prstGeom>
          <a:noFill/>
          <a:ln/>
        </p:spPr>
        <p:txBody>
          <a:bodyPr wrap="square" rtlCol="0" anchor="ctr"/>
          <a:lstStyle/>
          <a:p>
            <a:pPr indent="0" marL="0">
              <a:buNone/>
            </a:pPr>
            <a:r>
              <a:rPr lang="en-US" sz="1000" dirty="0">
                <a:solidFill>
                  <a:srgbClr val="CBD5E1"/>
                </a:solidFill>
              </a:rPr>
              <a:t>POST /api/v1/auth/google → validates token</a:t>
            </a:r>
            <a:endParaRPr lang="en-US" sz="1000" dirty="0"/>
          </a:p>
        </p:txBody>
      </p:sp>
      <p:sp>
        <p:nvSpPr>
          <p:cNvPr id="13" name="Shape 11"/>
          <p:cNvSpPr/>
          <p:nvPr/>
        </p:nvSpPr>
        <p:spPr>
          <a:xfrm>
            <a:off x="594360" y="2386584"/>
            <a:ext cx="256032" cy="256032"/>
          </a:xfrm>
          <a:prstGeom prst="roundRect">
            <a:avLst>
              <a:gd name="adj" fmla="val 50000"/>
            </a:avLst>
          </a:prstGeom>
          <a:solidFill>
            <a:srgbClr val="1A56DB"/>
          </a:solidFill>
          <a:ln w="12700">
            <a:solidFill>
              <a:srgbClr val="1A56DB"/>
            </a:solidFill>
            <a:prstDash val="solid"/>
          </a:ln>
        </p:spPr>
      </p:sp>
      <p:sp>
        <p:nvSpPr>
          <p:cNvPr id="14" name="Text 12"/>
          <p:cNvSpPr/>
          <p:nvPr/>
        </p:nvSpPr>
        <p:spPr>
          <a:xfrm>
            <a:off x="594360" y="238658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3</a:t>
            </a:r>
            <a:endParaRPr lang="en-US" sz="900" dirty="0"/>
          </a:p>
        </p:txBody>
      </p:sp>
      <p:sp>
        <p:nvSpPr>
          <p:cNvPr id="15" name="Text 13"/>
          <p:cNvSpPr/>
          <p:nvPr/>
        </p:nvSpPr>
        <p:spPr>
          <a:xfrm>
            <a:off x="960120" y="2404872"/>
            <a:ext cx="4297680" cy="274320"/>
          </a:xfrm>
          <a:prstGeom prst="rect">
            <a:avLst/>
          </a:prstGeom>
          <a:noFill/>
          <a:ln/>
        </p:spPr>
        <p:txBody>
          <a:bodyPr wrap="square" rtlCol="0" anchor="ctr"/>
          <a:lstStyle/>
          <a:p>
            <a:pPr indent="0" marL="0">
              <a:buNone/>
            </a:pPr>
            <a:r>
              <a:rPr lang="en-US" sz="1000" dirty="0">
                <a:solidFill>
                  <a:srgbClr val="CBD5E1"/>
                </a:solidFill>
              </a:rPr>
              <a:t>Backend issues app JWT, sets httpOnly access_token cookie</a:t>
            </a:r>
            <a:endParaRPr lang="en-US" sz="1000" dirty="0"/>
          </a:p>
        </p:txBody>
      </p:sp>
      <p:sp>
        <p:nvSpPr>
          <p:cNvPr id="16" name="Shape 14"/>
          <p:cNvSpPr/>
          <p:nvPr/>
        </p:nvSpPr>
        <p:spPr>
          <a:xfrm>
            <a:off x="594360" y="2734056"/>
            <a:ext cx="256032" cy="256032"/>
          </a:xfrm>
          <a:prstGeom prst="roundRect">
            <a:avLst>
              <a:gd name="adj" fmla="val 50000"/>
            </a:avLst>
          </a:prstGeom>
          <a:solidFill>
            <a:srgbClr val="1A56DB"/>
          </a:solidFill>
          <a:ln w="12700">
            <a:solidFill>
              <a:srgbClr val="1A56DB"/>
            </a:solidFill>
            <a:prstDash val="solid"/>
          </a:ln>
        </p:spPr>
      </p:sp>
      <p:sp>
        <p:nvSpPr>
          <p:cNvPr id="17" name="Text 15"/>
          <p:cNvSpPr/>
          <p:nvPr/>
        </p:nvSpPr>
        <p:spPr>
          <a:xfrm>
            <a:off x="594360" y="273405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4</a:t>
            </a:r>
            <a:endParaRPr lang="en-US" sz="900" dirty="0"/>
          </a:p>
        </p:txBody>
      </p:sp>
      <p:sp>
        <p:nvSpPr>
          <p:cNvPr id="18" name="Text 16"/>
          <p:cNvSpPr/>
          <p:nvPr/>
        </p:nvSpPr>
        <p:spPr>
          <a:xfrm>
            <a:off x="960120" y="2752344"/>
            <a:ext cx="4297680" cy="274320"/>
          </a:xfrm>
          <a:prstGeom prst="rect">
            <a:avLst/>
          </a:prstGeom>
          <a:noFill/>
          <a:ln/>
        </p:spPr>
        <p:txBody>
          <a:bodyPr wrap="square" rtlCol="0" anchor="ctr"/>
          <a:lstStyle/>
          <a:p>
            <a:pPr indent="0" marL="0">
              <a:buNone/>
            </a:pPr>
            <a:r>
              <a:rPr lang="en-US" sz="1000" dirty="0">
                <a:solidFill>
                  <a:srgbClr val="CBD5E1"/>
                </a:solidFill>
              </a:rPr>
              <a:t>Protected routes: cookie (credentials: include) or Bearer JWT</a:t>
            </a:r>
            <a:endParaRPr lang="en-US" sz="1000" dirty="0"/>
          </a:p>
        </p:txBody>
      </p:sp>
      <p:sp>
        <p:nvSpPr>
          <p:cNvPr id="19" name="Shape 17"/>
          <p:cNvSpPr/>
          <p:nvPr/>
        </p:nvSpPr>
        <p:spPr>
          <a:xfrm>
            <a:off x="594360" y="3081528"/>
            <a:ext cx="256032" cy="256032"/>
          </a:xfrm>
          <a:prstGeom prst="roundRect">
            <a:avLst>
              <a:gd name="adj" fmla="val 50000"/>
            </a:avLst>
          </a:prstGeom>
          <a:solidFill>
            <a:srgbClr val="1A56DB"/>
          </a:solidFill>
          <a:ln w="12700">
            <a:solidFill>
              <a:srgbClr val="1A56DB"/>
            </a:solidFill>
            <a:prstDash val="solid"/>
          </a:ln>
        </p:spPr>
      </p:sp>
      <p:sp>
        <p:nvSpPr>
          <p:cNvPr id="20" name="Text 18"/>
          <p:cNvSpPr/>
          <p:nvPr/>
        </p:nvSpPr>
        <p:spPr>
          <a:xfrm>
            <a:off x="594360" y="30815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5</a:t>
            </a:r>
            <a:endParaRPr lang="en-US" sz="900" dirty="0"/>
          </a:p>
        </p:txBody>
      </p:sp>
      <p:sp>
        <p:nvSpPr>
          <p:cNvPr id="21" name="Text 19"/>
          <p:cNvSpPr/>
          <p:nvPr/>
        </p:nvSpPr>
        <p:spPr>
          <a:xfrm>
            <a:off x="960120" y="3099816"/>
            <a:ext cx="4297680" cy="274320"/>
          </a:xfrm>
          <a:prstGeom prst="rect">
            <a:avLst/>
          </a:prstGeom>
          <a:noFill/>
          <a:ln/>
        </p:spPr>
        <p:txBody>
          <a:bodyPr wrap="square" rtlCol="0" anchor="ctr"/>
          <a:lstStyle/>
          <a:p>
            <a:pPr indent="0" marL="0">
              <a:buNone/>
            </a:pPr>
            <a:r>
              <a:rPr lang="en-US" sz="1000" dirty="0">
                <a:solidFill>
                  <a:srgbClr val="CBD5E1"/>
                </a:solidFill>
              </a:rPr>
              <a:t>WebSocket: access_token query param supported</a:t>
            </a:r>
            <a:endParaRPr lang="en-US" sz="1000" dirty="0"/>
          </a:p>
        </p:txBody>
      </p:sp>
      <p:sp>
        <p:nvSpPr>
          <p:cNvPr id="22" name="Shape 20"/>
          <p:cNvSpPr/>
          <p:nvPr/>
        </p:nvSpPr>
        <p:spPr>
          <a:xfrm>
            <a:off x="5577840" y="1234440"/>
            <a:ext cx="3154680" cy="2377440"/>
          </a:xfrm>
          <a:prstGeom prst="rect">
            <a:avLst/>
          </a:prstGeom>
          <a:solidFill>
            <a:srgbClr val="0D2137"/>
          </a:solidFill>
          <a:ln w="6350">
            <a:solidFill>
              <a:srgbClr val="E2E8F0"/>
            </a:solidFill>
            <a:prstDash val="solid"/>
          </a:ln>
        </p:spPr>
      </p:sp>
      <p:sp>
        <p:nvSpPr>
          <p:cNvPr id="23" name="Text 21"/>
          <p:cNvSpPr/>
          <p:nvPr/>
        </p:nvSpPr>
        <p:spPr>
          <a:xfrm>
            <a:off x="5715000" y="1353312"/>
            <a:ext cx="2926080" cy="228600"/>
          </a:xfrm>
          <a:prstGeom prst="rect">
            <a:avLst/>
          </a:prstGeom>
          <a:noFill/>
          <a:ln/>
        </p:spPr>
        <p:txBody>
          <a:bodyPr wrap="square" rtlCol="0" anchor="ctr"/>
          <a:lstStyle/>
          <a:p>
            <a:pPr indent="0" marL="0">
              <a:buNone/>
            </a:pPr>
            <a:r>
              <a:rPr lang="en-US" sz="850" b="1" spc="200" kern="0" dirty="0">
                <a:solidFill>
                  <a:srgbClr val="06B6D4"/>
                </a:solidFill>
              </a:rPr>
              <a:t>KEY API ROUTES  /api/v1/</a:t>
            </a:r>
            <a:endParaRPr lang="en-US" sz="850" dirty="0"/>
          </a:p>
        </p:txBody>
      </p:sp>
      <p:sp>
        <p:nvSpPr>
          <p:cNvPr id="24" name="Text 22"/>
          <p:cNvSpPr/>
          <p:nvPr/>
        </p:nvSpPr>
        <p:spPr>
          <a:xfrm>
            <a:off x="5715000" y="1691640"/>
            <a:ext cx="2926080" cy="310896"/>
          </a:xfrm>
          <a:prstGeom prst="rect">
            <a:avLst/>
          </a:prstGeom>
          <a:noFill/>
          <a:ln/>
        </p:spPr>
        <p:txBody>
          <a:bodyPr wrap="square" rtlCol="0" anchor="ctr"/>
          <a:lstStyle/>
          <a:p>
            <a:pPr indent="0" marL="0">
              <a:buNone/>
            </a:pPr>
            <a:r>
              <a:rPr lang="en-US" sz="1000" b="1" dirty="0">
                <a:solidFill>
                  <a:srgbClr val="06B6D4"/>
                </a:solidFill>
              </a:rPr>
              <a:t>chat</a:t>
            </a:r>
            <a:pPr indent="0" marL="0">
              <a:buNone/>
            </a:pPr>
            <a:r>
              <a:rPr lang="en-US" sz="1000" dirty="0">
                <a:solidFill>
                  <a:srgbClr val="9ECFFF"/>
                </a:solidFill>
              </a:rPr>
              <a:t>  Chat + WebSocket /ws/chat</a:t>
            </a:r>
            <a:endParaRPr lang="en-US" sz="1000" dirty="0"/>
          </a:p>
        </p:txBody>
      </p:sp>
      <p:sp>
        <p:nvSpPr>
          <p:cNvPr id="25" name="Text 23"/>
          <p:cNvSpPr/>
          <p:nvPr/>
        </p:nvSpPr>
        <p:spPr>
          <a:xfrm>
            <a:off x="5715000" y="2029968"/>
            <a:ext cx="2926080" cy="310896"/>
          </a:xfrm>
          <a:prstGeom prst="rect">
            <a:avLst/>
          </a:prstGeom>
          <a:noFill/>
          <a:ln/>
        </p:spPr>
        <p:txBody>
          <a:bodyPr wrap="square" rtlCol="0" anchor="ctr"/>
          <a:lstStyle/>
          <a:p>
            <a:pPr indent="0" marL="0">
              <a:buNone/>
            </a:pPr>
            <a:r>
              <a:rPr lang="en-US" sz="1000" b="1" dirty="0">
                <a:solidFill>
                  <a:srgbClr val="06B6D4"/>
                </a:solidFill>
              </a:rPr>
              <a:t>agents</a:t>
            </a:r>
            <a:pPr indent="0" marL="0">
              <a:buNone/>
            </a:pPr>
            <a:r>
              <a:rPr lang="en-US" sz="1000" dirty="0">
                <a:solidFill>
                  <a:srgbClr val="9ECFFF"/>
                </a:solidFill>
              </a:rPr>
              <a:t>  Execution plan status</a:t>
            </a:r>
            <a:endParaRPr lang="en-US" sz="1000" dirty="0"/>
          </a:p>
        </p:txBody>
      </p:sp>
      <p:sp>
        <p:nvSpPr>
          <p:cNvPr id="26" name="Text 24"/>
          <p:cNvSpPr/>
          <p:nvPr/>
        </p:nvSpPr>
        <p:spPr>
          <a:xfrm>
            <a:off x="5715000" y="2368296"/>
            <a:ext cx="2926080" cy="310896"/>
          </a:xfrm>
          <a:prstGeom prst="rect">
            <a:avLst/>
          </a:prstGeom>
          <a:noFill/>
          <a:ln/>
        </p:spPr>
        <p:txBody>
          <a:bodyPr wrap="square" rtlCol="0" anchor="ctr"/>
          <a:lstStyle/>
          <a:p>
            <a:pPr indent="0" marL="0">
              <a:buNone/>
            </a:pPr>
            <a:r>
              <a:rPr lang="en-US" sz="1000" b="1" dirty="0">
                <a:solidFill>
                  <a:srgbClr val="06B6D4"/>
                </a:solidFill>
              </a:rPr>
              <a:t>mcp</a:t>
            </a:r>
            <a:pPr indent="0" marL="0">
              <a:buNone/>
            </a:pPr>
            <a:r>
              <a:rPr lang="en-US" sz="1000" dirty="0">
                <a:solidFill>
                  <a:srgbClr val="9ECFFF"/>
                </a:solidFill>
              </a:rPr>
              <a:t>  List tools · POST /invoke</a:t>
            </a:r>
            <a:endParaRPr lang="en-US" sz="1000" dirty="0"/>
          </a:p>
        </p:txBody>
      </p:sp>
      <p:sp>
        <p:nvSpPr>
          <p:cNvPr id="27" name="Text 25"/>
          <p:cNvSpPr/>
          <p:nvPr/>
        </p:nvSpPr>
        <p:spPr>
          <a:xfrm>
            <a:off x="5715000" y="2706624"/>
            <a:ext cx="2926080" cy="310896"/>
          </a:xfrm>
          <a:prstGeom prst="rect">
            <a:avLst/>
          </a:prstGeom>
          <a:noFill/>
          <a:ln/>
        </p:spPr>
        <p:txBody>
          <a:bodyPr wrap="square" rtlCol="0" anchor="ctr"/>
          <a:lstStyle/>
          <a:p>
            <a:pPr indent="0" marL="0">
              <a:buNone/>
            </a:pPr>
            <a:r>
              <a:rPr lang="en-US" sz="1000" b="1" dirty="0">
                <a:solidFill>
                  <a:srgbClr val="06B6D4"/>
                </a:solidFill>
              </a:rPr>
              <a:t>mcp_oauth</a:t>
            </a:r>
            <a:pPr indent="0" marL="0">
              <a:buNone/>
            </a:pPr>
            <a:r>
              <a:rPr lang="en-US" sz="1000" dirty="0">
                <a:solidFill>
                  <a:srgbClr val="9ECFFF"/>
                </a:solidFill>
              </a:rPr>
              <a:t>  Google OAuth for MCP</a:t>
            </a:r>
            <a:endParaRPr lang="en-US" sz="1000" dirty="0"/>
          </a:p>
        </p:txBody>
      </p:sp>
      <p:sp>
        <p:nvSpPr>
          <p:cNvPr id="28" name="Text 26"/>
          <p:cNvSpPr/>
          <p:nvPr/>
        </p:nvSpPr>
        <p:spPr>
          <a:xfrm>
            <a:off x="5715000" y="3044952"/>
            <a:ext cx="2926080" cy="310896"/>
          </a:xfrm>
          <a:prstGeom prst="rect">
            <a:avLst/>
          </a:prstGeom>
          <a:noFill/>
          <a:ln/>
        </p:spPr>
        <p:txBody>
          <a:bodyPr wrap="square" rtlCol="0" anchor="ctr"/>
          <a:lstStyle/>
          <a:p>
            <a:pPr indent="0" marL="0">
              <a:buNone/>
            </a:pPr>
            <a:r>
              <a:rPr lang="en-US" sz="1000" b="1" dirty="0">
                <a:solidFill>
                  <a:srgbClr val="06B6D4"/>
                </a:solidFill>
              </a:rPr>
              <a:t>plans / tasks</a:t>
            </a:r>
            <a:pPr indent="0" marL="0">
              <a:buNone/>
            </a:pPr>
            <a:r>
              <a:rPr lang="en-US" sz="1000" dirty="0">
                <a:solidFill>
                  <a:srgbClr val="9ECFFF"/>
                </a:solidFill>
              </a:rPr>
              <a:t>  CRUD for plans &amp; tasks</a:t>
            </a:r>
            <a:endParaRPr lang="en-US" sz="1000" dirty="0"/>
          </a:p>
        </p:txBody>
      </p:sp>
      <p:sp>
        <p:nvSpPr>
          <p:cNvPr id="29" name="Text 27"/>
          <p:cNvSpPr/>
          <p:nvPr/>
        </p:nvSpPr>
        <p:spPr>
          <a:xfrm>
            <a:off x="5715000" y="3383280"/>
            <a:ext cx="2926080" cy="310896"/>
          </a:xfrm>
          <a:prstGeom prst="rect">
            <a:avLst/>
          </a:prstGeom>
          <a:noFill/>
          <a:ln/>
        </p:spPr>
        <p:txBody>
          <a:bodyPr wrap="square" rtlCol="0" anchor="ctr"/>
          <a:lstStyle/>
          <a:p>
            <a:pPr indent="0" marL="0">
              <a:buNone/>
            </a:pPr>
            <a:r>
              <a:rPr lang="en-US" sz="1000" b="1" dirty="0">
                <a:solidFill>
                  <a:srgbClr val="06B6D4"/>
                </a:solidFill>
              </a:rPr>
              <a:t>sessions</a:t>
            </a:r>
            <a:pPr indent="0" marL="0">
              <a:buNone/>
            </a:pPr>
            <a:r>
              <a:rPr lang="en-US" sz="1000" dirty="0">
                <a:solidFill>
                  <a:srgbClr val="9ECFFF"/>
                </a:solidFill>
              </a:rPr>
              <a:t>  Session management</a:t>
            </a:r>
            <a:endParaRPr lang="en-US" sz="1000" dirty="0"/>
          </a:p>
        </p:txBody>
      </p:sp>
      <p:sp>
        <p:nvSpPr>
          <p:cNvPr id="30" name="Shape 28"/>
          <p:cNvSpPr/>
          <p:nvPr/>
        </p:nvSpPr>
        <p:spPr>
          <a:xfrm>
            <a:off x="411480" y="3749040"/>
            <a:ext cx="8321040" cy="731520"/>
          </a:xfrm>
          <a:prstGeom prst="rect">
            <a:avLst/>
          </a:prstGeom>
          <a:solidFill>
            <a:srgbClr val="0A2540"/>
          </a:solidFill>
          <a:ln w="6350">
            <a:solidFill>
              <a:srgbClr val="E2E8F0"/>
            </a:solidFill>
            <a:prstDash val="solid"/>
          </a:ln>
        </p:spPr>
      </p:sp>
      <p:sp>
        <p:nvSpPr>
          <p:cNvPr id="31" name="Shape 29"/>
          <p:cNvSpPr/>
          <p:nvPr/>
        </p:nvSpPr>
        <p:spPr>
          <a:xfrm>
            <a:off x="411480" y="3749040"/>
            <a:ext cx="54864" cy="731520"/>
          </a:xfrm>
          <a:prstGeom prst="rect">
            <a:avLst/>
          </a:prstGeom>
          <a:solidFill>
            <a:srgbClr val="0891B2"/>
          </a:solidFill>
          <a:ln w="12700">
            <a:solidFill>
              <a:srgbClr val="0891B2"/>
            </a:solidFill>
            <a:prstDash val="solid"/>
          </a:ln>
        </p:spPr>
      </p:sp>
      <p:sp>
        <p:nvSpPr>
          <p:cNvPr id="32" name="Text 30"/>
          <p:cNvSpPr/>
          <p:nvPr/>
        </p:nvSpPr>
        <p:spPr>
          <a:xfrm>
            <a:off x="594360" y="3822192"/>
            <a:ext cx="7955280" cy="548640"/>
          </a:xfrm>
          <a:prstGeom prst="rect">
            <a:avLst/>
          </a:prstGeom>
          <a:noFill/>
          <a:ln/>
        </p:spPr>
        <p:txBody>
          <a:bodyPr wrap="square" rtlCol="0" anchor="ctr"/>
          <a:lstStyle/>
          <a:p>
            <a:pPr indent="0" marL="0">
              <a:buNone/>
            </a:pPr>
            <a:r>
              <a:rPr lang="en-US" sz="1100" dirty="0">
                <a:solidFill>
                  <a:srgbClr val="CBD5E1"/>
                </a:solidFill>
              </a:rPr>
              <a:t>Auth is Google-only for sign-in. MCP integrations use a separate OAuth flow per service (GitHub, Notion, Google Calendar/Gmail). Swagger UI live at /docs in all environments.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11480" y="201168"/>
            <a:ext cx="1645920" cy="256032"/>
          </a:xfrm>
          <a:prstGeom prst="roundRect">
            <a:avLst>
              <a:gd name="adj" fmla="val 50000"/>
            </a:avLst>
          </a:prstGeom>
          <a:solidFill>
            <a:srgbClr val="1A56DB">
              <a:alpha val="15000"/>
            </a:srgbClr>
          </a:solidFill>
          <a:ln w="6350">
            <a:solidFill>
              <a:srgbClr val="1A56DB"/>
            </a:solidFill>
            <a:prstDash val="solid"/>
          </a:ln>
        </p:spPr>
      </p:sp>
      <p:sp>
        <p:nvSpPr>
          <p:cNvPr id="3" name="Text 1"/>
          <p:cNvSpPr/>
          <p:nvPr/>
        </p:nvSpPr>
        <p:spPr>
          <a:xfrm>
            <a:off x="411480" y="201168"/>
            <a:ext cx="1645920" cy="256032"/>
          </a:xfrm>
          <a:prstGeom prst="rect">
            <a:avLst/>
          </a:prstGeom>
          <a:noFill/>
          <a:ln/>
        </p:spPr>
        <p:txBody>
          <a:bodyPr wrap="square" lIns="0" tIns="0" rIns="0" bIns="0" rtlCol="0" anchor="ctr"/>
          <a:lstStyle/>
          <a:p>
            <a:pPr algn="ctr" indent="0" marL="0">
              <a:buNone/>
            </a:pPr>
            <a:r>
              <a:rPr lang="en-US" sz="900" b="1" dirty="0">
                <a:solidFill>
                  <a:srgbClr val="1A56DB"/>
                </a:solidFill>
              </a:rPr>
              <a:t>DEPLOYMENT</a:t>
            </a:r>
            <a:endParaRPr lang="en-US" sz="900" dirty="0"/>
          </a:p>
        </p:txBody>
      </p:sp>
      <p:sp>
        <p:nvSpPr>
          <p:cNvPr id="4" name="Text 2"/>
          <p:cNvSpPr/>
          <p:nvPr/>
        </p:nvSpPr>
        <p:spPr>
          <a:xfrm>
            <a:off x="411480" y="502920"/>
            <a:ext cx="8321040" cy="640080"/>
          </a:xfrm>
          <a:prstGeom prst="rect">
            <a:avLst/>
          </a:prstGeom>
          <a:noFill/>
          <a:ln/>
        </p:spPr>
        <p:txBody>
          <a:bodyPr wrap="square" rtlCol="0" anchor="ctr"/>
          <a:lstStyle/>
          <a:p>
            <a:pPr indent="0" marL="0">
              <a:buNone/>
            </a:pPr>
            <a:r>
              <a:rPr lang="en-US" sz="3000" b="1" dirty="0">
                <a:solidFill>
                  <a:srgbClr val="1E293B"/>
                </a:solidFill>
              </a:rPr>
              <a:t>GCP Cloud Run Architecture</a:t>
            </a:r>
            <a:endParaRPr lang="en-US" sz="3000" dirty="0"/>
          </a:p>
        </p:txBody>
      </p:sp>
      <p:sp>
        <p:nvSpPr>
          <p:cNvPr id="5" name="Shape 3"/>
          <p:cNvSpPr/>
          <p:nvPr/>
        </p:nvSpPr>
        <p:spPr>
          <a:xfrm>
            <a:off x="182880" y="2011680"/>
            <a:ext cx="1188720" cy="640080"/>
          </a:xfrm>
          <a:prstGeom prst="roundRect">
            <a:avLst>
              <a:gd name="adj" fmla="val 14286"/>
            </a:avLst>
          </a:prstGeom>
          <a:solidFill>
            <a:srgbClr val="3B5BAD"/>
          </a:solidFill>
          <a:ln w="12700">
            <a:solidFill>
              <a:srgbClr val="3B5BAD">
                <a:alpha val="60000"/>
              </a:srgbClr>
            </a:solidFill>
            <a:prstDash val="solid"/>
          </a:ln>
        </p:spPr>
      </p:sp>
      <p:sp>
        <p:nvSpPr>
          <p:cNvPr id="6" name="Text 4"/>
          <p:cNvSpPr/>
          <p:nvPr/>
        </p:nvSpPr>
        <p:spPr>
          <a:xfrm>
            <a:off x="182880" y="2075688"/>
            <a:ext cx="1188720" cy="352044"/>
          </a:xfrm>
          <a:prstGeom prst="rect">
            <a:avLst/>
          </a:prstGeom>
          <a:noFill/>
          <a:ln/>
        </p:spPr>
        <p:txBody>
          <a:bodyPr wrap="square" lIns="0" tIns="0" rIns="0" bIns="0" rtlCol="0" anchor="ctr"/>
          <a:lstStyle/>
          <a:p>
            <a:pPr algn="ctr" indent="0" marL="0">
              <a:buNone/>
            </a:pPr>
            <a:r>
              <a:rPr lang="en-US" sz="1000" b="1" dirty="0">
                <a:solidFill>
                  <a:srgbClr val="FFFFFF"/>
                </a:solidFill>
              </a:rPr>
              <a:t>Browser</a:t>
            </a:r>
            <a:endParaRPr lang="en-US" sz="1000" dirty="0"/>
          </a:p>
        </p:txBody>
      </p:sp>
      <p:sp>
        <p:nvSpPr>
          <p:cNvPr id="7" name="Text 5"/>
          <p:cNvSpPr/>
          <p:nvPr/>
        </p:nvSpPr>
        <p:spPr>
          <a:xfrm>
            <a:off x="182880" y="2363724"/>
            <a:ext cx="1188720" cy="288036"/>
          </a:xfrm>
          <a:prstGeom prst="rect">
            <a:avLst/>
          </a:prstGeom>
          <a:noFill/>
          <a:ln/>
        </p:spPr>
        <p:txBody>
          <a:bodyPr wrap="square" lIns="0" tIns="0" rIns="0" bIns="0" rtlCol="0" anchor="ctr"/>
          <a:lstStyle/>
          <a:p>
            <a:pPr algn="ctr" indent="0" marL="0">
              <a:buNone/>
            </a:pPr>
            <a:r>
              <a:rPr lang="en-US" sz="800" dirty="0">
                <a:solidFill>
                  <a:srgbClr val="E0F2FE"/>
                </a:solidFill>
              </a:rPr>
              <a:t>HTTPS</a:t>
            </a:r>
            <a:endParaRPr lang="en-US" sz="800" dirty="0"/>
          </a:p>
        </p:txBody>
      </p:sp>
      <p:sp>
        <p:nvSpPr>
          <p:cNvPr id="8" name="Shape 6"/>
          <p:cNvSpPr/>
          <p:nvPr/>
        </p:nvSpPr>
        <p:spPr>
          <a:xfrm>
            <a:off x="1828800" y="1463040"/>
            <a:ext cx="2011680" cy="1645920"/>
          </a:xfrm>
          <a:prstGeom prst="roundRect">
            <a:avLst>
              <a:gd name="adj" fmla="val 5556"/>
            </a:avLst>
          </a:prstGeom>
          <a:solidFill>
            <a:srgbClr val="1A56DB"/>
          </a:solidFill>
          <a:ln w="12700">
            <a:solidFill>
              <a:srgbClr val="1A56DB">
                <a:alpha val="60000"/>
              </a:srgbClr>
            </a:solidFill>
            <a:prstDash val="solid"/>
          </a:ln>
        </p:spPr>
      </p:sp>
      <p:sp>
        <p:nvSpPr>
          <p:cNvPr id="9" name="Text 7"/>
          <p:cNvSpPr/>
          <p:nvPr/>
        </p:nvSpPr>
        <p:spPr>
          <a:xfrm>
            <a:off x="1828800" y="1527048"/>
            <a:ext cx="2011680" cy="905256"/>
          </a:xfrm>
          <a:prstGeom prst="rect">
            <a:avLst/>
          </a:prstGeom>
          <a:noFill/>
          <a:ln/>
        </p:spPr>
        <p:txBody>
          <a:bodyPr wrap="square" lIns="0" tIns="0" rIns="0" bIns="0" rtlCol="0" anchor="ctr"/>
          <a:lstStyle/>
          <a:p>
            <a:pPr algn="ctr" indent="0" marL="0">
              <a:buNone/>
            </a:pPr>
            <a:r>
              <a:rPr lang="en-US" sz="1000" b="1" dirty="0">
                <a:solidFill>
                  <a:srgbClr val="FFFFFF"/>
                </a:solidFill>
              </a:rPr>
              <a:t>Cloud Run</a:t>
            </a:r>
            <a:endParaRPr lang="en-US" sz="1000" dirty="0"/>
          </a:p>
        </p:txBody>
      </p:sp>
      <p:sp>
        <p:nvSpPr>
          <p:cNvPr id="10" name="Text 8"/>
          <p:cNvSpPr/>
          <p:nvPr/>
        </p:nvSpPr>
        <p:spPr>
          <a:xfrm>
            <a:off x="1828800" y="2368296"/>
            <a:ext cx="2011680" cy="740664"/>
          </a:xfrm>
          <a:prstGeom prst="rect">
            <a:avLst/>
          </a:prstGeom>
          <a:noFill/>
          <a:ln/>
        </p:spPr>
        <p:txBody>
          <a:bodyPr wrap="square" lIns="0" tIns="0" rIns="0" bIns="0" rtlCol="0" anchor="ctr"/>
          <a:lstStyle/>
          <a:p>
            <a:pPr algn="ctr" indent="0" marL="0">
              <a:buNone/>
            </a:pPr>
            <a:r>
              <a:rPr lang="en-US" sz="800" dirty="0">
                <a:solidFill>
                  <a:srgbClr val="E0F2FE"/>
                </a:solidFill>
              </a:rPr>
              <a:t>gen2 · FastAPI</a:t>
            </a:r>
            <a:endParaRPr lang="en-US" sz="800" dirty="0"/>
          </a:p>
          <a:p>
            <a:pPr algn="ctr" indent="0" marL="0">
              <a:buNone/>
            </a:pPr>
            <a:r>
              <a:rPr lang="en-US" sz="800" dirty="0">
                <a:solidFill>
                  <a:srgbClr val="E0F2FE"/>
                </a:solidFill>
              </a:rPr>
              <a:t>+ Next.js static</a:t>
            </a:r>
            <a:endParaRPr lang="en-US" sz="800" dirty="0"/>
          </a:p>
        </p:txBody>
      </p:sp>
      <p:sp>
        <p:nvSpPr>
          <p:cNvPr id="11" name="Shape 9"/>
          <p:cNvSpPr/>
          <p:nvPr/>
        </p:nvSpPr>
        <p:spPr>
          <a:xfrm>
            <a:off x="4389120" y="1005840"/>
            <a:ext cx="1554480" cy="594360"/>
          </a:xfrm>
          <a:prstGeom prst="roundRect">
            <a:avLst>
              <a:gd name="adj" fmla="val 15385"/>
            </a:avLst>
          </a:prstGeom>
          <a:solidFill>
            <a:srgbClr val="0891B2"/>
          </a:solidFill>
          <a:ln w="12700">
            <a:solidFill>
              <a:srgbClr val="0891B2">
                <a:alpha val="60000"/>
              </a:srgbClr>
            </a:solidFill>
            <a:prstDash val="solid"/>
          </a:ln>
        </p:spPr>
      </p:sp>
      <p:sp>
        <p:nvSpPr>
          <p:cNvPr id="12" name="Text 10"/>
          <p:cNvSpPr/>
          <p:nvPr/>
        </p:nvSpPr>
        <p:spPr>
          <a:xfrm>
            <a:off x="4389120" y="1069848"/>
            <a:ext cx="1554480" cy="326898"/>
          </a:xfrm>
          <a:prstGeom prst="rect">
            <a:avLst/>
          </a:prstGeom>
          <a:noFill/>
          <a:ln/>
        </p:spPr>
        <p:txBody>
          <a:bodyPr wrap="square" lIns="0" tIns="0" rIns="0" bIns="0" rtlCol="0" anchor="ctr"/>
          <a:lstStyle/>
          <a:p>
            <a:pPr algn="ctr" indent="0" marL="0">
              <a:buNone/>
            </a:pPr>
            <a:r>
              <a:rPr lang="en-US" sz="1000" b="1" dirty="0">
                <a:solidFill>
                  <a:srgbClr val="FFFFFF"/>
                </a:solidFill>
              </a:rPr>
              <a:t>Cloud SQL</a:t>
            </a:r>
            <a:endParaRPr lang="en-US" sz="1000" dirty="0"/>
          </a:p>
        </p:txBody>
      </p:sp>
      <p:sp>
        <p:nvSpPr>
          <p:cNvPr id="13" name="Text 11"/>
          <p:cNvSpPr/>
          <p:nvPr/>
        </p:nvSpPr>
        <p:spPr>
          <a:xfrm>
            <a:off x="4389120" y="1332738"/>
            <a:ext cx="1554480" cy="267462"/>
          </a:xfrm>
          <a:prstGeom prst="rect">
            <a:avLst/>
          </a:prstGeom>
          <a:noFill/>
          <a:ln/>
        </p:spPr>
        <p:txBody>
          <a:bodyPr wrap="square" lIns="0" tIns="0" rIns="0" bIns="0" rtlCol="0" anchor="ctr"/>
          <a:lstStyle/>
          <a:p>
            <a:pPr algn="ctr" indent="0" marL="0">
              <a:buNone/>
            </a:pPr>
            <a:r>
              <a:rPr lang="en-US" sz="800" dirty="0">
                <a:solidFill>
                  <a:srgbClr val="E0F2FE"/>
                </a:solidFill>
              </a:rPr>
              <a:t>PostgreSQL 15</a:t>
            </a:r>
            <a:endParaRPr lang="en-US" sz="800" dirty="0"/>
          </a:p>
          <a:p>
            <a:pPr algn="ctr" indent="0" marL="0">
              <a:buNone/>
            </a:pPr>
            <a:r>
              <a:rPr lang="en-US" sz="800" dirty="0">
                <a:solidFill>
                  <a:srgbClr val="E0F2FE"/>
                </a:solidFill>
              </a:rPr>
              <a:t>private IP</a:t>
            </a:r>
            <a:endParaRPr lang="en-US" sz="800" dirty="0"/>
          </a:p>
        </p:txBody>
      </p:sp>
      <p:sp>
        <p:nvSpPr>
          <p:cNvPr id="14" name="Shape 12"/>
          <p:cNvSpPr/>
          <p:nvPr/>
        </p:nvSpPr>
        <p:spPr>
          <a:xfrm>
            <a:off x="4389120" y="1783080"/>
            <a:ext cx="1554480" cy="594360"/>
          </a:xfrm>
          <a:prstGeom prst="roundRect">
            <a:avLst>
              <a:gd name="adj" fmla="val 15385"/>
            </a:avLst>
          </a:prstGeom>
          <a:solidFill>
            <a:srgbClr val="0891B2"/>
          </a:solidFill>
          <a:ln w="12700">
            <a:solidFill>
              <a:srgbClr val="0891B2">
                <a:alpha val="60000"/>
              </a:srgbClr>
            </a:solidFill>
            <a:prstDash val="solid"/>
          </a:ln>
        </p:spPr>
      </p:sp>
      <p:sp>
        <p:nvSpPr>
          <p:cNvPr id="15" name="Text 13"/>
          <p:cNvSpPr/>
          <p:nvPr/>
        </p:nvSpPr>
        <p:spPr>
          <a:xfrm>
            <a:off x="4389120" y="1847088"/>
            <a:ext cx="1554480" cy="326898"/>
          </a:xfrm>
          <a:prstGeom prst="rect">
            <a:avLst/>
          </a:prstGeom>
          <a:noFill/>
          <a:ln/>
        </p:spPr>
        <p:txBody>
          <a:bodyPr wrap="square" lIns="0" tIns="0" rIns="0" bIns="0" rtlCol="0" anchor="ctr"/>
          <a:lstStyle/>
          <a:p>
            <a:pPr algn="ctr" indent="0" marL="0">
              <a:buNone/>
            </a:pPr>
            <a:r>
              <a:rPr lang="en-US" sz="1000" b="1" dirty="0">
                <a:solidFill>
                  <a:srgbClr val="FFFFFF"/>
                </a:solidFill>
              </a:rPr>
              <a:t>Memorystore</a:t>
            </a:r>
            <a:endParaRPr lang="en-US" sz="1000" dirty="0"/>
          </a:p>
        </p:txBody>
      </p:sp>
      <p:sp>
        <p:nvSpPr>
          <p:cNvPr id="16" name="Text 14"/>
          <p:cNvSpPr/>
          <p:nvPr/>
        </p:nvSpPr>
        <p:spPr>
          <a:xfrm>
            <a:off x="4389120" y="2109978"/>
            <a:ext cx="1554480" cy="267462"/>
          </a:xfrm>
          <a:prstGeom prst="rect">
            <a:avLst/>
          </a:prstGeom>
          <a:noFill/>
          <a:ln/>
        </p:spPr>
        <p:txBody>
          <a:bodyPr wrap="square" lIns="0" tIns="0" rIns="0" bIns="0" rtlCol="0" anchor="ctr"/>
          <a:lstStyle/>
          <a:p>
            <a:pPr algn="ctr" indent="0" marL="0">
              <a:buNone/>
            </a:pPr>
            <a:r>
              <a:rPr lang="en-US" sz="800" dirty="0">
                <a:solidFill>
                  <a:srgbClr val="E0F2FE"/>
                </a:solidFill>
              </a:rPr>
              <a:t>Redis 7</a:t>
            </a:r>
            <a:endParaRPr lang="en-US" sz="800" dirty="0"/>
          </a:p>
          <a:p>
            <a:pPr algn="ctr" indent="0" marL="0">
              <a:buNone/>
            </a:pPr>
            <a:r>
              <a:rPr lang="en-US" sz="800" dirty="0">
                <a:solidFill>
                  <a:srgbClr val="E0F2FE"/>
                </a:solidFill>
              </a:rPr>
              <a:t>private host</a:t>
            </a:r>
            <a:endParaRPr lang="en-US" sz="800" dirty="0"/>
          </a:p>
        </p:txBody>
      </p:sp>
      <p:sp>
        <p:nvSpPr>
          <p:cNvPr id="17" name="Shape 15"/>
          <p:cNvSpPr/>
          <p:nvPr/>
        </p:nvSpPr>
        <p:spPr>
          <a:xfrm>
            <a:off x="4389120" y="2560320"/>
            <a:ext cx="1554480" cy="594360"/>
          </a:xfrm>
          <a:prstGeom prst="roundRect">
            <a:avLst>
              <a:gd name="adj" fmla="val 15385"/>
            </a:avLst>
          </a:prstGeom>
          <a:solidFill>
            <a:srgbClr val="6D28D9"/>
          </a:solidFill>
          <a:ln w="12700">
            <a:solidFill>
              <a:srgbClr val="6D28D9">
                <a:alpha val="60000"/>
              </a:srgbClr>
            </a:solidFill>
            <a:prstDash val="solid"/>
          </a:ln>
        </p:spPr>
      </p:sp>
      <p:sp>
        <p:nvSpPr>
          <p:cNvPr id="18" name="Text 16"/>
          <p:cNvSpPr/>
          <p:nvPr/>
        </p:nvSpPr>
        <p:spPr>
          <a:xfrm>
            <a:off x="4389120" y="2624328"/>
            <a:ext cx="1554480" cy="326898"/>
          </a:xfrm>
          <a:prstGeom prst="rect">
            <a:avLst/>
          </a:prstGeom>
          <a:noFill/>
          <a:ln/>
        </p:spPr>
        <p:txBody>
          <a:bodyPr wrap="square" lIns="0" tIns="0" rIns="0" bIns="0" rtlCol="0" anchor="ctr"/>
          <a:lstStyle/>
          <a:p>
            <a:pPr algn="ctr" indent="0" marL="0">
              <a:buNone/>
            </a:pPr>
            <a:r>
              <a:rPr lang="en-US" sz="1000" b="1" dirty="0">
                <a:solidFill>
                  <a:srgbClr val="FFFFFF"/>
                </a:solidFill>
              </a:rPr>
              <a:t>Secret Mgr</a:t>
            </a:r>
            <a:endParaRPr lang="en-US" sz="1000" dirty="0"/>
          </a:p>
        </p:txBody>
      </p:sp>
      <p:sp>
        <p:nvSpPr>
          <p:cNvPr id="19" name="Text 17"/>
          <p:cNvSpPr/>
          <p:nvPr/>
        </p:nvSpPr>
        <p:spPr>
          <a:xfrm>
            <a:off x="4389120" y="2887218"/>
            <a:ext cx="1554480" cy="267462"/>
          </a:xfrm>
          <a:prstGeom prst="rect">
            <a:avLst/>
          </a:prstGeom>
          <a:noFill/>
          <a:ln/>
        </p:spPr>
        <p:txBody>
          <a:bodyPr wrap="square" lIns="0" tIns="0" rIns="0" bIns="0" rtlCol="0" anchor="ctr"/>
          <a:lstStyle/>
          <a:p>
            <a:pPr algn="ctr" indent="0" marL="0">
              <a:buNone/>
            </a:pPr>
            <a:r>
              <a:rPr lang="en-US" sz="800" dirty="0">
                <a:solidFill>
                  <a:srgbClr val="E0F2FE"/>
                </a:solidFill>
              </a:rPr>
              <a:t>JWT key · API keys</a:t>
            </a:r>
            <a:endParaRPr lang="en-US" sz="800" dirty="0"/>
          </a:p>
          <a:p>
            <a:pPr algn="ctr" indent="0" marL="0">
              <a:buNone/>
            </a:pPr>
            <a:r>
              <a:rPr lang="en-US" sz="800" dirty="0">
                <a:solidFill>
                  <a:srgbClr val="E0F2FE"/>
                </a:solidFill>
              </a:rPr>
              <a:t>OAuth secrets</a:t>
            </a:r>
            <a:endParaRPr lang="en-US" sz="800" dirty="0"/>
          </a:p>
        </p:txBody>
      </p:sp>
      <p:sp>
        <p:nvSpPr>
          <p:cNvPr id="20" name="Shape 18"/>
          <p:cNvSpPr/>
          <p:nvPr/>
        </p:nvSpPr>
        <p:spPr>
          <a:xfrm>
            <a:off x="4389120" y="3337560"/>
            <a:ext cx="1554480" cy="594360"/>
          </a:xfrm>
          <a:prstGeom prst="roundRect">
            <a:avLst>
              <a:gd name="adj" fmla="val 15385"/>
            </a:avLst>
          </a:prstGeom>
          <a:solidFill>
            <a:srgbClr val="0D9488"/>
          </a:solidFill>
          <a:ln w="12700">
            <a:solidFill>
              <a:srgbClr val="0D9488">
                <a:alpha val="60000"/>
              </a:srgbClr>
            </a:solidFill>
            <a:prstDash val="solid"/>
          </a:ln>
        </p:spPr>
      </p:sp>
      <p:sp>
        <p:nvSpPr>
          <p:cNvPr id="21" name="Text 19"/>
          <p:cNvSpPr/>
          <p:nvPr/>
        </p:nvSpPr>
        <p:spPr>
          <a:xfrm>
            <a:off x="4389120" y="3401568"/>
            <a:ext cx="1554480" cy="326898"/>
          </a:xfrm>
          <a:prstGeom prst="rect">
            <a:avLst/>
          </a:prstGeom>
          <a:noFill/>
          <a:ln/>
        </p:spPr>
        <p:txBody>
          <a:bodyPr wrap="square" lIns="0" tIns="0" rIns="0" bIns="0" rtlCol="0" anchor="ctr"/>
          <a:lstStyle/>
          <a:p>
            <a:pPr algn="ctr" indent="0" marL="0">
              <a:buNone/>
            </a:pPr>
            <a:r>
              <a:rPr lang="en-US" sz="1000" b="1" dirty="0">
                <a:solidFill>
                  <a:srgbClr val="FFFFFF"/>
                </a:solidFill>
              </a:rPr>
              <a:t>Artifact Reg</a:t>
            </a:r>
            <a:endParaRPr lang="en-US" sz="1000" dirty="0"/>
          </a:p>
        </p:txBody>
      </p:sp>
      <p:sp>
        <p:nvSpPr>
          <p:cNvPr id="22" name="Text 20"/>
          <p:cNvSpPr/>
          <p:nvPr/>
        </p:nvSpPr>
        <p:spPr>
          <a:xfrm>
            <a:off x="4389120" y="3664458"/>
            <a:ext cx="1554480" cy="267462"/>
          </a:xfrm>
          <a:prstGeom prst="rect">
            <a:avLst/>
          </a:prstGeom>
          <a:noFill/>
          <a:ln/>
        </p:spPr>
        <p:txBody>
          <a:bodyPr wrap="square" lIns="0" tIns="0" rIns="0" bIns="0" rtlCol="0" anchor="ctr"/>
          <a:lstStyle/>
          <a:p>
            <a:pPr algn="ctr" indent="0" marL="0">
              <a:buNone/>
            </a:pPr>
            <a:r>
              <a:rPr lang="en-US" sz="800" dirty="0">
                <a:solidFill>
                  <a:srgbClr val="E0F2FE"/>
                </a:solidFill>
              </a:rPr>
              <a:t>Docker image</a:t>
            </a:r>
            <a:endParaRPr lang="en-US" sz="800" dirty="0"/>
          </a:p>
          <a:p>
            <a:pPr algn="ctr" indent="0" marL="0">
              <a:buNone/>
            </a:pPr>
            <a:r>
              <a:rPr lang="en-US" sz="800" dirty="0">
                <a:solidFill>
                  <a:srgbClr val="E0F2FE"/>
                </a:solidFill>
              </a:rPr>
              <a:t>build + push</a:t>
            </a:r>
            <a:endParaRPr lang="en-US" sz="800" dirty="0"/>
          </a:p>
        </p:txBody>
      </p:sp>
      <p:sp>
        <p:nvSpPr>
          <p:cNvPr id="23" name="Shape 21"/>
          <p:cNvSpPr/>
          <p:nvPr/>
        </p:nvSpPr>
        <p:spPr>
          <a:xfrm>
            <a:off x="6675120" y="1005840"/>
            <a:ext cx="2011680" cy="594360"/>
          </a:xfrm>
          <a:prstGeom prst="roundRect">
            <a:avLst>
              <a:gd name="adj" fmla="val 15385"/>
            </a:avLst>
          </a:prstGeom>
          <a:solidFill>
            <a:srgbClr val="1D4ED8"/>
          </a:solidFill>
          <a:ln w="12700">
            <a:solidFill>
              <a:srgbClr val="1D4ED8">
                <a:alpha val="60000"/>
              </a:srgbClr>
            </a:solidFill>
            <a:prstDash val="solid"/>
          </a:ln>
        </p:spPr>
      </p:sp>
      <p:sp>
        <p:nvSpPr>
          <p:cNvPr id="24" name="Text 22"/>
          <p:cNvSpPr/>
          <p:nvPr/>
        </p:nvSpPr>
        <p:spPr>
          <a:xfrm>
            <a:off x="6675120" y="1069848"/>
            <a:ext cx="2011680" cy="326898"/>
          </a:xfrm>
          <a:prstGeom prst="rect">
            <a:avLst/>
          </a:prstGeom>
          <a:noFill/>
          <a:ln/>
        </p:spPr>
        <p:txBody>
          <a:bodyPr wrap="square" lIns="0" tIns="0" rIns="0" bIns="0" rtlCol="0" anchor="ctr"/>
          <a:lstStyle/>
          <a:p>
            <a:pPr algn="ctr" indent="0" marL="0">
              <a:buNone/>
            </a:pPr>
            <a:r>
              <a:rPr lang="en-US" sz="1000" b="1" dirty="0">
                <a:solidFill>
                  <a:srgbClr val="FFFFFF"/>
                </a:solidFill>
              </a:rPr>
              <a:t>OpenRouter</a:t>
            </a:r>
            <a:endParaRPr lang="en-US" sz="1000" dirty="0"/>
          </a:p>
        </p:txBody>
      </p:sp>
      <p:sp>
        <p:nvSpPr>
          <p:cNvPr id="25" name="Text 23"/>
          <p:cNvSpPr/>
          <p:nvPr/>
        </p:nvSpPr>
        <p:spPr>
          <a:xfrm>
            <a:off x="6675120" y="1332738"/>
            <a:ext cx="2011680" cy="267462"/>
          </a:xfrm>
          <a:prstGeom prst="rect">
            <a:avLst/>
          </a:prstGeom>
          <a:noFill/>
          <a:ln/>
        </p:spPr>
        <p:txBody>
          <a:bodyPr wrap="square" lIns="0" tIns="0" rIns="0" bIns="0" rtlCol="0" anchor="ctr"/>
          <a:lstStyle/>
          <a:p>
            <a:pPr algn="ctr" indent="0" marL="0">
              <a:buNone/>
            </a:pPr>
            <a:r>
              <a:rPr lang="en-US" sz="800" dirty="0">
                <a:solidFill>
                  <a:srgbClr val="E0F2FE"/>
                </a:solidFill>
              </a:rPr>
              <a:t>gpt-4o-mini default</a:t>
            </a:r>
            <a:endParaRPr lang="en-US" sz="800" dirty="0"/>
          </a:p>
          <a:p>
            <a:pPr algn="ctr" indent="0" marL="0">
              <a:buNone/>
            </a:pPr>
            <a:r>
              <a:rPr lang="en-US" sz="800" dirty="0">
                <a:solidFill>
                  <a:srgbClr val="E0F2FE"/>
                </a:solidFill>
              </a:rPr>
              <a:t>gpt-4o fallback</a:t>
            </a:r>
            <a:endParaRPr lang="en-US" sz="800" dirty="0"/>
          </a:p>
        </p:txBody>
      </p:sp>
      <p:sp>
        <p:nvSpPr>
          <p:cNvPr id="26" name="Shape 24"/>
          <p:cNvSpPr/>
          <p:nvPr/>
        </p:nvSpPr>
        <p:spPr>
          <a:xfrm>
            <a:off x="6675120" y="1783080"/>
            <a:ext cx="2011680" cy="594360"/>
          </a:xfrm>
          <a:prstGeom prst="roundRect">
            <a:avLst>
              <a:gd name="adj" fmla="val 15385"/>
            </a:avLst>
          </a:prstGeom>
          <a:solidFill>
            <a:srgbClr val="1F2937"/>
          </a:solidFill>
          <a:ln w="12700">
            <a:solidFill>
              <a:srgbClr val="1F2937">
                <a:alpha val="60000"/>
              </a:srgbClr>
            </a:solidFill>
            <a:prstDash val="solid"/>
          </a:ln>
        </p:spPr>
      </p:sp>
      <p:sp>
        <p:nvSpPr>
          <p:cNvPr id="27" name="Text 25"/>
          <p:cNvSpPr/>
          <p:nvPr/>
        </p:nvSpPr>
        <p:spPr>
          <a:xfrm>
            <a:off x="6675120" y="1847088"/>
            <a:ext cx="2011680" cy="326898"/>
          </a:xfrm>
          <a:prstGeom prst="rect">
            <a:avLst/>
          </a:prstGeom>
          <a:noFill/>
          <a:ln/>
        </p:spPr>
        <p:txBody>
          <a:bodyPr wrap="square" lIns="0" tIns="0" rIns="0" bIns="0" rtlCol="0" anchor="ctr"/>
          <a:lstStyle/>
          <a:p>
            <a:pPr algn="ctr" indent="0" marL="0">
              <a:buNone/>
            </a:pPr>
            <a:r>
              <a:rPr lang="en-US" sz="1000" b="1" dirty="0">
                <a:solidFill>
                  <a:srgbClr val="FFFFFF"/>
                </a:solidFill>
              </a:rPr>
              <a:t>GitHub API</a:t>
            </a:r>
            <a:endParaRPr lang="en-US" sz="1000" dirty="0"/>
          </a:p>
        </p:txBody>
      </p:sp>
      <p:sp>
        <p:nvSpPr>
          <p:cNvPr id="28" name="Text 26"/>
          <p:cNvSpPr/>
          <p:nvPr/>
        </p:nvSpPr>
        <p:spPr>
          <a:xfrm>
            <a:off x="6675120" y="2109978"/>
            <a:ext cx="2011680" cy="267462"/>
          </a:xfrm>
          <a:prstGeom prst="rect">
            <a:avLst/>
          </a:prstGeom>
          <a:noFill/>
          <a:ln/>
        </p:spPr>
        <p:txBody>
          <a:bodyPr wrap="square" lIns="0" tIns="0" rIns="0" bIns="0" rtlCol="0" anchor="ctr"/>
          <a:lstStyle/>
          <a:p>
            <a:pPr algn="ctr" indent="0" marL="0">
              <a:buNone/>
            </a:pPr>
            <a:r>
              <a:rPr lang="en-US" sz="800" dirty="0">
                <a:solidFill>
                  <a:srgbClr val="E0F2FE"/>
                </a:solidFill>
              </a:rPr>
              <a:t>MCP: github.*</a:t>
            </a:r>
            <a:endParaRPr lang="en-US" sz="800" dirty="0"/>
          </a:p>
          <a:p>
            <a:pPr algn="ctr" indent="0" marL="0">
              <a:buNone/>
            </a:pPr>
            <a:r>
              <a:rPr lang="en-US" sz="800" dirty="0">
                <a:solidFill>
                  <a:srgbClr val="E0F2FE"/>
                </a:solidFill>
              </a:rPr>
              <a:t>tools</a:t>
            </a:r>
            <a:endParaRPr lang="en-US" sz="800" dirty="0"/>
          </a:p>
        </p:txBody>
      </p:sp>
      <p:sp>
        <p:nvSpPr>
          <p:cNvPr id="29" name="Shape 27"/>
          <p:cNvSpPr/>
          <p:nvPr/>
        </p:nvSpPr>
        <p:spPr>
          <a:xfrm>
            <a:off x="6675120" y="2560320"/>
            <a:ext cx="2011680" cy="594360"/>
          </a:xfrm>
          <a:prstGeom prst="roundRect">
            <a:avLst>
              <a:gd name="adj" fmla="val 15385"/>
            </a:avLst>
          </a:prstGeom>
          <a:solidFill>
            <a:srgbClr val="374151"/>
          </a:solidFill>
          <a:ln w="12700">
            <a:solidFill>
              <a:srgbClr val="374151">
                <a:alpha val="60000"/>
              </a:srgbClr>
            </a:solidFill>
            <a:prstDash val="solid"/>
          </a:ln>
        </p:spPr>
      </p:sp>
      <p:sp>
        <p:nvSpPr>
          <p:cNvPr id="30" name="Text 28"/>
          <p:cNvSpPr/>
          <p:nvPr/>
        </p:nvSpPr>
        <p:spPr>
          <a:xfrm>
            <a:off x="6675120" y="2624328"/>
            <a:ext cx="2011680" cy="326898"/>
          </a:xfrm>
          <a:prstGeom prst="rect">
            <a:avLst/>
          </a:prstGeom>
          <a:noFill/>
          <a:ln/>
        </p:spPr>
        <p:txBody>
          <a:bodyPr wrap="square" lIns="0" tIns="0" rIns="0" bIns="0" rtlCol="0" anchor="ctr"/>
          <a:lstStyle/>
          <a:p>
            <a:pPr algn="ctr" indent="0" marL="0">
              <a:buNone/>
            </a:pPr>
            <a:r>
              <a:rPr lang="en-US" sz="1000" b="1" dirty="0">
                <a:solidFill>
                  <a:srgbClr val="FFFFFF"/>
                </a:solidFill>
              </a:rPr>
              <a:t>Notion API</a:t>
            </a:r>
            <a:endParaRPr lang="en-US" sz="1000" dirty="0"/>
          </a:p>
        </p:txBody>
      </p:sp>
      <p:sp>
        <p:nvSpPr>
          <p:cNvPr id="31" name="Text 29"/>
          <p:cNvSpPr/>
          <p:nvPr/>
        </p:nvSpPr>
        <p:spPr>
          <a:xfrm>
            <a:off x="6675120" y="2887218"/>
            <a:ext cx="2011680" cy="267462"/>
          </a:xfrm>
          <a:prstGeom prst="rect">
            <a:avLst/>
          </a:prstGeom>
          <a:noFill/>
          <a:ln/>
        </p:spPr>
        <p:txBody>
          <a:bodyPr wrap="square" lIns="0" tIns="0" rIns="0" bIns="0" rtlCol="0" anchor="ctr"/>
          <a:lstStyle/>
          <a:p>
            <a:pPr algn="ctr" indent="0" marL="0">
              <a:buNone/>
            </a:pPr>
            <a:r>
              <a:rPr lang="en-US" sz="800" dirty="0">
                <a:solidFill>
                  <a:srgbClr val="E0F2FE"/>
                </a:solidFill>
              </a:rPr>
              <a:t>MCP: notion.*</a:t>
            </a:r>
            <a:endParaRPr lang="en-US" sz="800" dirty="0"/>
          </a:p>
          <a:p>
            <a:pPr algn="ctr" indent="0" marL="0">
              <a:buNone/>
            </a:pPr>
            <a:r>
              <a:rPr lang="en-US" sz="800" dirty="0">
                <a:solidFill>
                  <a:srgbClr val="E0F2FE"/>
                </a:solidFill>
              </a:rPr>
              <a:t>tools</a:t>
            </a:r>
            <a:endParaRPr lang="en-US" sz="800" dirty="0"/>
          </a:p>
        </p:txBody>
      </p:sp>
      <p:sp>
        <p:nvSpPr>
          <p:cNvPr id="32" name="Shape 30"/>
          <p:cNvSpPr/>
          <p:nvPr/>
        </p:nvSpPr>
        <p:spPr>
          <a:xfrm>
            <a:off x="6675120" y="3337560"/>
            <a:ext cx="2011680" cy="594360"/>
          </a:xfrm>
          <a:prstGeom prst="roundRect">
            <a:avLst>
              <a:gd name="adj" fmla="val 15385"/>
            </a:avLst>
          </a:prstGeom>
          <a:solidFill>
            <a:srgbClr val="DC2626"/>
          </a:solidFill>
          <a:ln w="12700">
            <a:solidFill>
              <a:srgbClr val="DC2626">
                <a:alpha val="60000"/>
              </a:srgbClr>
            </a:solidFill>
            <a:prstDash val="solid"/>
          </a:ln>
        </p:spPr>
      </p:sp>
      <p:sp>
        <p:nvSpPr>
          <p:cNvPr id="33" name="Text 31"/>
          <p:cNvSpPr/>
          <p:nvPr/>
        </p:nvSpPr>
        <p:spPr>
          <a:xfrm>
            <a:off x="6675120" y="3401568"/>
            <a:ext cx="2011680" cy="326898"/>
          </a:xfrm>
          <a:prstGeom prst="rect">
            <a:avLst/>
          </a:prstGeom>
          <a:noFill/>
          <a:ln/>
        </p:spPr>
        <p:txBody>
          <a:bodyPr wrap="square" lIns="0" tIns="0" rIns="0" bIns="0" rtlCol="0" anchor="ctr"/>
          <a:lstStyle/>
          <a:p>
            <a:pPr algn="ctr" indent="0" marL="0">
              <a:buNone/>
            </a:pPr>
            <a:r>
              <a:rPr lang="en-US" sz="1000" b="1" dirty="0">
                <a:solidFill>
                  <a:srgbClr val="FFFFFF"/>
                </a:solidFill>
              </a:rPr>
              <a:t>Google APIs</a:t>
            </a:r>
            <a:endParaRPr lang="en-US" sz="1000" dirty="0"/>
          </a:p>
        </p:txBody>
      </p:sp>
      <p:sp>
        <p:nvSpPr>
          <p:cNvPr id="34" name="Text 32"/>
          <p:cNvSpPr/>
          <p:nvPr/>
        </p:nvSpPr>
        <p:spPr>
          <a:xfrm>
            <a:off x="6675120" y="3664458"/>
            <a:ext cx="2011680" cy="267462"/>
          </a:xfrm>
          <a:prstGeom prst="rect">
            <a:avLst/>
          </a:prstGeom>
          <a:noFill/>
          <a:ln/>
        </p:spPr>
        <p:txBody>
          <a:bodyPr wrap="square" lIns="0" tIns="0" rIns="0" bIns="0" rtlCol="0" anchor="ctr"/>
          <a:lstStyle/>
          <a:p>
            <a:pPr algn="ctr" indent="0" marL="0">
              <a:buNone/>
            </a:pPr>
            <a:r>
              <a:rPr lang="en-US" sz="800" dirty="0">
                <a:solidFill>
                  <a:srgbClr val="E0F2FE"/>
                </a:solidFill>
              </a:rPr>
              <a:t>OAuth + Calendar</a:t>
            </a:r>
            <a:endParaRPr lang="en-US" sz="800" dirty="0"/>
          </a:p>
          <a:p>
            <a:pPr algn="ctr" indent="0" marL="0">
              <a:buNone/>
            </a:pPr>
            <a:r>
              <a:rPr lang="en-US" sz="800" dirty="0">
                <a:solidFill>
                  <a:srgbClr val="E0F2FE"/>
                </a:solidFill>
              </a:rPr>
              <a:t>+ Gmail</a:t>
            </a:r>
            <a:endParaRPr lang="en-US" sz="800" dirty="0"/>
          </a:p>
        </p:txBody>
      </p:sp>
      <p:sp>
        <p:nvSpPr>
          <p:cNvPr id="35" name="Shape 33"/>
          <p:cNvSpPr/>
          <p:nvPr/>
        </p:nvSpPr>
        <p:spPr>
          <a:xfrm>
            <a:off x="1371600" y="2331720"/>
            <a:ext cx="457200" cy="-45720"/>
          </a:xfrm>
          <a:prstGeom prst="line">
            <a:avLst/>
          </a:prstGeom>
          <a:noFill/>
          <a:ln w="15240">
            <a:solidFill>
              <a:srgbClr val="94A3B8"/>
            </a:solidFill>
            <a:prstDash val="sysDash"/>
          </a:ln>
        </p:spPr>
      </p:sp>
      <p:sp>
        <p:nvSpPr>
          <p:cNvPr id="36" name="Shape 34"/>
          <p:cNvSpPr/>
          <p:nvPr/>
        </p:nvSpPr>
        <p:spPr>
          <a:xfrm>
            <a:off x="3840480" y="1874520"/>
            <a:ext cx="548640" cy="-566928"/>
          </a:xfrm>
          <a:prstGeom prst="line">
            <a:avLst/>
          </a:prstGeom>
          <a:noFill/>
          <a:ln w="15240">
            <a:solidFill>
              <a:srgbClr val="94A3B8"/>
            </a:solidFill>
            <a:prstDash val="sysDash"/>
          </a:ln>
        </p:spPr>
      </p:sp>
      <p:sp>
        <p:nvSpPr>
          <p:cNvPr id="37" name="Shape 35"/>
          <p:cNvSpPr/>
          <p:nvPr/>
        </p:nvSpPr>
        <p:spPr>
          <a:xfrm>
            <a:off x="3840480" y="2103120"/>
            <a:ext cx="548640" cy="-18288"/>
          </a:xfrm>
          <a:prstGeom prst="line">
            <a:avLst/>
          </a:prstGeom>
          <a:noFill/>
          <a:ln w="15240">
            <a:solidFill>
              <a:srgbClr val="94A3B8"/>
            </a:solidFill>
            <a:prstDash val="sysDash"/>
          </a:ln>
        </p:spPr>
      </p:sp>
      <p:sp>
        <p:nvSpPr>
          <p:cNvPr id="38" name="Shape 36"/>
          <p:cNvSpPr/>
          <p:nvPr/>
        </p:nvSpPr>
        <p:spPr>
          <a:xfrm>
            <a:off x="3840480" y="2331720"/>
            <a:ext cx="548640" cy="530352"/>
          </a:xfrm>
          <a:prstGeom prst="line">
            <a:avLst/>
          </a:prstGeom>
          <a:noFill/>
          <a:ln w="15240">
            <a:solidFill>
              <a:srgbClr val="94A3B8"/>
            </a:solidFill>
            <a:prstDash val="sysDash"/>
          </a:ln>
        </p:spPr>
      </p:sp>
      <p:sp>
        <p:nvSpPr>
          <p:cNvPr id="39" name="Shape 37"/>
          <p:cNvSpPr/>
          <p:nvPr/>
        </p:nvSpPr>
        <p:spPr>
          <a:xfrm>
            <a:off x="3840480" y="2011680"/>
            <a:ext cx="548640" cy="1627632"/>
          </a:xfrm>
          <a:prstGeom prst="line">
            <a:avLst/>
          </a:prstGeom>
          <a:noFill/>
          <a:ln w="15240">
            <a:solidFill>
              <a:srgbClr val="94A3B8"/>
            </a:solidFill>
            <a:prstDash val="sysDash"/>
          </a:ln>
        </p:spPr>
      </p:sp>
      <p:sp>
        <p:nvSpPr>
          <p:cNvPr id="40" name="Shape 38"/>
          <p:cNvSpPr/>
          <p:nvPr/>
        </p:nvSpPr>
        <p:spPr>
          <a:xfrm>
            <a:off x="3840480" y="2011680"/>
            <a:ext cx="2834640" cy="-704088"/>
          </a:xfrm>
          <a:prstGeom prst="line">
            <a:avLst/>
          </a:prstGeom>
          <a:noFill/>
          <a:ln w="15240">
            <a:solidFill>
              <a:srgbClr val="94A3B8"/>
            </a:solidFill>
            <a:prstDash val="sysDash"/>
          </a:ln>
        </p:spPr>
      </p:sp>
      <p:sp>
        <p:nvSpPr>
          <p:cNvPr id="41" name="Shape 39"/>
          <p:cNvSpPr/>
          <p:nvPr/>
        </p:nvSpPr>
        <p:spPr>
          <a:xfrm>
            <a:off x="3840480" y="2103120"/>
            <a:ext cx="2834640" cy="-18288"/>
          </a:xfrm>
          <a:prstGeom prst="line">
            <a:avLst/>
          </a:prstGeom>
          <a:noFill/>
          <a:ln w="15240">
            <a:solidFill>
              <a:srgbClr val="94A3B8"/>
            </a:solidFill>
            <a:prstDash val="sysDash"/>
          </a:ln>
        </p:spPr>
      </p:sp>
      <p:sp>
        <p:nvSpPr>
          <p:cNvPr id="42" name="Shape 40"/>
          <p:cNvSpPr/>
          <p:nvPr/>
        </p:nvSpPr>
        <p:spPr>
          <a:xfrm>
            <a:off x="3840480" y="2331720"/>
            <a:ext cx="2834640" cy="530352"/>
          </a:xfrm>
          <a:prstGeom prst="line">
            <a:avLst/>
          </a:prstGeom>
          <a:noFill/>
          <a:ln w="15240">
            <a:solidFill>
              <a:srgbClr val="94A3B8"/>
            </a:solidFill>
            <a:prstDash val="sysDash"/>
          </a:ln>
        </p:spPr>
      </p:sp>
      <p:sp>
        <p:nvSpPr>
          <p:cNvPr id="43" name="Shape 41"/>
          <p:cNvSpPr/>
          <p:nvPr/>
        </p:nvSpPr>
        <p:spPr>
          <a:xfrm>
            <a:off x="3840480" y="2468880"/>
            <a:ext cx="2834640" cy="1170432"/>
          </a:xfrm>
          <a:prstGeom prst="line">
            <a:avLst/>
          </a:prstGeom>
          <a:noFill/>
          <a:ln w="15240">
            <a:solidFill>
              <a:srgbClr val="94A3B8"/>
            </a:solidFill>
            <a:prstDash val="sysDash"/>
          </a:ln>
        </p:spPr>
      </p:sp>
      <p:sp>
        <p:nvSpPr>
          <p:cNvPr id="44" name="Shape 42"/>
          <p:cNvSpPr/>
          <p:nvPr/>
        </p:nvSpPr>
        <p:spPr>
          <a:xfrm>
            <a:off x="3749040" y="1554480"/>
            <a:ext cx="594360" cy="1920240"/>
          </a:xfrm>
          <a:prstGeom prst="roundRect">
            <a:avLst>
              <a:gd name="adj" fmla="val 12308"/>
            </a:avLst>
          </a:prstGeom>
          <a:solidFill>
            <a:srgbClr val="0891B2">
              <a:alpha val="10000"/>
            </a:srgbClr>
          </a:solidFill>
          <a:ln w="6350">
            <a:solidFill>
              <a:srgbClr val="0891B2"/>
            </a:solidFill>
            <a:prstDash val="sysDash"/>
          </a:ln>
        </p:spPr>
      </p:sp>
      <p:sp>
        <p:nvSpPr>
          <p:cNvPr id="45" name="Text 43"/>
          <p:cNvSpPr/>
          <p:nvPr/>
        </p:nvSpPr>
        <p:spPr>
          <a:xfrm>
            <a:off x="3767328" y="1920240"/>
            <a:ext cx="548640" cy="822960"/>
          </a:xfrm>
          <a:prstGeom prst="rect">
            <a:avLst/>
          </a:prstGeom>
          <a:noFill/>
          <a:ln/>
        </p:spPr>
        <p:txBody>
          <a:bodyPr wrap="square" rtlCol="0" anchor="ctr"/>
          <a:lstStyle/>
          <a:p>
            <a:pPr algn="ctr" indent="0" marL="0">
              <a:buNone/>
            </a:pPr>
            <a:r>
              <a:rPr lang="en-US" sz="750" b="1" dirty="0">
                <a:solidFill>
                  <a:srgbClr val="0891B2"/>
                </a:solidFill>
              </a:rPr>
              <a:t>VPC</a:t>
            </a:r>
            <a:endParaRPr lang="en-US" sz="750" dirty="0"/>
          </a:p>
          <a:p>
            <a:pPr algn="ctr" indent="0" marL="0">
              <a:buNone/>
            </a:pPr>
            <a:r>
              <a:rPr lang="en-US" sz="750" b="1" dirty="0">
                <a:solidFill>
                  <a:srgbClr val="0891B2"/>
                </a:solidFill>
              </a:rPr>
              <a:t>Connector</a:t>
            </a:r>
            <a:endParaRPr lang="en-US" sz="750" dirty="0"/>
          </a:p>
        </p:txBody>
      </p:sp>
      <p:sp>
        <p:nvSpPr>
          <p:cNvPr id="46" name="Text 44"/>
          <p:cNvSpPr/>
          <p:nvPr/>
        </p:nvSpPr>
        <p:spPr>
          <a:xfrm>
            <a:off x="411480" y="4709160"/>
            <a:ext cx="8321040" cy="256032"/>
          </a:xfrm>
          <a:prstGeom prst="rect">
            <a:avLst/>
          </a:prstGeom>
          <a:noFill/>
          <a:ln/>
        </p:spPr>
        <p:txBody>
          <a:bodyPr wrap="square" rtlCol="0" anchor="ctr"/>
          <a:lstStyle/>
          <a:p>
            <a:pPr algn="ctr" indent="0" marL="0">
              <a:buNone/>
            </a:pPr>
            <a:r>
              <a:rPr lang="en-US" sz="850" dirty="0">
                <a:solidFill>
                  <a:srgbClr val="94A3B8"/>
                </a:solidFill>
              </a:rPr>
              <a:t>Private RFC1918 traffic (SQL/Redis) via VPC connector  ·  External API calls via Cloud Run default internet path  ·  Secrets injected from Secret Manager at start</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F3D"/>
        </a:solidFill>
      </p:bgPr>
    </p:bg>
    <p:spTree>
      <p:nvGrpSpPr>
        <p:cNvPr id="1" name=""/>
        <p:cNvGrpSpPr/>
        <p:nvPr/>
      </p:nvGrpSpPr>
      <p:grpSpPr>
        <a:xfrm>
          <a:off x="0" y="0"/>
          <a:ext cx="0" cy="0"/>
          <a:chOff x="0" y="0"/>
          <a:chExt cx="0" cy="0"/>
        </a:xfrm>
      </p:grpSpPr>
      <p:sp>
        <p:nvSpPr>
          <p:cNvPr id="2" name="Shape 0"/>
          <p:cNvSpPr/>
          <p:nvPr/>
        </p:nvSpPr>
        <p:spPr>
          <a:xfrm>
            <a:off x="411480" y="201168"/>
            <a:ext cx="1645920" cy="256032"/>
          </a:xfrm>
          <a:prstGeom prst="roundRect">
            <a:avLst>
              <a:gd name="adj" fmla="val 50000"/>
            </a:avLst>
          </a:prstGeom>
          <a:solidFill>
            <a:srgbClr val="1A56DB">
              <a:alpha val="15000"/>
            </a:srgbClr>
          </a:solidFill>
          <a:ln w="6350">
            <a:solidFill>
              <a:srgbClr val="1A56DB"/>
            </a:solidFill>
            <a:prstDash val="solid"/>
          </a:ln>
        </p:spPr>
      </p:sp>
      <p:sp>
        <p:nvSpPr>
          <p:cNvPr id="3" name="Text 1"/>
          <p:cNvSpPr/>
          <p:nvPr/>
        </p:nvSpPr>
        <p:spPr>
          <a:xfrm>
            <a:off x="411480" y="201168"/>
            <a:ext cx="1645920" cy="256032"/>
          </a:xfrm>
          <a:prstGeom prst="rect">
            <a:avLst/>
          </a:prstGeom>
          <a:noFill/>
          <a:ln/>
        </p:spPr>
        <p:txBody>
          <a:bodyPr wrap="square" lIns="0" tIns="0" rIns="0" bIns="0" rtlCol="0" anchor="ctr"/>
          <a:lstStyle/>
          <a:p>
            <a:pPr algn="ctr" indent="0" marL="0">
              <a:buNone/>
            </a:pPr>
            <a:r>
              <a:rPr lang="en-US" sz="900" b="1" dirty="0">
                <a:solidFill>
                  <a:srgbClr val="1A56DB"/>
                </a:solidFill>
              </a:rPr>
              <a:t>TERRAFORM</a:t>
            </a:r>
            <a:endParaRPr lang="en-US" sz="900" dirty="0"/>
          </a:p>
        </p:txBody>
      </p:sp>
      <p:sp>
        <p:nvSpPr>
          <p:cNvPr id="4" name="Text 2"/>
          <p:cNvSpPr/>
          <p:nvPr/>
        </p:nvSpPr>
        <p:spPr>
          <a:xfrm>
            <a:off x="411480" y="502920"/>
            <a:ext cx="8321040" cy="640080"/>
          </a:xfrm>
          <a:prstGeom prst="rect">
            <a:avLst/>
          </a:prstGeom>
          <a:noFill/>
          <a:ln/>
        </p:spPr>
        <p:txBody>
          <a:bodyPr wrap="square" rtlCol="0" anchor="ctr"/>
          <a:lstStyle/>
          <a:p>
            <a:pPr indent="0" marL="0">
              <a:buNone/>
            </a:pPr>
            <a:r>
              <a:rPr lang="en-US" sz="3000" b="1" dirty="0">
                <a:solidFill>
                  <a:srgbClr val="FFFFFF"/>
                </a:solidFill>
              </a:rPr>
              <a:t>Terraform Module &amp; Deploy Steps</a:t>
            </a:r>
            <a:endParaRPr lang="en-US" sz="3000" dirty="0"/>
          </a:p>
        </p:txBody>
      </p:sp>
      <p:sp>
        <p:nvSpPr>
          <p:cNvPr id="5" name="Shape 3"/>
          <p:cNvSpPr/>
          <p:nvPr/>
        </p:nvSpPr>
        <p:spPr>
          <a:xfrm>
            <a:off x="411480" y="1234440"/>
            <a:ext cx="4023360" cy="3108960"/>
          </a:xfrm>
          <a:prstGeom prst="rect">
            <a:avLst/>
          </a:prstGeom>
          <a:solidFill>
            <a:srgbClr val="0D2137"/>
          </a:solidFill>
          <a:ln w="6350">
            <a:solidFill>
              <a:srgbClr val="E2E8F0"/>
            </a:solidFill>
            <a:prstDash val="solid"/>
          </a:ln>
        </p:spPr>
      </p:sp>
      <p:sp>
        <p:nvSpPr>
          <p:cNvPr id="6" name="Text 4"/>
          <p:cNvSpPr/>
          <p:nvPr/>
        </p:nvSpPr>
        <p:spPr>
          <a:xfrm>
            <a:off x="594360" y="1353312"/>
            <a:ext cx="3657600" cy="228600"/>
          </a:xfrm>
          <a:prstGeom prst="rect">
            <a:avLst/>
          </a:prstGeom>
          <a:noFill/>
          <a:ln/>
        </p:spPr>
        <p:txBody>
          <a:bodyPr wrap="square" rtlCol="0" anchor="ctr"/>
          <a:lstStyle/>
          <a:p>
            <a:pPr indent="0" marL="0">
              <a:buNone/>
            </a:pPr>
            <a:r>
              <a:rPr lang="en-US" sz="850" b="1" spc="200" kern="0" dirty="0">
                <a:solidFill>
                  <a:srgbClr val="06B6D4"/>
                </a:solidFill>
              </a:rPr>
              <a:t>TERRAFORM FILES</a:t>
            </a:r>
            <a:endParaRPr lang="en-US" sz="850" dirty="0"/>
          </a:p>
        </p:txBody>
      </p:sp>
      <p:sp>
        <p:nvSpPr>
          <p:cNvPr id="7" name="Text 5"/>
          <p:cNvSpPr/>
          <p:nvPr/>
        </p:nvSpPr>
        <p:spPr>
          <a:xfrm>
            <a:off x="594360" y="1691640"/>
            <a:ext cx="1371600" cy="310896"/>
          </a:xfrm>
          <a:prstGeom prst="rect">
            <a:avLst/>
          </a:prstGeom>
          <a:noFill/>
          <a:ln/>
        </p:spPr>
        <p:txBody>
          <a:bodyPr wrap="square" rtlCol="0" anchor="ctr"/>
          <a:lstStyle/>
          <a:p>
            <a:pPr indent="0" marL="0">
              <a:buNone/>
            </a:pPr>
            <a:r>
              <a:rPr lang="en-US" sz="1000" b="1" dirty="0">
                <a:solidFill>
                  <a:srgbClr val="06B6D4"/>
                </a:solidFill>
              </a:rPr>
              <a:t>main.tf</a:t>
            </a:r>
            <a:endParaRPr lang="en-US" sz="1000" dirty="0"/>
          </a:p>
        </p:txBody>
      </p:sp>
      <p:sp>
        <p:nvSpPr>
          <p:cNvPr id="8" name="Text 6"/>
          <p:cNvSpPr/>
          <p:nvPr/>
        </p:nvSpPr>
        <p:spPr>
          <a:xfrm>
            <a:off x="2011680" y="1691640"/>
            <a:ext cx="2286000" cy="310896"/>
          </a:xfrm>
          <a:prstGeom prst="rect">
            <a:avLst/>
          </a:prstGeom>
          <a:noFill/>
          <a:ln/>
        </p:spPr>
        <p:txBody>
          <a:bodyPr wrap="square" rtlCol="0" anchor="ctr"/>
          <a:lstStyle/>
          <a:p>
            <a:pPr indent="0" marL="0">
              <a:buNone/>
            </a:pPr>
            <a:r>
              <a:rPr lang="en-US" sz="950" dirty="0">
                <a:solidFill>
                  <a:srgbClr val="9ECFFF"/>
                </a:solidFill>
              </a:rPr>
              <a:t>Cloud Run · Artifact Registry · IAM · Docker build</a:t>
            </a:r>
            <a:endParaRPr lang="en-US" sz="950" dirty="0"/>
          </a:p>
        </p:txBody>
      </p:sp>
      <p:sp>
        <p:nvSpPr>
          <p:cNvPr id="9" name="Text 7"/>
          <p:cNvSpPr/>
          <p:nvPr/>
        </p:nvSpPr>
        <p:spPr>
          <a:xfrm>
            <a:off x="594360" y="2029968"/>
            <a:ext cx="1371600" cy="310896"/>
          </a:xfrm>
          <a:prstGeom prst="rect">
            <a:avLst/>
          </a:prstGeom>
          <a:noFill/>
          <a:ln/>
        </p:spPr>
        <p:txBody>
          <a:bodyPr wrap="square" rtlCol="0" anchor="ctr"/>
          <a:lstStyle/>
          <a:p>
            <a:pPr indent="0" marL="0">
              <a:buNone/>
            </a:pPr>
            <a:r>
              <a:rPr lang="en-US" sz="1000" b="1" dirty="0">
                <a:solidFill>
                  <a:srgbClr val="06B6D4"/>
                </a:solidFill>
              </a:rPr>
              <a:t>network.tf</a:t>
            </a:r>
            <a:endParaRPr lang="en-US" sz="1000" dirty="0"/>
          </a:p>
        </p:txBody>
      </p:sp>
      <p:sp>
        <p:nvSpPr>
          <p:cNvPr id="10" name="Text 8"/>
          <p:cNvSpPr/>
          <p:nvPr/>
        </p:nvSpPr>
        <p:spPr>
          <a:xfrm>
            <a:off x="2011680" y="2029968"/>
            <a:ext cx="2286000" cy="310896"/>
          </a:xfrm>
          <a:prstGeom prst="rect">
            <a:avLst/>
          </a:prstGeom>
          <a:noFill/>
          <a:ln/>
        </p:spPr>
        <p:txBody>
          <a:bodyPr wrap="square" rtlCol="0" anchor="ctr"/>
          <a:lstStyle/>
          <a:p>
            <a:pPr indent="0" marL="0">
              <a:buNone/>
            </a:pPr>
            <a:r>
              <a:rPr lang="en-US" sz="950" dirty="0">
                <a:solidFill>
                  <a:srgbClr val="9ECFFF"/>
                </a:solidFill>
              </a:rPr>
              <a:t>VPC · subnet · PSA range · VPC connector</a:t>
            </a:r>
            <a:endParaRPr lang="en-US" sz="950" dirty="0"/>
          </a:p>
        </p:txBody>
      </p:sp>
      <p:sp>
        <p:nvSpPr>
          <p:cNvPr id="11" name="Text 9"/>
          <p:cNvSpPr/>
          <p:nvPr/>
        </p:nvSpPr>
        <p:spPr>
          <a:xfrm>
            <a:off x="594360" y="2368296"/>
            <a:ext cx="1371600" cy="310896"/>
          </a:xfrm>
          <a:prstGeom prst="rect">
            <a:avLst/>
          </a:prstGeom>
          <a:noFill/>
          <a:ln/>
        </p:spPr>
        <p:txBody>
          <a:bodyPr wrap="square" rtlCol="0" anchor="ctr"/>
          <a:lstStyle/>
          <a:p>
            <a:pPr indent="0" marL="0">
              <a:buNone/>
            </a:pPr>
            <a:r>
              <a:rPr lang="en-US" sz="1000" b="1" dirty="0">
                <a:solidFill>
                  <a:srgbClr val="06B6D4"/>
                </a:solidFill>
              </a:rPr>
              <a:t>cloudsql.tf</a:t>
            </a:r>
            <a:endParaRPr lang="en-US" sz="1000" dirty="0"/>
          </a:p>
        </p:txBody>
      </p:sp>
      <p:sp>
        <p:nvSpPr>
          <p:cNvPr id="12" name="Text 10"/>
          <p:cNvSpPr/>
          <p:nvPr/>
        </p:nvSpPr>
        <p:spPr>
          <a:xfrm>
            <a:off x="2011680" y="2368296"/>
            <a:ext cx="2286000" cy="310896"/>
          </a:xfrm>
          <a:prstGeom prst="rect">
            <a:avLst/>
          </a:prstGeom>
          <a:noFill/>
          <a:ln/>
        </p:spPr>
        <p:txBody>
          <a:bodyPr wrap="square" rtlCol="0" anchor="ctr"/>
          <a:lstStyle/>
          <a:p>
            <a:pPr indent="0" marL="0">
              <a:buNone/>
            </a:pPr>
            <a:r>
              <a:rPr lang="en-US" sz="950" dirty="0">
                <a:solidFill>
                  <a:srgbClr val="9ECFFF"/>
                </a:solidFill>
              </a:rPr>
              <a:t>Cloud SQL PostgreSQL 15 · private IP · user</a:t>
            </a:r>
            <a:endParaRPr lang="en-US" sz="950" dirty="0"/>
          </a:p>
        </p:txBody>
      </p:sp>
      <p:sp>
        <p:nvSpPr>
          <p:cNvPr id="13" name="Text 11"/>
          <p:cNvSpPr/>
          <p:nvPr/>
        </p:nvSpPr>
        <p:spPr>
          <a:xfrm>
            <a:off x="594360" y="2706624"/>
            <a:ext cx="1371600" cy="310896"/>
          </a:xfrm>
          <a:prstGeom prst="rect">
            <a:avLst/>
          </a:prstGeom>
          <a:noFill/>
          <a:ln/>
        </p:spPr>
        <p:txBody>
          <a:bodyPr wrap="square" rtlCol="0" anchor="ctr"/>
          <a:lstStyle/>
          <a:p>
            <a:pPr indent="0" marL="0">
              <a:buNone/>
            </a:pPr>
            <a:r>
              <a:rPr lang="en-US" sz="1000" b="1" dirty="0">
                <a:solidFill>
                  <a:srgbClr val="06B6D4"/>
                </a:solidFill>
              </a:rPr>
              <a:t>redis.tf</a:t>
            </a:r>
            <a:endParaRPr lang="en-US" sz="1000" dirty="0"/>
          </a:p>
        </p:txBody>
      </p:sp>
      <p:sp>
        <p:nvSpPr>
          <p:cNvPr id="14" name="Text 12"/>
          <p:cNvSpPr/>
          <p:nvPr/>
        </p:nvSpPr>
        <p:spPr>
          <a:xfrm>
            <a:off x="2011680" y="2706624"/>
            <a:ext cx="2286000" cy="310896"/>
          </a:xfrm>
          <a:prstGeom prst="rect">
            <a:avLst/>
          </a:prstGeom>
          <a:noFill/>
          <a:ln/>
        </p:spPr>
        <p:txBody>
          <a:bodyPr wrap="square" rtlCol="0" anchor="ctr"/>
          <a:lstStyle/>
          <a:p>
            <a:pPr indent="0" marL="0">
              <a:buNone/>
            </a:pPr>
            <a:r>
              <a:rPr lang="en-US" sz="950" dirty="0">
                <a:solidFill>
                  <a:srgbClr val="9ECFFF"/>
                </a:solidFill>
              </a:rPr>
              <a:t>Memorystore Redis instance</a:t>
            </a:r>
            <a:endParaRPr lang="en-US" sz="950" dirty="0"/>
          </a:p>
        </p:txBody>
      </p:sp>
      <p:sp>
        <p:nvSpPr>
          <p:cNvPr id="15" name="Text 13"/>
          <p:cNvSpPr/>
          <p:nvPr/>
        </p:nvSpPr>
        <p:spPr>
          <a:xfrm>
            <a:off x="594360" y="3044952"/>
            <a:ext cx="1371600" cy="310896"/>
          </a:xfrm>
          <a:prstGeom prst="rect">
            <a:avLst/>
          </a:prstGeom>
          <a:noFill/>
          <a:ln/>
        </p:spPr>
        <p:txBody>
          <a:bodyPr wrap="square" rtlCol="0" anchor="ctr"/>
          <a:lstStyle/>
          <a:p>
            <a:pPr indent="0" marL="0">
              <a:buNone/>
            </a:pPr>
            <a:r>
              <a:rPr lang="en-US" sz="1000" b="1" dirty="0">
                <a:solidFill>
                  <a:srgbClr val="06B6D4"/>
                </a:solidFill>
              </a:rPr>
              <a:t>secrets.tf</a:t>
            </a:r>
            <a:endParaRPr lang="en-US" sz="1000" dirty="0"/>
          </a:p>
        </p:txBody>
      </p:sp>
      <p:sp>
        <p:nvSpPr>
          <p:cNvPr id="16" name="Text 14"/>
          <p:cNvSpPr/>
          <p:nvPr/>
        </p:nvSpPr>
        <p:spPr>
          <a:xfrm>
            <a:off x="2011680" y="3044952"/>
            <a:ext cx="2286000" cy="310896"/>
          </a:xfrm>
          <a:prstGeom prst="rect">
            <a:avLst/>
          </a:prstGeom>
          <a:noFill/>
          <a:ln/>
        </p:spPr>
        <p:txBody>
          <a:bodyPr wrap="square" rtlCol="0" anchor="ctr"/>
          <a:lstStyle/>
          <a:p>
            <a:pPr indent="0" marL="0">
              <a:buNone/>
            </a:pPr>
            <a:r>
              <a:rPr lang="en-US" sz="950" dirty="0">
                <a:solidFill>
                  <a:srgbClr val="9ECFFF"/>
                </a:solidFill>
              </a:rPr>
              <a:t>Secret Manager secrets + versions</a:t>
            </a:r>
            <a:endParaRPr lang="en-US" sz="950" dirty="0"/>
          </a:p>
        </p:txBody>
      </p:sp>
      <p:sp>
        <p:nvSpPr>
          <p:cNvPr id="17" name="Text 15"/>
          <p:cNvSpPr/>
          <p:nvPr/>
        </p:nvSpPr>
        <p:spPr>
          <a:xfrm>
            <a:off x="594360" y="3383280"/>
            <a:ext cx="1371600" cy="310896"/>
          </a:xfrm>
          <a:prstGeom prst="rect">
            <a:avLst/>
          </a:prstGeom>
          <a:noFill/>
          <a:ln/>
        </p:spPr>
        <p:txBody>
          <a:bodyPr wrap="square" rtlCol="0" anchor="ctr"/>
          <a:lstStyle/>
          <a:p>
            <a:pPr indent="0" marL="0">
              <a:buNone/>
            </a:pPr>
            <a:r>
              <a:rPr lang="en-US" sz="1000" b="1" dirty="0">
                <a:solidFill>
                  <a:srgbClr val="06B6D4"/>
                </a:solidFill>
              </a:rPr>
              <a:t>variables.tf</a:t>
            </a:r>
            <a:endParaRPr lang="en-US" sz="1000" dirty="0"/>
          </a:p>
        </p:txBody>
      </p:sp>
      <p:sp>
        <p:nvSpPr>
          <p:cNvPr id="18" name="Text 16"/>
          <p:cNvSpPr/>
          <p:nvPr/>
        </p:nvSpPr>
        <p:spPr>
          <a:xfrm>
            <a:off x="2011680" y="3383280"/>
            <a:ext cx="2286000" cy="310896"/>
          </a:xfrm>
          <a:prstGeom prst="rect">
            <a:avLst/>
          </a:prstGeom>
          <a:noFill/>
          <a:ln/>
        </p:spPr>
        <p:txBody>
          <a:bodyPr wrap="square" rtlCol="0" anchor="ctr"/>
          <a:lstStyle/>
          <a:p>
            <a:pPr indent="0" marL="0">
              <a:buNone/>
            </a:pPr>
            <a:r>
              <a:rPr lang="en-US" sz="950" dirty="0">
                <a:solidFill>
                  <a:srgbClr val="9ECFFF"/>
                </a:solidFill>
              </a:rPr>
              <a:t>cors_origins · host · model · tiers</a:t>
            </a:r>
            <a:endParaRPr lang="en-US" sz="950" dirty="0"/>
          </a:p>
        </p:txBody>
      </p:sp>
      <p:sp>
        <p:nvSpPr>
          <p:cNvPr id="19" name="Text 17"/>
          <p:cNvSpPr/>
          <p:nvPr/>
        </p:nvSpPr>
        <p:spPr>
          <a:xfrm>
            <a:off x="594360" y="3721608"/>
            <a:ext cx="1371600" cy="310896"/>
          </a:xfrm>
          <a:prstGeom prst="rect">
            <a:avLst/>
          </a:prstGeom>
          <a:noFill/>
          <a:ln/>
        </p:spPr>
        <p:txBody>
          <a:bodyPr wrap="square" rtlCol="0" anchor="ctr"/>
          <a:lstStyle/>
          <a:p>
            <a:pPr indent="0" marL="0">
              <a:buNone/>
            </a:pPr>
            <a:r>
              <a:rPr lang="en-US" sz="1000" b="1" dirty="0">
                <a:solidFill>
                  <a:srgbClr val="06B6D4"/>
                </a:solidFill>
              </a:rPr>
              <a:t>outputs.tf</a:t>
            </a:r>
            <a:endParaRPr lang="en-US" sz="1000" dirty="0"/>
          </a:p>
        </p:txBody>
      </p:sp>
      <p:sp>
        <p:nvSpPr>
          <p:cNvPr id="20" name="Text 18"/>
          <p:cNvSpPr/>
          <p:nvPr/>
        </p:nvSpPr>
        <p:spPr>
          <a:xfrm>
            <a:off x="2011680" y="3721608"/>
            <a:ext cx="2286000" cy="310896"/>
          </a:xfrm>
          <a:prstGeom prst="rect">
            <a:avLst/>
          </a:prstGeom>
          <a:noFill/>
          <a:ln/>
        </p:spPr>
        <p:txBody>
          <a:bodyPr wrap="square" rtlCol="0" anchor="ctr"/>
          <a:lstStyle/>
          <a:p>
            <a:pPr indent="0" marL="0">
              <a:buNone/>
            </a:pPr>
            <a:r>
              <a:rPr lang="en-US" sz="950" dirty="0">
                <a:solidFill>
                  <a:srgbClr val="9ECFFF"/>
                </a:solidFill>
              </a:rPr>
              <a:t>cloud_run_url · sql_ip · redis_host</a:t>
            </a:r>
            <a:endParaRPr lang="en-US" sz="950" dirty="0"/>
          </a:p>
        </p:txBody>
      </p:sp>
      <p:sp>
        <p:nvSpPr>
          <p:cNvPr id="21" name="Shape 19"/>
          <p:cNvSpPr/>
          <p:nvPr/>
        </p:nvSpPr>
        <p:spPr>
          <a:xfrm>
            <a:off x="4617720" y="1234440"/>
            <a:ext cx="4114800" cy="3108960"/>
          </a:xfrm>
          <a:prstGeom prst="rect">
            <a:avLst/>
          </a:prstGeom>
          <a:solidFill>
            <a:srgbClr val="0D2137"/>
          </a:solidFill>
          <a:ln w="6350">
            <a:solidFill>
              <a:srgbClr val="E2E8F0"/>
            </a:solidFill>
            <a:prstDash val="solid"/>
          </a:ln>
        </p:spPr>
      </p:sp>
      <p:sp>
        <p:nvSpPr>
          <p:cNvPr id="22" name="Text 20"/>
          <p:cNvSpPr/>
          <p:nvPr/>
        </p:nvSpPr>
        <p:spPr>
          <a:xfrm>
            <a:off x="4800600" y="1353312"/>
            <a:ext cx="3749040" cy="228600"/>
          </a:xfrm>
          <a:prstGeom prst="rect">
            <a:avLst/>
          </a:prstGeom>
          <a:noFill/>
          <a:ln/>
        </p:spPr>
        <p:txBody>
          <a:bodyPr wrap="square" rtlCol="0" anchor="ctr"/>
          <a:lstStyle/>
          <a:p>
            <a:pPr indent="0" marL="0">
              <a:buNone/>
            </a:pPr>
            <a:r>
              <a:rPr lang="en-US" sz="850" b="1" spc="200" kern="0" dirty="0">
                <a:solidFill>
                  <a:srgbClr val="06B6D4"/>
                </a:solidFill>
              </a:rPr>
              <a:t>DEPLOY SEQUENCE</a:t>
            </a:r>
            <a:endParaRPr lang="en-US" sz="850" dirty="0"/>
          </a:p>
        </p:txBody>
      </p:sp>
      <p:sp>
        <p:nvSpPr>
          <p:cNvPr id="23" name="Shape 21"/>
          <p:cNvSpPr/>
          <p:nvPr/>
        </p:nvSpPr>
        <p:spPr>
          <a:xfrm>
            <a:off x="4800600" y="1709928"/>
            <a:ext cx="256032" cy="256032"/>
          </a:xfrm>
          <a:prstGeom prst="roundRect">
            <a:avLst>
              <a:gd name="adj" fmla="val 50000"/>
            </a:avLst>
          </a:prstGeom>
          <a:solidFill>
            <a:srgbClr val="0891B2"/>
          </a:solidFill>
          <a:ln w="12700">
            <a:solidFill>
              <a:srgbClr val="0891B2"/>
            </a:solidFill>
            <a:prstDash val="solid"/>
          </a:ln>
        </p:spPr>
      </p:sp>
      <p:sp>
        <p:nvSpPr>
          <p:cNvPr id="24" name="Text 22"/>
          <p:cNvSpPr/>
          <p:nvPr/>
        </p:nvSpPr>
        <p:spPr>
          <a:xfrm>
            <a:off x="4800600" y="1709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1</a:t>
            </a:r>
            <a:endParaRPr lang="en-US" sz="900" dirty="0"/>
          </a:p>
        </p:txBody>
      </p:sp>
      <p:sp>
        <p:nvSpPr>
          <p:cNvPr id="25" name="Text 23"/>
          <p:cNvSpPr/>
          <p:nvPr/>
        </p:nvSpPr>
        <p:spPr>
          <a:xfrm>
            <a:off x="5166360" y="1709928"/>
            <a:ext cx="3429000" cy="347472"/>
          </a:xfrm>
          <a:prstGeom prst="rect">
            <a:avLst/>
          </a:prstGeom>
          <a:noFill/>
          <a:ln/>
        </p:spPr>
        <p:txBody>
          <a:bodyPr wrap="square" rtlCol="0" anchor="ctr"/>
          <a:lstStyle/>
          <a:p>
            <a:pPr indent="0" marL="0">
              <a:buNone/>
            </a:pPr>
            <a:r>
              <a:rPr lang="en-US" sz="950" dirty="0">
                <a:solidFill>
                  <a:srgbClr val="CBD5E1"/>
                </a:solidFill>
              </a:rPr>
              <a:t>terraform init &amp;&amp; terraform apply</a:t>
            </a:r>
            <a:endParaRPr lang="en-US" sz="950" dirty="0"/>
          </a:p>
          <a:p>
            <a:pPr indent="0" marL="0">
              <a:buNone/>
            </a:pPr>
            <a:r>
              <a:rPr lang="en-US" sz="950" dirty="0">
                <a:solidFill>
                  <a:srgbClr val="CBD5E1"/>
                </a:solidFill>
              </a:rPr>
              <a:t>(first apply: 20–40 min for SQL + Redis)</a:t>
            </a:r>
            <a:endParaRPr lang="en-US" sz="950" dirty="0"/>
          </a:p>
        </p:txBody>
      </p:sp>
      <p:sp>
        <p:nvSpPr>
          <p:cNvPr id="26" name="Shape 24"/>
          <p:cNvSpPr/>
          <p:nvPr/>
        </p:nvSpPr>
        <p:spPr>
          <a:xfrm>
            <a:off x="4800600" y="2093976"/>
            <a:ext cx="256032" cy="256032"/>
          </a:xfrm>
          <a:prstGeom prst="roundRect">
            <a:avLst>
              <a:gd name="adj" fmla="val 50000"/>
            </a:avLst>
          </a:prstGeom>
          <a:solidFill>
            <a:srgbClr val="0891B2"/>
          </a:solidFill>
          <a:ln w="12700">
            <a:solidFill>
              <a:srgbClr val="0891B2"/>
            </a:solidFill>
            <a:prstDash val="solid"/>
          </a:ln>
        </p:spPr>
      </p:sp>
      <p:sp>
        <p:nvSpPr>
          <p:cNvPr id="27" name="Text 25"/>
          <p:cNvSpPr/>
          <p:nvPr/>
        </p:nvSpPr>
        <p:spPr>
          <a:xfrm>
            <a:off x="4800600" y="209397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2</a:t>
            </a:r>
            <a:endParaRPr lang="en-US" sz="900" dirty="0"/>
          </a:p>
        </p:txBody>
      </p:sp>
      <p:sp>
        <p:nvSpPr>
          <p:cNvPr id="28" name="Text 26"/>
          <p:cNvSpPr/>
          <p:nvPr/>
        </p:nvSpPr>
        <p:spPr>
          <a:xfrm>
            <a:off x="5166360" y="2093976"/>
            <a:ext cx="3429000" cy="347472"/>
          </a:xfrm>
          <a:prstGeom prst="rect">
            <a:avLst/>
          </a:prstGeom>
          <a:noFill/>
          <a:ln/>
        </p:spPr>
        <p:txBody>
          <a:bodyPr wrap="square" rtlCol="0" anchor="ctr"/>
          <a:lstStyle/>
          <a:p>
            <a:pPr indent="0" marL="0">
              <a:buNone/>
            </a:pPr>
            <a:r>
              <a:rPr lang="en-US" sz="950" dirty="0">
                <a:solidFill>
                  <a:srgbClr val="CBD5E1"/>
                </a:solidFill>
              </a:rPr>
              <a:t>Get URL: terraform output -raw cloud_run_url</a:t>
            </a:r>
            <a:endParaRPr lang="en-US" sz="950" dirty="0"/>
          </a:p>
        </p:txBody>
      </p:sp>
      <p:sp>
        <p:nvSpPr>
          <p:cNvPr id="29" name="Shape 27"/>
          <p:cNvSpPr/>
          <p:nvPr/>
        </p:nvSpPr>
        <p:spPr>
          <a:xfrm>
            <a:off x="4800600" y="2478024"/>
            <a:ext cx="256032" cy="256032"/>
          </a:xfrm>
          <a:prstGeom prst="roundRect">
            <a:avLst>
              <a:gd name="adj" fmla="val 50000"/>
            </a:avLst>
          </a:prstGeom>
          <a:solidFill>
            <a:srgbClr val="0891B2"/>
          </a:solidFill>
          <a:ln w="12700">
            <a:solidFill>
              <a:srgbClr val="0891B2"/>
            </a:solidFill>
            <a:prstDash val="solid"/>
          </a:ln>
        </p:spPr>
      </p:sp>
      <p:sp>
        <p:nvSpPr>
          <p:cNvPr id="30" name="Text 28"/>
          <p:cNvSpPr/>
          <p:nvPr/>
        </p:nvSpPr>
        <p:spPr>
          <a:xfrm>
            <a:off x="4800600" y="247802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3</a:t>
            </a:r>
            <a:endParaRPr lang="en-US" sz="900" dirty="0"/>
          </a:p>
        </p:txBody>
      </p:sp>
      <p:sp>
        <p:nvSpPr>
          <p:cNvPr id="31" name="Text 29"/>
          <p:cNvSpPr/>
          <p:nvPr/>
        </p:nvSpPr>
        <p:spPr>
          <a:xfrm>
            <a:off x="5166360" y="2478024"/>
            <a:ext cx="3429000" cy="347472"/>
          </a:xfrm>
          <a:prstGeom prst="rect">
            <a:avLst/>
          </a:prstGeom>
          <a:noFill/>
          <a:ln/>
        </p:spPr>
        <p:txBody>
          <a:bodyPr wrap="square" rtlCol="0" anchor="ctr"/>
          <a:lstStyle/>
          <a:p>
            <a:pPr indent="0" marL="0">
              <a:buNone/>
            </a:pPr>
            <a:r>
              <a:rPr lang="en-US" sz="950" dirty="0">
                <a:solidFill>
                  <a:srgbClr val="CBD5E1"/>
                </a:solidFill>
              </a:rPr>
              <a:t>Set HOST + CORS_ORIGINS to Cloud Run URL → re-apply</a:t>
            </a:r>
            <a:endParaRPr lang="en-US" sz="950" dirty="0"/>
          </a:p>
        </p:txBody>
      </p:sp>
      <p:sp>
        <p:nvSpPr>
          <p:cNvPr id="32" name="Shape 30"/>
          <p:cNvSpPr/>
          <p:nvPr/>
        </p:nvSpPr>
        <p:spPr>
          <a:xfrm>
            <a:off x="4800600" y="2862072"/>
            <a:ext cx="256032" cy="256032"/>
          </a:xfrm>
          <a:prstGeom prst="roundRect">
            <a:avLst>
              <a:gd name="adj" fmla="val 50000"/>
            </a:avLst>
          </a:prstGeom>
          <a:solidFill>
            <a:srgbClr val="0891B2"/>
          </a:solidFill>
          <a:ln w="12700">
            <a:solidFill>
              <a:srgbClr val="0891B2"/>
            </a:solidFill>
            <a:prstDash val="solid"/>
          </a:ln>
        </p:spPr>
      </p:sp>
      <p:sp>
        <p:nvSpPr>
          <p:cNvPr id="33" name="Text 31"/>
          <p:cNvSpPr/>
          <p:nvPr/>
        </p:nvSpPr>
        <p:spPr>
          <a:xfrm>
            <a:off x="480060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4</a:t>
            </a:r>
            <a:endParaRPr lang="en-US" sz="900" dirty="0"/>
          </a:p>
        </p:txBody>
      </p:sp>
      <p:sp>
        <p:nvSpPr>
          <p:cNvPr id="34" name="Text 32"/>
          <p:cNvSpPr/>
          <p:nvPr/>
        </p:nvSpPr>
        <p:spPr>
          <a:xfrm>
            <a:off x="5166360" y="2862072"/>
            <a:ext cx="3429000" cy="347472"/>
          </a:xfrm>
          <a:prstGeom prst="rect">
            <a:avLst/>
          </a:prstGeom>
          <a:noFill/>
          <a:ln/>
        </p:spPr>
        <p:txBody>
          <a:bodyPr wrap="square" rtlCol="0" anchor="ctr"/>
          <a:lstStyle/>
          <a:p>
            <a:pPr indent="0" marL="0">
              <a:buNone/>
            </a:pPr>
            <a:r>
              <a:rPr lang="en-US" sz="950" dirty="0">
                <a:solidFill>
                  <a:srgbClr val="CBD5E1"/>
                </a:solidFill>
              </a:rPr>
              <a:t>Run Alembic migrations from inside VPC (Cloud Shell)</a:t>
            </a:r>
            <a:endParaRPr lang="en-US" sz="950" dirty="0"/>
          </a:p>
        </p:txBody>
      </p:sp>
      <p:sp>
        <p:nvSpPr>
          <p:cNvPr id="35" name="Shape 33"/>
          <p:cNvSpPr/>
          <p:nvPr/>
        </p:nvSpPr>
        <p:spPr>
          <a:xfrm>
            <a:off x="4800600" y="3246120"/>
            <a:ext cx="256032" cy="256032"/>
          </a:xfrm>
          <a:prstGeom prst="roundRect">
            <a:avLst>
              <a:gd name="adj" fmla="val 50000"/>
            </a:avLst>
          </a:prstGeom>
          <a:solidFill>
            <a:srgbClr val="0891B2"/>
          </a:solidFill>
          <a:ln w="12700">
            <a:solidFill>
              <a:srgbClr val="0891B2"/>
            </a:solidFill>
            <a:prstDash val="solid"/>
          </a:ln>
        </p:spPr>
      </p:sp>
      <p:sp>
        <p:nvSpPr>
          <p:cNvPr id="36" name="Text 34"/>
          <p:cNvSpPr/>
          <p:nvPr/>
        </p:nvSpPr>
        <p:spPr>
          <a:xfrm>
            <a:off x="4800600" y="324612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5</a:t>
            </a:r>
            <a:endParaRPr lang="en-US" sz="900" dirty="0"/>
          </a:p>
        </p:txBody>
      </p:sp>
      <p:sp>
        <p:nvSpPr>
          <p:cNvPr id="37" name="Text 35"/>
          <p:cNvSpPr/>
          <p:nvPr/>
        </p:nvSpPr>
        <p:spPr>
          <a:xfrm>
            <a:off x="5166360" y="3246120"/>
            <a:ext cx="3429000" cy="347472"/>
          </a:xfrm>
          <a:prstGeom prst="rect">
            <a:avLst/>
          </a:prstGeom>
          <a:noFill/>
          <a:ln/>
        </p:spPr>
        <p:txBody>
          <a:bodyPr wrap="square" rtlCol="0" anchor="ctr"/>
          <a:lstStyle/>
          <a:p>
            <a:pPr indent="0" marL="0">
              <a:buNone/>
            </a:pPr>
            <a:r>
              <a:rPr lang="en-US" sz="950" dirty="0">
                <a:solidFill>
                  <a:srgbClr val="CBD5E1"/>
                </a:solidFill>
              </a:rPr>
              <a:t>Add Cloud Run URL to Google OAuth redirect URIs</a:t>
            </a:r>
            <a:endParaRPr lang="en-US" sz="950" dirty="0"/>
          </a:p>
        </p:txBody>
      </p:sp>
      <p:sp>
        <p:nvSpPr>
          <p:cNvPr id="38" name="Shape 36"/>
          <p:cNvSpPr/>
          <p:nvPr/>
        </p:nvSpPr>
        <p:spPr>
          <a:xfrm>
            <a:off x="4800600" y="3630168"/>
            <a:ext cx="256032" cy="256032"/>
          </a:xfrm>
          <a:prstGeom prst="roundRect">
            <a:avLst>
              <a:gd name="adj" fmla="val 50000"/>
            </a:avLst>
          </a:prstGeom>
          <a:solidFill>
            <a:srgbClr val="0891B2"/>
          </a:solidFill>
          <a:ln w="12700">
            <a:solidFill>
              <a:srgbClr val="0891B2"/>
            </a:solidFill>
            <a:prstDash val="solid"/>
          </a:ln>
        </p:spPr>
      </p:sp>
      <p:sp>
        <p:nvSpPr>
          <p:cNvPr id="39" name="Text 37"/>
          <p:cNvSpPr/>
          <p:nvPr/>
        </p:nvSpPr>
        <p:spPr>
          <a:xfrm>
            <a:off x="4800600" y="363016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6</a:t>
            </a:r>
            <a:endParaRPr lang="en-US" sz="900" dirty="0"/>
          </a:p>
        </p:txBody>
      </p:sp>
      <p:sp>
        <p:nvSpPr>
          <p:cNvPr id="40" name="Text 38"/>
          <p:cNvSpPr/>
          <p:nvPr/>
        </p:nvSpPr>
        <p:spPr>
          <a:xfrm>
            <a:off x="5166360" y="3630168"/>
            <a:ext cx="3429000" cy="347472"/>
          </a:xfrm>
          <a:prstGeom prst="rect">
            <a:avLst/>
          </a:prstGeom>
          <a:noFill/>
          <a:ln/>
        </p:spPr>
        <p:txBody>
          <a:bodyPr wrap="square" rtlCol="0" anchor="ctr"/>
          <a:lstStyle/>
          <a:p>
            <a:pPr indent="0" marL="0">
              <a:buNone/>
            </a:pPr>
            <a:r>
              <a:rPr lang="en-US" sz="950" dirty="0">
                <a:solidFill>
                  <a:srgbClr val="CBD5E1"/>
                </a:solidFill>
              </a:rPr>
              <a:t>Smoke test: curl ".../health" → DB + Redis connected</a:t>
            </a:r>
            <a:endParaRPr lang="en-US" sz="950" dirty="0"/>
          </a:p>
        </p:txBody>
      </p:sp>
      <p:sp>
        <p:nvSpPr>
          <p:cNvPr id="41" name="Shape 39"/>
          <p:cNvSpPr/>
          <p:nvPr/>
        </p:nvSpPr>
        <p:spPr>
          <a:xfrm>
            <a:off x="411480" y="4462272"/>
            <a:ext cx="8321040" cy="502920"/>
          </a:xfrm>
          <a:prstGeom prst="rect">
            <a:avLst/>
          </a:prstGeom>
          <a:solidFill>
            <a:srgbClr val="0A2540"/>
          </a:solidFill>
          <a:ln w="6350">
            <a:solidFill>
              <a:srgbClr val="E2E8F0"/>
            </a:solidFill>
            <a:prstDash val="solid"/>
          </a:ln>
        </p:spPr>
      </p:sp>
      <p:sp>
        <p:nvSpPr>
          <p:cNvPr id="42" name="Shape 40"/>
          <p:cNvSpPr/>
          <p:nvPr/>
        </p:nvSpPr>
        <p:spPr>
          <a:xfrm>
            <a:off x="411480" y="4462272"/>
            <a:ext cx="54864" cy="502920"/>
          </a:xfrm>
          <a:prstGeom prst="rect">
            <a:avLst/>
          </a:prstGeom>
          <a:solidFill>
            <a:srgbClr val="06B6D4"/>
          </a:solidFill>
          <a:ln w="12700">
            <a:solidFill>
              <a:srgbClr val="06B6D4"/>
            </a:solidFill>
            <a:prstDash val="solid"/>
          </a:ln>
        </p:spPr>
      </p:sp>
      <p:sp>
        <p:nvSpPr>
          <p:cNvPr id="43" name="Text 41"/>
          <p:cNvSpPr/>
          <p:nvPr/>
        </p:nvSpPr>
        <p:spPr>
          <a:xfrm>
            <a:off x="594360" y="4517136"/>
            <a:ext cx="7955280" cy="402336"/>
          </a:xfrm>
          <a:prstGeom prst="rect">
            <a:avLst/>
          </a:prstGeom>
          <a:noFill/>
          <a:ln/>
        </p:spPr>
        <p:txBody>
          <a:bodyPr wrap="square" rtlCol="0" anchor="ctr"/>
          <a:lstStyle/>
          <a:p>
            <a:pPr indent="0" marL="0">
              <a:buNone/>
            </a:pPr>
            <a:r>
              <a:rPr lang="en-US" sz="950" dirty="0">
                <a:solidFill>
                  <a:srgbClr val="CBD5E1"/>
                </a:solidFill>
              </a:rPr>
              <a:t>Plain env vars: APP_ENV · CORS_ORIGINS · HOST · POSTGRES_* · REDIS_* · OPENROUTER_DEFAULT_MODEL  |  Secrets: SECRET_KEY · OPENROUTER_API_KEY · OAuth secrets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11480" y="201168"/>
            <a:ext cx="1645920" cy="256032"/>
          </a:xfrm>
          <a:prstGeom prst="roundRect">
            <a:avLst>
              <a:gd name="adj" fmla="val 50000"/>
            </a:avLst>
          </a:prstGeom>
          <a:solidFill>
            <a:srgbClr val="1A56DB">
              <a:alpha val="15000"/>
            </a:srgbClr>
          </a:solidFill>
          <a:ln w="6350">
            <a:solidFill>
              <a:srgbClr val="1A56DB"/>
            </a:solidFill>
            <a:prstDash val="solid"/>
          </a:ln>
        </p:spPr>
      </p:sp>
      <p:sp>
        <p:nvSpPr>
          <p:cNvPr id="3" name="Text 1"/>
          <p:cNvSpPr/>
          <p:nvPr/>
        </p:nvSpPr>
        <p:spPr>
          <a:xfrm>
            <a:off x="411480" y="201168"/>
            <a:ext cx="1645920" cy="256032"/>
          </a:xfrm>
          <a:prstGeom prst="rect">
            <a:avLst/>
          </a:prstGeom>
          <a:noFill/>
          <a:ln/>
        </p:spPr>
        <p:txBody>
          <a:bodyPr wrap="square" lIns="0" tIns="0" rIns="0" bIns="0" rtlCol="0" anchor="ctr"/>
          <a:lstStyle/>
          <a:p>
            <a:pPr algn="ctr" indent="0" marL="0">
              <a:buNone/>
            </a:pPr>
            <a:r>
              <a:rPr lang="en-US" sz="900" b="1" dirty="0">
                <a:solidFill>
                  <a:srgbClr val="1A56DB"/>
                </a:solidFill>
              </a:rPr>
              <a:t>RELIABILITY</a:t>
            </a:r>
            <a:endParaRPr lang="en-US" sz="900" dirty="0"/>
          </a:p>
        </p:txBody>
      </p:sp>
      <p:sp>
        <p:nvSpPr>
          <p:cNvPr id="4" name="Text 2"/>
          <p:cNvSpPr/>
          <p:nvPr/>
        </p:nvSpPr>
        <p:spPr>
          <a:xfrm>
            <a:off x="411480" y="502920"/>
            <a:ext cx="8321040" cy="640080"/>
          </a:xfrm>
          <a:prstGeom prst="rect">
            <a:avLst/>
          </a:prstGeom>
          <a:noFill/>
          <a:ln/>
        </p:spPr>
        <p:txBody>
          <a:bodyPr wrap="square" rtlCol="0" anchor="ctr"/>
          <a:lstStyle/>
          <a:p>
            <a:pPr indent="0" marL="0">
              <a:buNone/>
            </a:pPr>
            <a:r>
              <a:rPr lang="en-US" sz="3000" b="1" dirty="0">
                <a:solidFill>
                  <a:srgbClr val="1E293B"/>
                </a:solidFill>
              </a:rPr>
              <a:t>Tool Contract &amp; Reliability</a:t>
            </a:r>
            <a:endParaRPr lang="en-US" sz="3000" dirty="0"/>
          </a:p>
        </p:txBody>
      </p:sp>
      <p:sp>
        <p:nvSpPr>
          <p:cNvPr id="5" name="Shape 3"/>
          <p:cNvSpPr/>
          <p:nvPr/>
        </p:nvSpPr>
        <p:spPr>
          <a:xfrm>
            <a:off x="411480" y="1234440"/>
            <a:ext cx="3931920" cy="1143000"/>
          </a:xfrm>
          <a:prstGeom prst="rect">
            <a:avLst/>
          </a:prstGeom>
          <a:solidFill>
            <a:srgbClr val="FEF2F2"/>
          </a:solidFill>
          <a:ln w="6350">
            <a:solidFill>
              <a:srgbClr val="E2E8F0"/>
            </a:solidFill>
            <a:prstDash val="solid"/>
          </a:ln>
        </p:spPr>
      </p:sp>
      <p:sp>
        <p:nvSpPr>
          <p:cNvPr id="6" name="Shape 4"/>
          <p:cNvSpPr/>
          <p:nvPr/>
        </p:nvSpPr>
        <p:spPr>
          <a:xfrm>
            <a:off x="411480" y="1234440"/>
            <a:ext cx="54864" cy="1143000"/>
          </a:xfrm>
          <a:prstGeom prst="rect">
            <a:avLst/>
          </a:prstGeom>
          <a:solidFill>
            <a:srgbClr val="DC2626"/>
          </a:solidFill>
          <a:ln w="12700">
            <a:solidFill>
              <a:srgbClr val="DC2626"/>
            </a:solidFill>
            <a:prstDash val="solid"/>
          </a:ln>
        </p:spPr>
      </p:sp>
      <p:sp>
        <p:nvSpPr>
          <p:cNvPr id="7" name="Text 5"/>
          <p:cNvSpPr/>
          <p:nvPr/>
        </p:nvSpPr>
        <p:spPr>
          <a:xfrm>
            <a:off x="594360" y="1325880"/>
            <a:ext cx="3566160" cy="228600"/>
          </a:xfrm>
          <a:prstGeom prst="rect">
            <a:avLst/>
          </a:prstGeom>
          <a:noFill/>
          <a:ln/>
        </p:spPr>
        <p:txBody>
          <a:bodyPr wrap="square" rtlCol="0" anchor="ctr"/>
          <a:lstStyle/>
          <a:p>
            <a:pPr indent="0" marL="0">
              <a:buNone/>
            </a:pPr>
            <a:r>
              <a:rPr lang="en-US" sz="900" b="1" spc="200" kern="0" dirty="0">
                <a:solidFill>
                  <a:srgbClr val="DC2626"/>
                </a:solidFill>
              </a:rPr>
              <a:t>BEFORE</a:t>
            </a:r>
            <a:endParaRPr lang="en-US" sz="900" dirty="0"/>
          </a:p>
        </p:txBody>
      </p:sp>
      <p:sp>
        <p:nvSpPr>
          <p:cNvPr id="8" name="Text 6"/>
          <p:cNvSpPr/>
          <p:nvPr/>
        </p:nvSpPr>
        <p:spPr>
          <a:xfrm>
            <a:off x="594360" y="1572768"/>
            <a:ext cx="3566160" cy="640080"/>
          </a:xfrm>
          <a:prstGeom prst="rect">
            <a:avLst/>
          </a:prstGeom>
          <a:noFill/>
          <a:ln/>
        </p:spPr>
        <p:txBody>
          <a:bodyPr wrap="square" rtlCol="0" anchor="ctr"/>
          <a:lstStyle/>
          <a:p>
            <a:pPr indent="0" marL="0">
              <a:buNone/>
            </a:pPr>
            <a:r>
              <a:rPr lang="en-US" sz="1100" dirty="0">
                <a:solidFill>
                  <a:srgbClr val="1E293B"/>
                </a:solidFill>
              </a:rPr>
              <a:t>LLM-generated tool arguments were sometimes malformed → silent runtime failures, hard to debug</a:t>
            </a:r>
            <a:endParaRPr lang="en-US" sz="1100" dirty="0"/>
          </a:p>
        </p:txBody>
      </p:sp>
      <p:sp>
        <p:nvSpPr>
          <p:cNvPr id="9" name="Shape 7"/>
          <p:cNvSpPr/>
          <p:nvPr/>
        </p:nvSpPr>
        <p:spPr>
          <a:xfrm>
            <a:off x="4572000" y="1234440"/>
            <a:ext cx="4160520" cy="1143000"/>
          </a:xfrm>
          <a:prstGeom prst="rect">
            <a:avLst/>
          </a:prstGeom>
          <a:solidFill>
            <a:srgbClr val="F0FDF4"/>
          </a:solidFill>
          <a:ln w="6350">
            <a:solidFill>
              <a:srgbClr val="E2E8F0"/>
            </a:solidFill>
            <a:prstDash val="solid"/>
          </a:ln>
        </p:spPr>
      </p:sp>
      <p:sp>
        <p:nvSpPr>
          <p:cNvPr id="10" name="Shape 8"/>
          <p:cNvSpPr/>
          <p:nvPr/>
        </p:nvSpPr>
        <p:spPr>
          <a:xfrm>
            <a:off x="4572000" y="1234440"/>
            <a:ext cx="54864" cy="1143000"/>
          </a:xfrm>
          <a:prstGeom prst="rect">
            <a:avLst/>
          </a:prstGeom>
          <a:solidFill>
            <a:srgbClr val="22C55E"/>
          </a:solidFill>
          <a:ln w="12700">
            <a:solidFill>
              <a:srgbClr val="22C55E"/>
            </a:solidFill>
            <a:prstDash val="solid"/>
          </a:ln>
        </p:spPr>
      </p:sp>
      <p:sp>
        <p:nvSpPr>
          <p:cNvPr id="11" name="Text 9"/>
          <p:cNvSpPr/>
          <p:nvPr/>
        </p:nvSpPr>
        <p:spPr>
          <a:xfrm>
            <a:off x="4754880" y="1325880"/>
            <a:ext cx="3840480" cy="228600"/>
          </a:xfrm>
          <a:prstGeom prst="rect">
            <a:avLst/>
          </a:prstGeom>
          <a:noFill/>
          <a:ln/>
        </p:spPr>
        <p:txBody>
          <a:bodyPr wrap="square" rtlCol="0" anchor="ctr"/>
          <a:lstStyle/>
          <a:p>
            <a:pPr indent="0" marL="0">
              <a:buNone/>
            </a:pPr>
            <a:r>
              <a:rPr lang="en-US" sz="900" b="1" spc="100" kern="0" dirty="0">
                <a:solidFill>
                  <a:srgbClr val="16A34A"/>
                </a:solidFill>
              </a:rPr>
              <a:t>AFTER — TOOL CONTRACT FIRST DESIGN</a:t>
            </a:r>
            <a:endParaRPr lang="en-US" sz="900" dirty="0"/>
          </a:p>
        </p:txBody>
      </p:sp>
      <p:sp>
        <p:nvSpPr>
          <p:cNvPr id="12" name="Text 10"/>
          <p:cNvSpPr/>
          <p:nvPr/>
        </p:nvSpPr>
        <p:spPr>
          <a:xfrm>
            <a:off x="4754880" y="1572768"/>
            <a:ext cx="3840480" cy="640080"/>
          </a:xfrm>
          <a:prstGeom prst="rect">
            <a:avLst/>
          </a:prstGeom>
          <a:noFill/>
          <a:ln/>
        </p:spPr>
        <p:txBody>
          <a:bodyPr wrap="square" rtlCol="0" anchor="ctr"/>
          <a:lstStyle/>
          <a:p>
            <a:pPr indent="0" marL="0">
              <a:buNone/>
            </a:pPr>
            <a:r>
              <a:rPr lang="en-US" sz="1100" dirty="0">
                <a:solidFill>
                  <a:srgbClr val="1E293B"/>
                </a:solidFill>
              </a:rPr>
              <a:t>Schema-first pipeline: discover → inject → validate → execute → parse</a:t>
            </a:r>
            <a:endParaRPr lang="en-US" sz="1100" dirty="0"/>
          </a:p>
        </p:txBody>
      </p:sp>
      <p:sp>
        <p:nvSpPr>
          <p:cNvPr id="13" name="Shape 11"/>
          <p:cNvSpPr/>
          <p:nvPr/>
        </p:nvSpPr>
        <p:spPr>
          <a:xfrm>
            <a:off x="411480" y="2560320"/>
            <a:ext cx="2651760" cy="804672"/>
          </a:xfrm>
          <a:prstGeom prst="rect">
            <a:avLst/>
          </a:prstGeom>
          <a:solidFill>
            <a:srgbClr val="FFFFFF"/>
          </a:solidFill>
          <a:ln w="6350">
            <a:solidFill>
              <a:srgbClr val="E2E8F0"/>
            </a:solidFill>
            <a:prstDash val="solid"/>
          </a:ln>
        </p:spPr>
      </p:sp>
      <p:sp>
        <p:nvSpPr>
          <p:cNvPr id="14" name="Shape 12"/>
          <p:cNvSpPr/>
          <p:nvPr/>
        </p:nvSpPr>
        <p:spPr>
          <a:xfrm>
            <a:off x="521208" y="2715768"/>
            <a:ext cx="329184" cy="329184"/>
          </a:xfrm>
          <a:prstGeom prst="roundRect">
            <a:avLst>
              <a:gd name="adj" fmla="val 50000"/>
            </a:avLst>
          </a:prstGeom>
          <a:solidFill>
            <a:srgbClr val="1A56DB"/>
          </a:solidFill>
          <a:ln w="12700">
            <a:solidFill>
              <a:srgbClr val="1A56DB"/>
            </a:solidFill>
            <a:prstDash val="solid"/>
          </a:ln>
        </p:spPr>
      </p:sp>
      <p:sp>
        <p:nvSpPr>
          <p:cNvPr id="15" name="Text 13"/>
          <p:cNvSpPr/>
          <p:nvPr/>
        </p:nvSpPr>
        <p:spPr>
          <a:xfrm>
            <a:off x="521208" y="27157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6" name="Text 14"/>
          <p:cNvSpPr/>
          <p:nvPr/>
        </p:nvSpPr>
        <p:spPr>
          <a:xfrm>
            <a:off x="960120" y="2633472"/>
            <a:ext cx="2011680" cy="256032"/>
          </a:xfrm>
          <a:prstGeom prst="rect">
            <a:avLst/>
          </a:prstGeom>
          <a:noFill/>
          <a:ln/>
        </p:spPr>
        <p:txBody>
          <a:bodyPr wrap="square" rtlCol="0" anchor="ctr"/>
          <a:lstStyle/>
          <a:p>
            <a:pPr indent="0" marL="0">
              <a:buNone/>
            </a:pPr>
            <a:r>
              <a:rPr lang="en-US" sz="1100" b="1" dirty="0">
                <a:solidFill>
                  <a:srgbClr val="1E293B"/>
                </a:solidFill>
              </a:rPr>
              <a:t>Dynamic Discovery</a:t>
            </a:r>
            <a:endParaRPr lang="en-US" sz="1100" dirty="0"/>
          </a:p>
        </p:txBody>
      </p:sp>
      <p:sp>
        <p:nvSpPr>
          <p:cNvPr id="17" name="Text 15"/>
          <p:cNvSpPr/>
          <p:nvPr/>
        </p:nvSpPr>
        <p:spPr>
          <a:xfrm>
            <a:off x="960120" y="2889504"/>
            <a:ext cx="2011680" cy="438912"/>
          </a:xfrm>
          <a:prstGeom prst="rect">
            <a:avLst/>
          </a:prstGeom>
          <a:noFill/>
          <a:ln/>
        </p:spPr>
        <p:txBody>
          <a:bodyPr wrap="square" rtlCol="0" anchor="ctr"/>
          <a:lstStyle/>
          <a:p>
            <a:pPr indent="0" marL="0">
              <a:buNone/>
            </a:pPr>
            <a:r>
              <a:rPr lang="en-US" sz="950" dirty="0">
                <a:solidFill>
                  <a:srgbClr val="94A3B8"/>
                </a:solidFill>
              </a:rPr>
              <a:t>MCPAltRegistry caches JSON schemas for all tools at startup</a:t>
            </a:r>
            <a:endParaRPr lang="en-US" sz="950" dirty="0"/>
          </a:p>
        </p:txBody>
      </p:sp>
      <p:sp>
        <p:nvSpPr>
          <p:cNvPr id="18" name="Shape 16"/>
          <p:cNvSpPr/>
          <p:nvPr/>
        </p:nvSpPr>
        <p:spPr>
          <a:xfrm>
            <a:off x="3246120" y="2560320"/>
            <a:ext cx="2651760" cy="804672"/>
          </a:xfrm>
          <a:prstGeom prst="rect">
            <a:avLst/>
          </a:prstGeom>
          <a:solidFill>
            <a:srgbClr val="FFFFFF"/>
          </a:solidFill>
          <a:ln w="6350">
            <a:solidFill>
              <a:srgbClr val="E2E8F0"/>
            </a:solidFill>
            <a:prstDash val="solid"/>
          </a:ln>
        </p:spPr>
      </p:sp>
      <p:sp>
        <p:nvSpPr>
          <p:cNvPr id="19" name="Shape 17"/>
          <p:cNvSpPr/>
          <p:nvPr/>
        </p:nvSpPr>
        <p:spPr>
          <a:xfrm>
            <a:off x="3355848" y="2715768"/>
            <a:ext cx="329184" cy="329184"/>
          </a:xfrm>
          <a:prstGeom prst="roundRect">
            <a:avLst>
              <a:gd name="adj" fmla="val 50000"/>
            </a:avLst>
          </a:prstGeom>
          <a:solidFill>
            <a:srgbClr val="1A56DB"/>
          </a:solidFill>
          <a:ln w="12700">
            <a:solidFill>
              <a:srgbClr val="1A56DB"/>
            </a:solidFill>
            <a:prstDash val="solid"/>
          </a:ln>
        </p:spPr>
      </p:sp>
      <p:sp>
        <p:nvSpPr>
          <p:cNvPr id="20" name="Text 18"/>
          <p:cNvSpPr/>
          <p:nvPr/>
        </p:nvSpPr>
        <p:spPr>
          <a:xfrm>
            <a:off x="3355848" y="27157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21" name="Text 19"/>
          <p:cNvSpPr/>
          <p:nvPr/>
        </p:nvSpPr>
        <p:spPr>
          <a:xfrm>
            <a:off x="3794760" y="2633472"/>
            <a:ext cx="2011680" cy="256032"/>
          </a:xfrm>
          <a:prstGeom prst="rect">
            <a:avLst/>
          </a:prstGeom>
          <a:noFill/>
          <a:ln/>
        </p:spPr>
        <p:txBody>
          <a:bodyPr wrap="square" rtlCol="0" anchor="ctr"/>
          <a:lstStyle/>
          <a:p>
            <a:pPr indent="0" marL="0">
              <a:buNone/>
            </a:pPr>
            <a:r>
              <a:rPr lang="en-US" sz="1100" b="1" dirty="0">
                <a:solidFill>
                  <a:srgbClr val="1E293B"/>
                </a:solidFill>
              </a:rPr>
              <a:t>Schema Injection</a:t>
            </a:r>
            <a:endParaRPr lang="en-US" sz="1100" dirty="0"/>
          </a:p>
        </p:txBody>
      </p:sp>
      <p:sp>
        <p:nvSpPr>
          <p:cNvPr id="22" name="Text 20"/>
          <p:cNvSpPr/>
          <p:nvPr/>
        </p:nvSpPr>
        <p:spPr>
          <a:xfrm>
            <a:off x="3794760" y="2889504"/>
            <a:ext cx="2011680" cy="438912"/>
          </a:xfrm>
          <a:prstGeom prst="rect">
            <a:avLst/>
          </a:prstGeom>
          <a:noFill/>
          <a:ln/>
        </p:spPr>
        <p:txBody>
          <a:bodyPr wrap="square" rtlCol="0" anchor="ctr"/>
          <a:lstStyle/>
          <a:p>
            <a:pPr indent="0" marL="0">
              <a:buNone/>
            </a:pPr>
            <a:r>
              <a:rPr lang="en-US" sz="950" dirty="0">
                <a:solidFill>
                  <a:srgbClr val="94A3B8"/>
                </a:solidFill>
              </a:rPr>
              <a:t>Task Planner receives live Tool Catalog in its LLM prompt — forces schema-conformant params</a:t>
            </a:r>
            <a:endParaRPr lang="en-US" sz="950" dirty="0"/>
          </a:p>
        </p:txBody>
      </p:sp>
      <p:sp>
        <p:nvSpPr>
          <p:cNvPr id="23" name="Shape 21"/>
          <p:cNvSpPr/>
          <p:nvPr/>
        </p:nvSpPr>
        <p:spPr>
          <a:xfrm>
            <a:off x="6080760" y="2560320"/>
            <a:ext cx="2651760" cy="804672"/>
          </a:xfrm>
          <a:prstGeom prst="rect">
            <a:avLst/>
          </a:prstGeom>
          <a:solidFill>
            <a:srgbClr val="FFFFFF"/>
          </a:solidFill>
          <a:ln w="6350">
            <a:solidFill>
              <a:srgbClr val="E2E8F0"/>
            </a:solidFill>
            <a:prstDash val="solid"/>
          </a:ln>
        </p:spPr>
      </p:sp>
      <p:sp>
        <p:nvSpPr>
          <p:cNvPr id="24" name="Shape 22"/>
          <p:cNvSpPr/>
          <p:nvPr/>
        </p:nvSpPr>
        <p:spPr>
          <a:xfrm>
            <a:off x="6190488" y="2715768"/>
            <a:ext cx="329184" cy="329184"/>
          </a:xfrm>
          <a:prstGeom prst="roundRect">
            <a:avLst>
              <a:gd name="adj" fmla="val 50000"/>
            </a:avLst>
          </a:prstGeom>
          <a:solidFill>
            <a:srgbClr val="1A56DB"/>
          </a:solidFill>
          <a:ln w="12700">
            <a:solidFill>
              <a:srgbClr val="1A56DB"/>
            </a:solidFill>
            <a:prstDash val="solid"/>
          </a:ln>
        </p:spPr>
      </p:sp>
      <p:sp>
        <p:nvSpPr>
          <p:cNvPr id="25" name="Text 23"/>
          <p:cNvSpPr/>
          <p:nvPr/>
        </p:nvSpPr>
        <p:spPr>
          <a:xfrm>
            <a:off x="6190488" y="27157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26" name="Text 24"/>
          <p:cNvSpPr/>
          <p:nvPr/>
        </p:nvSpPr>
        <p:spPr>
          <a:xfrm>
            <a:off x="6629400" y="2633472"/>
            <a:ext cx="2011680" cy="256032"/>
          </a:xfrm>
          <a:prstGeom prst="rect">
            <a:avLst/>
          </a:prstGeom>
          <a:noFill/>
          <a:ln/>
        </p:spPr>
        <p:txBody>
          <a:bodyPr wrap="square" rtlCol="0" anchor="ctr"/>
          <a:lstStyle/>
          <a:p>
            <a:pPr indent="0" marL="0">
              <a:buNone/>
            </a:pPr>
            <a:r>
              <a:rPr lang="en-US" sz="1100" b="1" dirty="0">
                <a:solidFill>
                  <a:srgbClr val="1E293B"/>
                </a:solidFill>
              </a:rPr>
              <a:t>Validation Gate</a:t>
            </a:r>
            <a:endParaRPr lang="en-US" sz="1100" dirty="0"/>
          </a:p>
        </p:txBody>
      </p:sp>
      <p:sp>
        <p:nvSpPr>
          <p:cNvPr id="27" name="Text 25"/>
          <p:cNvSpPr/>
          <p:nvPr/>
        </p:nvSpPr>
        <p:spPr>
          <a:xfrm>
            <a:off x="6629400" y="2889504"/>
            <a:ext cx="2011680" cy="438912"/>
          </a:xfrm>
          <a:prstGeom prst="rect">
            <a:avLst/>
          </a:prstGeom>
          <a:noFill/>
          <a:ln/>
        </p:spPr>
        <p:txBody>
          <a:bodyPr wrap="square" rtlCol="0" anchor="ctr"/>
          <a:lstStyle/>
          <a:p>
            <a:pPr indent="0" marL="0">
              <a:buNone/>
            </a:pPr>
            <a:r>
              <a:rPr lang="en-US" sz="950" dirty="0">
                <a:solidFill>
                  <a:srgbClr val="94A3B8"/>
                </a:solidFill>
              </a:rPr>
              <a:t>ActionAgent runs jsonschema validation on every call before invocation — fails fast and loud</a:t>
            </a:r>
            <a:endParaRPr lang="en-US" sz="950" dirty="0"/>
          </a:p>
        </p:txBody>
      </p:sp>
      <p:sp>
        <p:nvSpPr>
          <p:cNvPr id="28" name="Shape 26"/>
          <p:cNvSpPr/>
          <p:nvPr/>
        </p:nvSpPr>
        <p:spPr>
          <a:xfrm>
            <a:off x="1828800" y="3520440"/>
            <a:ext cx="2651760" cy="804672"/>
          </a:xfrm>
          <a:prstGeom prst="rect">
            <a:avLst/>
          </a:prstGeom>
          <a:solidFill>
            <a:srgbClr val="FFFFFF"/>
          </a:solidFill>
          <a:ln w="6350">
            <a:solidFill>
              <a:srgbClr val="E2E8F0"/>
            </a:solidFill>
            <a:prstDash val="solid"/>
          </a:ln>
        </p:spPr>
      </p:sp>
      <p:sp>
        <p:nvSpPr>
          <p:cNvPr id="29" name="Shape 27"/>
          <p:cNvSpPr/>
          <p:nvPr/>
        </p:nvSpPr>
        <p:spPr>
          <a:xfrm>
            <a:off x="1938528" y="3675888"/>
            <a:ext cx="329184" cy="329184"/>
          </a:xfrm>
          <a:prstGeom prst="roundRect">
            <a:avLst>
              <a:gd name="adj" fmla="val 50000"/>
            </a:avLst>
          </a:prstGeom>
          <a:solidFill>
            <a:srgbClr val="1A56DB"/>
          </a:solidFill>
          <a:ln w="12700">
            <a:solidFill>
              <a:srgbClr val="1A56DB"/>
            </a:solidFill>
            <a:prstDash val="solid"/>
          </a:ln>
        </p:spPr>
      </p:sp>
      <p:sp>
        <p:nvSpPr>
          <p:cNvPr id="30" name="Text 28"/>
          <p:cNvSpPr/>
          <p:nvPr/>
        </p:nvSpPr>
        <p:spPr>
          <a:xfrm>
            <a:off x="1938528" y="367588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31" name="Text 29"/>
          <p:cNvSpPr/>
          <p:nvPr/>
        </p:nvSpPr>
        <p:spPr>
          <a:xfrm>
            <a:off x="2377440" y="3593592"/>
            <a:ext cx="2011680" cy="256032"/>
          </a:xfrm>
          <a:prstGeom prst="rect">
            <a:avLst/>
          </a:prstGeom>
          <a:noFill/>
          <a:ln/>
        </p:spPr>
        <p:txBody>
          <a:bodyPr wrap="square" rtlCol="0" anchor="ctr"/>
          <a:lstStyle/>
          <a:p>
            <a:pPr indent="0" marL="0">
              <a:buNone/>
            </a:pPr>
            <a:r>
              <a:rPr lang="en-US" sz="1100" b="1" dirty="0">
                <a:solidFill>
                  <a:srgbClr val="1E293B"/>
                </a:solidFill>
              </a:rPr>
              <a:t>Param Substitution</a:t>
            </a:r>
            <a:endParaRPr lang="en-US" sz="1100" dirty="0"/>
          </a:p>
        </p:txBody>
      </p:sp>
      <p:sp>
        <p:nvSpPr>
          <p:cNvPr id="32" name="Text 30"/>
          <p:cNvSpPr/>
          <p:nvPr/>
        </p:nvSpPr>
        <p:spPr>
          <a:xfrm>
            <a:off x="2377440" y="3849624"/>
            <a:ext cx="2011680" cy="438912"/>
          </a:xfrm>
          <a:prstGeom prst="rect">
            <a:avLst/>
          </a:prstGeom>
          <a:noFill/>
          <a:ln/>
        </p:spPr>
        <p:txBody>
          <a:bodyPr wrap="square" rtlCol="0" anchor="ctr"/>
          <a:lstStyle/>
          <a:p>
            <a:pPr indent="0" marL="0">
              <a:buNone/>
            </a:pPr>
            <a:r>
              <a:rPr lang="en-US" sz="950" dirty="0">
                <a:solidFill>
                  <a:srgbClr val="94A3B8"/>
                </a:solidFill>
              </a:rPr>
              <a:t>Recursive resolution of user_context and task_output placeholders before validation</a:t>
            </a:r>
            <a:endParaRPr lang="en-US" sz="950" dirty="0"/>
          </a:p>
        </p:txBody>
      </p:sp>
      <p:sp>
        <p:nvSpPr>
          <p:cNvPr id="33" name="Shape 31"/>
          <p:cNvSpPr/>
          <p:nvPr/>
        </p:nvSpPr>
        <p:spPr>
          <a:xfrm>
            <a:off x="4663440" y="3520440"/>
            <a:ext cx="2651760" cy="804672"/>
          </a:xfrm>
          <a:prstGeom prst="rect">
            <a:avLst/>
          </a:prstGeom>
          <a:solidFill>
            <a:srgbClr val="FFFFFF"/>
          </a:solidFill>
          <a:ln w="6350">
            <a:solidFill>
              <a:srgbClr val="E2E8F0"/>
            </a:solidFill>
            <a:prstDash val="solid"/>
          </a:ln>
        </p:spPr>
      </p:sp>
      <p:sp>
        <p:nvSpPr>
          <p:cNvPr id="34" name="Shape 32"/>
          <p:cNvSpPr/>
          <p:nvPr/>
        </p:nvSpPr>
        <p:spPr>
          <a:xfrm>
            <a:off x="4773168" y="3675888"/>
            <a:ext cx="329184" cy="329184"/>
          </a:xfrm>
          <a:prstGeom prst="roundRect">
            <a:avLst>
              <a:gd name="adj" fmla="val 50000"/>
            </a:avLst>
          </a:prstGeom>
          <a:solidFill>
            <a:srgbClr val="1A56DB"/>
          </a:solidFill>
          <a:ln w="12700">
            <a:solidFill>
              <a:srgbClr val="1A56DB"/>
            </a:solidFill>
            <a:prstDash val="solid"/>
          </a:ln>
        </p:spPr>
      </p:sp>
      <p:sp>
        <p:nvSpPr>
          <p:cNvPr id="35" name="Text 33"/>
          <p:cNvSpPr/>
          <p:nvPr/>
        </p:nvSpPr>
        <p:spPr>
          <a:xfrm>
            <a:off x="4773168" y="367588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rPr>
              <a:t>5</a:t>
            </a:r>
            <a:endParaRPr lang="en-US" sz="1100" dirty="0"/>
          </a:p>
        </p:txBody>
      </p:sp>
      <p:sp>
        <p:nvSpPr>
          <p:cNvPr id="36" name="Text 34"/>
          <p:cNvSpPr/>
          <p:nvPr/>
        </p:nvSpPr>
        <p:spPr>
          <a:xfrm>
            <a:off x="5212080" y="3593592"/>
            <a:ext cx="2011680" cy="256032"/>
          </a:xfrm>
          <a:prstGeom prst="rect">
            <a:avLst/>
          </a:prstGeom>
          <a:noFill/>
          <a:ln/>
        </p:spPr>
        <p:txBody>
          <a:bodyPr wrap="square" rtlCol="0" anchor="ctr"/>
          <a:lstStyle/>
          <a:p>
            <a:pPr indent="0" marL="0">
              <a:buNone/>
            </a:pPr>
            <a:r>
              <a:rPr lang="en-US" sz="1100" b="1" dirty="0">
                <a:solidFill>
                  <a:srgbClr val="1E293B"/>
                </a:solidFill>
              </a:rPr>
              <a:t>Result Serialisation</a:t>
            </a:r>
            <a:endParaRPr lang="en-US" sz="1100" dirty="0"/>
          </a:p>
        </p:txBody>
      </p:sp>
      <p:sp>
        <p:nvSpPr>
          <p:cNvPr id="37" name="Text 35"/>
          <p:cNvSpPr/>
          <p:nvPr/>
        </p:nvSpPr>
        <p:spPr>
          <a:xfrm>
            <a:off x="5212080" y="3849624"/>
            <a:ext cx="2011680" cy="438912"/>
          </a:xfrm>
          <a:prstGeom prst="rect">
            <a:avLst/>
          </a:prstGeom>
          <a:noFill/>
          <a:ln/>
        </p:spPr>
        <p:txBody>
          <a:bodyPr wrap="square" rtlCol="0" anchor="ctr"/>
          <a:lstStyle/>
          <a:p>
            <a:pPr indent="0" marL="0">
              <a:buNone/>
            </a:pPr>
            <a:r>
              <a:rPr lang="en-US" sz="950" dirty="0">
                <a:solidFill>
                  <a:srgbClr val="94A3B8"/>
                </a:solidFill>
              </a:rPr>
              <a:t>Improved JSON handling for complex MCP outputs (e.g. TextContent) prevents downstream errors</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F3D"/>
        </a:solidFill>
      </p:bgPr>
    </p:bg>
    <p:spTree>
      <p:nvGrpSpPr>
        <p:cNvPr id="1" name=""/>
        <p:cNvGrpSpPr/>
        <p:nvPr/>
      </p:nvGrpSpPr>
      <p:grpSpPr>
        <a:xfrm>
          <a:off x="0" y="0"/>
          <a:ext cx="0" cy="0"/>
          <a:chOff x="0" y="0"/>
          <a:chExt cx="0" cy="0"/>
        </a:xfrm>
      </p:grpSpPr>
      <p:sp>
        <p:nvSpPr>
          <p:cNvPr id="2" name="Shape 0"/>
          <p:cNvSpPr/>
          <p:nvPr/>
        </p:nvSpPr>
        <p:spPr>
          <a:xfrm>
            <a:off x="411480" y="201168"/>
            <a:ext cx="1645920" cy="256032"/>
          </a:xfrm>
          <a:prstGeom prst="roundRect">
            <a:avLst>
              <a:gd name="adj" fmla="val 50000"/>
            </a:avLst>
          </a:prstGeom>
          <a:solidFill>
            <a:srgbClr val="1A56DB">
              <a:alpha val="15000"/>
            </a:srgbClr>
          </a:solidFill>
          <a:ln w="6350">
            <a:solidFill>
              <a:srgbClr val="1A56DB"/>
            </a:solidFill>
            <a:prstDash val="solid"/>
          </a:ln>
        </p:spPr>
      </p:sp>
      <p:sp>
        <p:nvSpPr>
          <p:cNvPr id="3" name="Text 1"/>
          <p:cNvSpPr/>
          <p:nvPr/>
        </p:nvSpPr>
        <p:spPr>
          <a:xfrm>
            <a:off x="411480" y="201168"/>
            <a:ext cx="1645920" cy="256032"/>
          </a:xfrm>
          <a:prstGeom prst="rect">
            <a:avLst/>
          </a:prstGeom>
          <a:noFill/>
          <a:ln/>
        </p:spPr>
        <p:txBody>
          <a:bodyPr wrap="square" lIns="0" tIns="0" rIns="0" bIns="0" rtlCol="0" anchor="ctr"/>
          <a:lstStyle/>
          <a:p>
            <a:pPr algn="ctr" indent="0" marL="0">
              <a:buNone/>
            </a:pPr>
            <a:r>
              <a:rPr lang="en-US" sz="900" b="1" dirty="0">
                <a:solidFill>
                  <a:srgbClr val="1A56DB"/>
                </a:solidFill>
              </a:rPr>
              <a:t>PROMPTS</a:t>
            </a:r>
            <a:endParaRPr lang="en-US" sz="900" dirty="0"/>
          </a:p>
        </p:txBody>
      </p:sp>
      <p:sp>
        <p:nvSpPr>
          <p:cNvPr id="4" name="Text 2"/>
          <p:cNvSpPr/>
          <p:nvPr/>
        </p:nvSpPr>
        <p:spPr>
          <a:xfrm>
            <a:off x="411480" y="502920"/>
            <a:ext cx="8321040" cy="640080"/>
          </a:xfrm>
          <a:prstGeom prst="rect">
            <a:avLst/>
          </a:prstGeom>
          <a:noFill/>
          <a:ln/>
        </p:spPr>
        <p:txBody>
          <a:bodyPr wrap="square" rtlCol="0" anchor="ctr"/>
          <a:lstStyle/>
          <a:p>
            <a:pPr indent="0" marL="0">
              <a:buNone/>
            </a:pPr>
            <a:r>
              <a:rPr lang="en-US" sz="3000" b="1" dirty="0">
                <a:solidFill>
                  <a:srgbClr val="FFFFFF"/>
                </a:solidFill>
              </a:rPr>
              <a:t>Prompt Management</a:t>
            </a:r>
            <a:endParaRPr lang="en-US" sz="3000" dirty="0"/>
          </a:p>
        </p:txBody>
      </p:sp>
      <p:sp>
        <p:nvSpPr>
          <p:cNvPr id="5" name="Shape 3"/>
          <p:cNvSpPr/>
          <p:nvPr/>
        </p:nvSpPr>
        <p:spPr>
          <a:xfrm>
            <a:off x="411480" y="1234440"/>
            <a:ext cx="3931920" cy="2286000"/>
          </a:xfrm>
          <a:prstGeom prst="rect">
            <a:avLst/>
          </a:prstGeom>
          <a:solidFill>
            <a:srgbClr val="1E0A0A"/>
          </a:solidFill>
          <a:ln w="6350">
            <a:solidFill>
              <a:srgbClr val="E2E8F0"/>
            </a:solidFill>
            <a:prstDash val="solid"/>
          </a:ln>
        </p:spPr>
      </p:sp>
      <p:sp>
        <p:nvSpPr>
          <p:cNvPr id="6" name="Text 4"/>
          <p:cNvSpPr/>
          <p:nvPr/>
        </p:nvSpPr>
        <p:spPr>
          <a:xfrm>
            <a:off x="594360" y="1353312"/>
            <a:ext cx="3566160" cy="256032"/>
          </a:xfrm>
          <a:prstGeom prst="rect">
            <a:avLst/>
          </a:prstGeom>
          <a:noFill/>
          <a:ln/>
        </p:spPr>
        <p:txBody>
          <a:bodyPr wrap="square" rtlCol="0" anchor="ctr"/>
          <a:lstStyle/>
          <a:p>
            <a:pPr indent="0" marL="0">
              <a:buNone/>
            </a:pPr>
            <a:r>
              <a:rPr lang="en-US" sz="900" b="1" spc="200" kern="0" dirty="0">
                <a:solidFill>
                  <a:srgbClr val="F87171"/>
                </a:solidFill>
              </a:rPr>
              <a:t>BEFORE</a:t>
            </a:r>
            <a:endParaRPr lang="en-US" sz="900" dirty="0"/>
          </a:p>
        </p:txBody>
      </p:sp>
      <p:sp>
        <p:nvSpPr>
          <p:cNvPr id="7" name="Shape 5"/>
          <p:cNvSpPr/>
          <p:nvPr/>
        </p:nvSpPr>
        <p:spPr>
          <a:xfrm>
            <a:off x="594360" y="1783080"/>
            <a:ext cx="109728" cy="109728"/>
          </a:xfrm>
          <a:prstGeom prst="oval">
            <a:avLst/>
          </a:prstGeom>
          <a:solidFill>
            <a:srgbClr val="F87171"/>
          </a:solidFill>
          <a:ln w="12700">
            <a:solidFill>
              <a:srgbClr val="F87171"/>
            </a:solidFill>
            <a:prstDash val="solid"/>
          </a:ln>
        </p:spPr>
      </p:sp>
      <p:sp>
        <p:nvSpPr>
          <p:cNvPr id="8" name="Text 6"/>
          <p:cNvSpPr/>
          <p:nvPr/>
        </p:nvSpPr>
        <p:spPr>
          <a:xfrm>
            <a:off x="804672" y="1737360"/>
            <a:ext cx="3383280" cy="347472"/>
          </a:xfrm>
          <a:prstGeom prst="rect">
            <a:avLst/>
          </a:prstGeom>
          <a:noFill/>
          <a:ln/>
        </p:spPr>
        <p:txBody>
          <a:bodyPr wrap="square" rtlCol="0" anchor="ctr"/>
          <a:lstStyle/>
          <a:p>
            <a:pPr indent="0" marL="0">
              <a:buNone/>
            </a:pPr>
            <a:r>
              <a:rPr lang="en-US" sz="1100" dirty="0">
                <a:solidFill>
                  <a:srgbClr val="CBD5E1"/>
                </a:solidFill>
              </a:rPr>
              <a:t>Hardcoded as Python string literals</a:t>
            </a:r>
            <a:endParaRPr lang="en-US" sz="1100" dirty="0"/>
          </a:p>
        </p:txBody>
      </p:sp>
      <p:sp>
        <p:nvSpPr>
          <p:cNvPr id="9" name="Shape 7"/>
          <p:cNvSpPr/>
          <p:nvPr/>
        </p:nvSpPr>
        <p:spPr>
          <a:xfrm>
            <a:off x="594360" y="2185416"/>
            <a:ext cx="109728" cy="109728"/>
          </a:xfrm>
          <a:prstGeom prst="oval">
            <a:avLst/>
          </a:prstGeom>
          <a:solidFill>
            <a:srgbClr val="F87171"/>
          </a:solidFill>
          <a:ln w="12700">
            <a:solidFill>
              <a:srgbClr val="F87171"/>
            </a:solidFill>
            <a:prstDash val="solid"/>
          </a:ln>
        </p:spPr>
      </p:sp>
      <p:sp>
        <p:nvSpPr>
          <p:cNvPr id="10" name="Text 8"/>
          <p:cNvSpPr/>
          <p:nvPr/>
        </p:nvSpPr>
        <p:spPr>
          <a:xfrm>
            <a:off x="804672" y="2139696"/>
            <a:ext cx="3383280" cy="347472"/>
          </a:xfrm>
          <a:prstGeom prst="rect">
            <a:avLst/>
          </a:prstGeom>
          <a:noFill/>
          <a:ln/>
        </p:spPr>
        <p:txBody>
          <a:bodyPr wrap="square" rtlCol="0" anchor="ctr"/>
          <a:lstStyle/>
          <a:p>
            <a:pPr indent="0" marL="0">
              <a:buNone/>
            </a:pPr>
            <a:r>
              <a:rPr lang="en-US" sz="1100" dirty="0">
                <a:solidFill>
                  <a:srgbClr val="CBD5E1"/>
                </a:solidFill>
              </a:rPr>
              <a:t>Mixed logic with LLM content</a:t>
            </a:r>
            <a:endParaRPr lang="en-US" sz="1100" dirty="0"/>
          </a:p>
        </p:txBody>
      </p:sp>
      <p:sp>
        <p:nvSpPr>
          <p:cNvPr id="11" name="Shape 9"/>
          <p:cNvSpPr/>
          <p:nvPr/>
        </p:nvSpPr>
        <p:spPr>
          <a:xfrm>
            <a:off x="594360" y="2587752"/>
            <a:ext cx="109728" cy="109728"/>
          </a:xfrm>
          <a:prstGeom prst="oval">
            <a:avLst/>
          </a:prstGeom>
          <a:solidFill>
            <a:srgbClr val="F87171"/>
          </a:solidFill>
          <a:ln w="12700">
            <a:solidFill>
              <a:srgbClr val="F87171"/>
            </a:solidFill>
            <a:prstDash val="solid"/>
          </a:ln>
        </p:spPr>
      </p:sp>
      <p:sp>
        <p:nvSpPr>
          <p:cNvPr id="12" name="Text 10"/>
          <p:cNvSpPr/>
          <p:nvPr/>
        </p:nvSpPr>
        <p:spPr>
          <a:xfrm>
            <a:off x="804672" y="2542032"/>
            <a:ext cx="3383280" cy="347472"/>
          </a:xfrm>
          <a:prstGeom prst="rect">
            <a:avLst/>
          </a:prstGeom>
          <a:noFill/>
          <a:ln/>
        </p:spPr>
        <p:txBody>
          <a:bodyPr wrap="square" rtlCol="0" anchor="ctr"/>
          <a:lstStyle/>
          <a:p>
            <a:pPr indent="0" marL="0">
              <a:buNone/>
            </a:pPr>
            <a:r>
              <a:rPr lang="en-US" sz="1100" dirty="0">
                <a:solidFill>
                  <a:srgbClr val="CBD5E1"/>
                </a:solidFill>
              </a:rPr>
              <a:t>Hard to review or version</a:t>
            </a:r>
            <a:endParaRPr lang="en-US" sz="1100" dirty="0"/>
          </a:p>
        </p:txBody>
      </p:sp>
      <p:sp>
        <p:nvSpPr>
          <p:cNvPr id="13" name="Shape 11"/>
          <p:cNvSpPr/>
          <p:nvPr/>
        </p:nvSpPr>
        <p:spPr>
          <a:xfrm>
            <a:off x="594360" y="2990088"/>
            <a:ext cx="109728" cy="109728"/>
          </a:xfrm>
          <a:prstGeom prst="oval">
            <a:avLst/>
          </a:prstGeom>
          <a:solidFill>
            <a:srgbClr val="F87171"/>
          </a:solidFill>
          <a:ln w="12700">
            <a:solidFill>
              <a:srgbClr val="F87171"/>
            </a:solidFill>
            <a:prstDash val="solid"/>
          </a:ln>
        </p:spPr>
      </p:sp>
      <p:sp>
        <p:nvSpPr>
          <p:cNvPr id="14" name="Text 12"/>
          <p:cNvSpPr/>
          <p:nvPr/>
        </p:nvSpPr>
        <p:spPr>
          <a:xfrm>
            <a:off x="804672" y="2944368"/>
            <a:ext cx="3383280" cy="347472"/>
          </a:xfrm>
          <a:prstGeom prst="rect">
            <a:avLst/>
          </a:prstGeom>
          <a:noFill/>
          <a:ln/>
        </p:spPr>
        <p:txBody>
          <a:bodyPr wrap="square" rtlCol="0" anchor="ctr"/>
          <a:lstStyle/>
          <a:p>
            <a:pPr indent="0" marL="0">
              <a:buNone/>
            </a:pPr>
            <a:r>
              <a:rPr lang="en-US" sz="1100" dirty="0">
                <a:solidFill>
                  <a:srgbClr val="CBD5E1"/>
                </a:solidFill>
              </a:rPr>
              <a:t>Non-devs couldn't update prompts</a:t>
            </a:r>
            <a:endParaRPr lang="en-US" sz="1100" dirty="0"/>
          </a:p>
        </p:txBody>
      </p:sp>
      <p:sp>
        <p:nvSpPr>
          <p:cNvPr id="15" name="Shape 13"/>
          <p:cNvSpPr/>
          <p:nvPr/>
        </p:nvSpPr>
        <p:spPr>
          <a:xfrm>
            <a:off x="4572000" y="1234440"/>
            <a:ext cx="4160520" cy="2286000"/>
          </a:xfrm>
          <a:prstGeom prst="rect">
            <a:avLst/>
          </a:prstGeom>
          <a:solidFill>
            <a:srgbClr val="0A1F0A"/>
          </a:solidFill>
          <a:ln w="6350">
            <a:solidFill>
              <a:srgbClr val="E2E8F0"/>
            </a:solidFill>
            <a:prstDash val="solid"/>
          </a:ln>
        </p:spPr>
      </p:sp>
      <p:sp>
        <p:nvSpPr>
          <p:cNvPr id="16" name="Text 14"/>
          <p:cNvSpPr/>
          <p:nvPr/>
        </p:nvSpPr>
        <p:spPr>
          <a:xfrm>
            <a:off x="4754880" y="1353312"/>
            <a:ext cx="3749040" cy="256032"/>
          </a:xfrm>
          <a:prstGeom prst="rect">
            <a:avLst/>
          </a:prstGeom>
          <a:noFill/>
          <a:ln/>
        </p:spPr>
        <p:txBody>
          <a:bodyPr wrap="square" rtlCol="0" anchor="ctr"/>
          <a:lstStyle/>
          <a:p>
            <a:pPr indent="0" marL="0">
              <a:buNone/>
            </a:pPr>
            <a:r>
              <a:rPr lang="en-US" sz="900" b="1" spc="200" kern="0" dirty="0">
                <a:solidFill>
                  <a:srgbClr val="4ADE80"/>
                </a:solidFill>
              </a:rPr>
              <a:t>AFTER</a:t>
            </a:r>
            <a:endParaRPr lang="en-US" sz="900" dirty="0"/>
          </a:p>
        </p:txBody>
      </p:sp>
      <p:sp>
        <p:nvSpPr>
          <p:cNvPr id="17" name="Shape 15"/>
          <p:cNvSpPr/>
          <p:nvPr/>
        </p:nvSpPr>
        <p:spPr>
          <a:xfrm>
            <a:off x="4754880" y="1783080"/>
            <a:ext cx="109728" cy="109728"/>
          </a:xfrm>
          <a:prstGeom prst="oval">
            <a:avLst/>
          </a:prstGeom>
          <a:solidFill>
            <a:srgbClr val="4ADE80"/>
          </a:solidFill>
          <a:ln w="12700">
            <a:solidFill>
              <a:srgbClr val="4ADE80"/>
            </a:solidFill>
            <a:prstDash val="solid"/>
          </a:ln>
        </p:spPr>
      </p:sp>
      <p:sp>
        <p:nvSpPr>
          <p:cNvPr id="18" name="Text 16"/>
          <p:cNvSpPr/>
          <p:nvPr/>
        </p:nvSpPr>
        <p:spPr>
          <a:xfrm>
            <a:off x="4965192" y="1737360"/>
            <a:ext cx="3611880" cy="347472"/>
          </a:xfrm>
          <a:prstGeom prst="rect">
            <a:avLst/>
          </a:prstGeom>
          <a:noFill/>
          <a:ln/>
        </p:spPr>
        <p:txBody>
          <a:bodyPr wrap="square" rtlCol="0" anchor="ctr"/>
          <a:lstStyle/>
          <a:p>
            <a:pPr indent="0" marL="0">
              <a:buNone/>
            </a:pPr>
            <a:r>
              <a:rPr lang="en-US" sz="1100" dirty="0">
                <a:solidFill>
                  <a:srgbClr val="CBD5E1"/>
                </a:solidFill>
              </a:rPr>
              <a:t>Prompts in .md files under backend/system_prompts/</a:t>
            </a:r>
            <a:endParaRPr lang="en-US" sz="1100" dirty="0"/>
          </a:p>
        </p:txBody>
      </p:sp>
      <p:sp>
        <p:nvSpPr>
          <p:cNvPr id="19" name="Shape 17"/>
          <p:cNvSpPr/>
          <p:nvPr/>
        </p:nvSpPr>
        <p:spPr>
          <a:xfrm>
            <a:off x="4754880" y="2185416"/>
            <a:ext cx="109728" cy="109728"/>
          </a:xfrm>
          <a:prstGeom prst="oval">
            <a:avLst/>
          </a:prstGeom>
          <a:solidFill>
            <a:srgbClr val="4ADE80"/>
          </a:solidFill>
          <a:ln w="12700">
            <a:solidFill>
              <a:srgbClr val="4ADE80"/>
            </a:solidFill>
            <a:prstDash val="solid"/>
          </a:ln>
        </p:spPr>
      </p:sp>
      <p:sp>
        <p:nvSpPr>
          <p:cNvPr id="20" name="Text 18"/>
          <p:cNvSpPr/>
          <p:nvPr/>
        </p:nvSpPr>
        <p:spPr>
          <a:xfrm>
            <a:off x="4965192" y="2139696"/>
            <a:ext cx="3611880" cy="347472"/>
          </a:xfrm>
          <a:prstGeom prst="rect">
            <a:avLst/>
          </a:prstGeom>
          <a:noFill/>
          <a:ln/>
        </p:spPr>
        <p:txBody>
          <a:bodyPr wrap="square" rtlCol="0" anchor="ctr"/>
          <a:lstStyle/>
          <a:p>
            <a:pPr indent="0" marL="0">
              <a:buNone/>
            </a:pPr>
            <a:r>
              <a:rPr lang="en-US" sz="1100" dirty="0">
                <a:solidFill>
                  <a:srgbClr val="CBD5E1"/>
                </a:solidFill>
              </a:rPr>
              <a:t>Organised by agent: intent/ · managerial/ · action/</a:t>
            </a:r>
            <a:endParaRPr lang="en-US" sz="1100" dirty="0"/>
          </a:p>
        </p:txBody>
      </p:sp>
      <p:sp>
        <p:nvSpPr>
          <p:cNvPr id="21" name="Shape 19"/>
          <p:cNvSpPr/>
          <p:nvPr/>
        </p:nvSpPr>
        <p:spPr>
          <a:xfrm>
            <a:off x="4754880" y="2587752"/>
            <a:ext cx="109728" cy="109728"/>
          </a:xfrm>
          <a:prstGeom prst="oval">
            <a:avLst/>
          </a:prstGeom>
          <a:solidFill>
            <a:srgbClr val="4ADE80"/>
          </a:solidFill>
          <a:ln w="12700">
            <a:solidFill>
              <a:srgbClr val="4ADE80"/>
            </a:solidFill>
            <a:prstDash val="solid"/>
          </a:ln>
        </p:spPr>
      </p:sp>
      <p:sp>
        <p:nvSpPr>
          <p:cNvPr id="22" name="Text 20"/>
          <p:cNvSpPr/>
          <p:nvPr/>
        </p:nvSpPr>
        <p:spPr>
          <a:xfrm>
            <a:off x="4965192" y="2542032"/>
            <a:ext cx="3611880" cy="347472"/>
          </a:xfrm>
          <a:prstGeom prst="rect">
            <a:avLst/>
          </a:prstGeom>
          <a:noFill/>
          <a:ln/>
        </p:spPr>
        <p:txBody>
          <a:bodyPr wrap="square" rtlCol="0" anchor="ctr"/>
          <a:lstStyle/>
          <a:p>
            <a:pPr indent="0" marL="0">
              <a:buNone/>
            </a:pPr>
            <a:r>
              <a:rPr lang="en-US" sz="1100" dirty="0">
                <a:solidFill>
                  <a:srgbClr val="CBD5E1"/>
                </a:solidFill>
              </a:rPr>
              <a:t>Edit .md → redeploy · no Python changes needed</a:t>
            </a:r>
            <a:endParaRPr lang="en-US" sz="1100" dirty="0"/>
          </a:p>
        </p:txBody>
      </p:sp>
      <p:sp>
        <p:nvSpPr>
          <p:cNvPr id="23" name="Shape 21"/>
          <p:cNvSpPr/>
          <p:nvPr/>
        </p:nvSpPr>
        <p:spPr>
          <a:xfrm>
            <a:off x="4754880" y="2990088"/>
            <a:ext cx="109728" cy="109728"/>
          </a:xfrm>
          <a:prstGeom prst="oval">
            <a:avLst/>
          </a:prstGeom>
          <a:solidFill>
            <a:srgbClr val="4ADE80"/>
          </a:solidFill>
          <a:ln w="12700">
            <a:solidFill>
              <a:srgbClr val="4ADE80"/>
            </a:solidFill>
            <a:prstDash val="solid"/>
          </a:ln>
        </p:spPr>
      </p:sp>
      <p:sp>
        <p:nvSpPr>
          <p:cNvPr id="24" name="Text 22"/>
          <p:cNvSpPr/>
          <p:nvPr/>
        </p:nvSpPr>
        <p:spPr>
          <a:xfrm>
            <a:off x="4965192" y="2944368"/>
            <a:ext cx="3611880" cy="347472"/>
          </a:xfrm>
          <a:prstGeom prst="rect">
            <a:avLst/>
          </a:prstGeom>
          <a:noFill/>
          <a:ln/>
        </p:spPr>
        <p:txBody>
          <a:bodyPr wrap="square" rtlCol="0" anchor="ctr"/>
          <a:lstStyle/>
          <a:p>
            <a:pPr indent="0" marL="0">
              <a:buNone/>
            </a:pPr>
            <a:r>
              <a:rPr lang="en-US" sz="1100" dirty="0">
                <a:solidFill>
                  <a:srgbClr val="CBD5E1"/>
                </a:solidFill>
              </a:rPr>
              <a:t>Non-breaking: constants still exported from prompts.py</a:t>
            </a:r>
            <a:endParaRPr lang="en-US" sz="1100" dirty="0"/>
          </a:p>
        </p:txBody>
      </p:sp>
      <p:sp>
        <p:nvSpPr>
          <p:cNvPr id="25" name="Shape 23"/>
          <p:cNvSpPr/>
          <p:nvPr/>
        </p:nvSpPr>
        <p:spPr>
          <a:xfrm>
            <a:off x="411480" y="3657600"/>
            <a:ext cx="8321040" cy="1234440"/>
          </a:xfrm>
          <a:prstGeom prst="rect">
            <a:avLst/>
          </a:prstGeom>
          <a:solidFill>
            <a:srgbClr val="0D2137"/>
          </a:solidFill>
          <a:ln w="6350">
            <a:solidFill>
              <a:srgbClr val="E2E8F0"/>
            </a:solidFill>
            <a:prstDash val="solid"/>
          </a:ln>
        </p:spPr>
      </p:sp>
      <p:sp>
        <p:nvSpPr>
          <p:cNvPr id="26" name="Text 24"/>
          <p:cNvSpPr/>
          <p:nvPr/>
        </p:nvSpPr>
        <p:spPr>
          <a:xfrm>
            <a:off x="640080" y="3730752"/>
            <a:ext cx="7772400" cy="256032"/>
          </a:xfrm>
          <a:prstGeom prst="rect">
            <a:avLst/>
          </a:prstGeom>
          <a:noFill/>
          <a:ln/>
        </p:spPr>
        <p:txBody>
          <a:bodyPr wrap="square" rtlCol="0" anchor="ctr"/>
          <a:lstStyle/>
          <a:p>
            <a:pPr indent="0" marL="0">
              <a:buNone/>
            </a:pPr>
            <a:r>
              <a:rPr lang="en-US" sz="1000" b="1" dirty="0">
                <a:solidFill>
                  <a:srgbClr val="06B6D4"/>
                </a:solidFill>
                <a:latin typeface="Consolas" pitchFamily="34" charset="0"/>
                <a:ea typeface="Consolas" pitchFamily="34" charset="-122"/>
                <a:cs typeface="Consolas" pitchFamily="34" charset="-120"/>
              </a:rPr>
              <a:t>backend/system_prompts/</a:t>
            </a:r>
            <a:endParaRPr lang="en-US" sz="1000" dirty="0"/>
          </a:p>
        </p:txBody>
      </p:sp>
      <p:sp>
        <p:nvSpPr>
          <p:cNvPr id="27" name="Text 25"/>
          <p:cNvSpPr/>
          <p:nvPr/>
        </p:nvSpPr>
        <p:spPr>
          <a:xfrm>
            <a:off x="640080" y="4005072"/>
            <a:ext cx="8046720" cy="804672"/>
          </a:xfrm>
          <a:prstGeom prst="rect">
            <a:avLst/>
          </a:prstGeom>
          <a:noFill/>
          <a:ln/>
        </p:spPr>
        <p:txBody>
          <a:bodyPr wrap="square" rtlCol="0" anchor="ctr"/>
          <a:lstStyle/>
          <a:p>
            <a:pPr indent="0" marL="0">
              <a:buNone/>
            </a:pPr>
            <a:r>
              <a:rPr lang="en-US" sz="950" dirty="0">
                <a:solidFill>
                  <a:srgbClr val="9ECFFF"/>
                </a:solidFill>
                <a:latin typeface="Consolas" pitchFamily="34" charset="0"/>
                <a:ea typeface="Consolas" pitchFamily="34" charset="-122"/>
                <a:cs typeface="Consolas" pitchFamily="34" charset="-120"/>
              </a:rPr>
              <a:t>├── intent/          classifier.md  ·  validator.md</a:t>
            </a:r>
            <a:endParaRPr lang="en-US" sz="950" dirty="0"/>
          </a:p>
          <a:p>
            <a:pPr indent="0" marL="0">
              <a:buNone/>
            </a:pPr>
            <a:r>
              <a:rPr lang="en-US" sz="950" dirty="0">
                <a:solidFill>
                  <a:srgbClr val="9ECFFF"/>
                </a:solidFill>
                <a:latin typeface="Consolas" pitchFamily="34" charset="0"/>
                <a:ea typeface="Consolas" pitchFamily="34" charset="-122"/>
                <a:cs typeface="Consolas" pitchFamily="34" charset="-120"/>
              </a:rPr>
              <a:t>├── managerial/      task_decomposer.md  ·  response_aggregator.md</a:t>
            </a:r>
            <a:endParaRPr lang="en-US" sz="950" dirty="0"/>
          </a:p>
          <a:p>
            <a:pPr indent="0" marL="0">
              <a:buNone/>
            </a:pPr>
            <a:r>
              <a:rPr lang="en-US" sz="950" dirty="0">
                <a:solidFill>
                  <a:srgbClr val="9ECFFF"/>
                </a:solidFill>
                <a:latin typeface="Consolas" pitchFamily="34" charset="0"/>
                <a:ea typeface="Consolas" pitchFamily="34" charset="-122"/>
                <a:cs typeface="Consolas" pitchFamily="34" charset="-120"/>
              </a:rPr>
              <a:t>└── action/          calendar_parser.md  ·  github_parser.md  ·  gmail_parser.md  ·  notion_parser.md</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11480" y="201168"/>
            <a:ext cx="1645920" cy="256032"/>
          </a:xfrm>
          <a:prstGeom prst="roundRect">
            <a:avLst>
              <a:gd name="adj" fmla="val 50000"/>
            </a:avLst>
          </a:prstGeom>
          <a:solidFill>
            <a:srgbClr val="1A56DB">
              <a:alpha val="15000"/>
            </a:srgbClr>
          </a:solidFill>
          <a:ln w="6350">
            <a:solidFill>
              <a:srgbClr val="1A56DB"/>
            </a:solidFill>
            <a:prstDash val="solid"/>
          </a:ln>
        </p:spPr>
      </p:sp>
      <p:sp>
        <p:nvSpPr>
          <p:cNvPr id="3" name="Text 1"/>
          <p:cNvSpPr/>
          <p:nvPr/>
        </p:nvSpPr>
        <p:spPr>
          <a:xfrm>
            <a:off x="411480" y="201168"/>
            <a:ext cx="1645920" cy="256032"/>
          </a:xfrm>
          <a:prstGeom prst="rect">
            <a:avLst/>
          </a:prstGeom>
          <a:noFill/>
          <a:ln/>
        </p:spPr>
        <p:txBody>
          <a:bodyPr wrap="square" lIns="0" tIns="0" rIns="0" bIns="0" rtlCol="0" anchor="ctr"/>
          <a:lstStyle/>
          <a:p>
            <a:pPr algn="ctr" indent="0" marL="0">
              <a:buNone/>
            </a:pPr>
            <a:r>
              <a:rPr lang="en-US" sz="900" b="1" dirty="0">
                <a:solidFill>
                  <a:srgbClr val="1A56DB"/>
                </a:solidFill>
              </a:rPr>
              <a:t>ROADMAP</a:t>
            </a:r>
            <a:endParaRPr lang="en-US" sz="900" dirty="0"/>
          </a:p>
        </p:txBody>
      </p:sp>
      <p:sp>
        <p:nvSpPr>
          <p:cNvPr id="4" name="Text 2"/>
          <p:cNvSpPr/>
          <p:nvPr/>
        </p:nvSpPr>
        <p:spPr>
          <a:xfrm>
            <a:off x="411480" y="502920"/>
            <a:ext cx="8321040" cy="640080"/>
          </a:xfrm>
          <a:prstGeom prst="rect">
            <a:avLst/>
          </a:prstGeom>
          <a:noFill/>
          <a:ln/>
        </p:spPr>
        <p:txBody>
          <a:bodyPr wrap="square" rtlCol="0" anchor="ctr"/>
          <a:lstStyle/>
          <a:p>
            <a:pPr indent="0" marL="0">
              <a:buNone/>
            </a:pPr>
            <a:r>
              <a:rPr lang="en-US" sz="3000" b="1" dirty="0">
                <a:solidFill>
                  <a:srgbClr val="1E293B"/>
                </a:solidFill>
              </a:rPr>
              <a:t>Status &amp; Roadmap</a:t>
            </a:r>
            <a:endParaRPr lang="en-US" sz="3000" dirty="0"/>
          </a:p>
        </p:txBody>
      </p:sp>
      <p:sp>
        <p:nvSpPr>
          <p:cNvPr id="5" name="Shape 3"/>
          <p:cNvSpPr/>
          <p:nvPr/>
        </p:nvSpPr>
        <p:spPr>
          <a:xfrm>
            <a:off x="411480" y="1234440"/>
            <a:ext cx="5029200" cy="2926080"/>
          </a:xfrm>
          <a:prstGeom prst="rect">
            <a:avLst/>
          </a:prstGeom>
          <a:solidFill>
            <a:srgbClr val="FFFFFF"/>
          </a:solidFill>
          <a:ln w="6350">
            <a:solidFill>
              <a:srgbClr val="E2E8F0"/>
            </a:solidFill>
            <a:prstDash val="solid"/>
          </a:ln>
        </p:spPr>
      </p:sp>
      <p:sp>
        <p:nvSpPr>
          <p:cNvPr id="6" name="Shape 4"/>
          <p:cNvSpPr/>
          <p:nvPr/>
        </p:nvSpPr>
        <p:spPr>
          <a:xfrm>
            <a:off x="411480" y="1234440"/>
            <a:ext cx="54864" cy="2926080"/>
          </a:xfrm>
          <a:prstGeom prst="rect">
            <a:avLst/>
          </a:prstGeom>
          <a:solidFill>
            <a:srgbClr val="22C55E"/>
          </a:solidFill>
          <a:ln w="12700">
            <a:solidFill>
              <a:srgbClr val="22C55E"/>
            </a:solidFill>
            <a:prstDash val="solid"/>
          </a:ln>
        </p:spPr>
      </p:sp>
      <p:sp>
        <p:nvSpPr>
          <p:cNvPr id="7" name="Text 5"/>
          <p:cNvSpPr/>
          <p:nvPr/>
        </p:nvSpPr>
        <p:spPr>
          <a:xfrm>
            <a:off x="594360" y="1325880"/>
            <a:ext cx="4663440" cy="274320"/>
          </a:xfrm>
          <a:prstGeom prst="rect">
            <a:avLst/>
          </a:prstGeom>
          <a:noFill/>
          <a:ln/>
        </p:spPr>
        <p:txBody>
          <a:bodyPr wrap="square" rtlCol="0" anchor="ctr"/>
          <a:lstStyle/>
          <a:p>
            <a:pPr indent="0" marL="0">
              <a:buNone/>
            </a:pPr>
            <a:r>
              <a:rPr lang="en-US" sz="1100" b="1" dirty="0">
                <a:solidFill>
                  <a:srgbClr val="16A34A"/>
                </a:solidFill>
              </a:rPr>
              <a:t>✅  SHIPPED</a:t>
            </a:r>
            <a:endParaRPr lang="en-US" sz="1100" dirty="0"/>
          </a:p>
        </p:txBody>
      </p:sp>
      <p:sp>
        <p:nvSpPr>
          <p:cNvPr id="8" name="Shape 6"/>
          <p:cNvSpPr/>
          <p:nvPr/>
        </p:nvSpPr>
        <p:spPr>
          <a:xfrm>
            <a:off x="621792" y="1755648"/>
            <a:ext cx="109728" cy="109728"/>
          </a:xfrm>
          <a:prstGeom prst="oval">
            <a:avLst/>
          </a:prstGeom>
          <a:solidFill>
            <a:srgbClr val="22C55E"/>
          </a:solidFill>
          <a:ln w="12700">
            <a:solidFill>
              <a:srgbClr val="22C55E"/>
            </a:solidFill>
            <a:prstDash val="solid"/>
          </a:ln>
        </p:spPr>
      </p:sp>
      <p:sp>
        <p:nvSpPr>
          <p:cNvPr id="9" name="Text 7"/>
          <p:cNvSpPr/>
          <p:nvPr/>
        </p:nvSpPr>
        <p:spPr>
          <a:xfrm>
            <a:off x="822960" y="1719072"/>
            <a:ext cx="4480560" cy="292608"/>
          </a:xfrm>
          <a:prstGeom prst="rect">
            <a:avLst/>
          </a:prstGeom>
          <a:noFill/>
          <a:ln/>
        </p:spPr>
        <p:txBody>
          <a:bodyPr wrap="square" rtlCol="0" anchor="ctr"/>
          <a:lstStyle/>
          <a:p>
            <a:pPr indent="0" marL="0">
              <a:buNone/>
            </a:pPr>
            <a:r>
              <a:rPr lang="en-US" sz="1100" dirty="0">
                <a:solidFill>
                  <a:srgbClr val="1E293B"/>
                </a:solidFill>
              </a:rPr>
              <a:t>Full 5-node LangGraph agent pipeline</a:t>
            </a:r>
            <a:endParaRPr lang="en-US" sz="1100" dirty="0"/>
          </a:p>
        </p:txBody>
      </p:sp>
      <p:sp>
        <p:nvSpPr>
          <p:cNvPr id="10" name="Shape 8"/>
          <p:cNvSpPr/>
          <p:nvPr/>
        </p:nvSpPr>
        <p:spPr>
          <a:xfrm>
            <a:off x="621792" y="2066544"/>
            <a:ext cx="109728" cy="109728"/>
          </a:xfrm>
          <a:prstGeom prst="oval">
            <a:avLst/>
          </a:prstGeom>
          <a:solidFill>
            <a:srgbClr val="22C55E"/>
          </a:solidFill>
          <a:ln w="12700">
            <a:solidFill>
              <a:srgbClr val="22C55E"/>
            </a:solidFill>
            <a:prstDash val="solid"/>
          </a:ln>
        </p:spPr>
      </p:sp>
      <p:sp>
        <p:nvSpPr>
          <p:cNvPr id="11" name="Text 9"/>
          <p:cNvSpPr/>
          <p:nvPr/>
        </p:nvSpPr>
        <p:spPr>
          <a:xfrm>
            <a:off x="822960" y="2029968"/>
            <a:ext cx="4480560" cy="292608"/>
          </a:xfrm>
          <a:prstGeom prst="rect">
            <a:avLst/>
          </a:prstGeom>
          <a:noFill/>
          <a:ln/>
        </p:spPr>
        <p:txBody>
          <a:bodyPr wrap="square" rtlCol="0" anchor="ctr"/>
          <a:lstStyle/>
          <a:p>
            <a:pPr indent="0" marL="0">
              <a:buNone/>
            </a:pPr>
            <a:r>
              <a:rPr lang="en-US" sz="1100" dirty="0">
                <a:solidFill>
                  <a:srgbClr val="1E293B"/>
                </a:solidFill>
              </a:rPr>
              <a:t>All 4 MCP integrations (GitHub · Notion · Calendar · Gmail)</a:t>
            </a:r>
            <a:endParaRPr lang="en-US" sz="1100" dirty="0"/>
          </a:p>
        </p:txBody>
      </p:sp>
      <p:sp>
        <p:nvSpPr>
          <p:cNvPr id="12" name="Shape 10"/>
          <p:cNvSpPr/>
          <p:nvPr/>
        </p:nvSpPr>
        <p:spPr>
          <a:xfrm>
            <a:off x="621792" y="2377440"/>
            <a:ext cx="109728" cy="109728"/>
          </a:xfrm>
          <a:prstGeom prst="oval">
            <a:avLst/>
          </a:prstGeom>
          <a:solidFill>
            <a:srgbClr val="22C55E"/>
          </a:solidFill>
          <a:ln w="12700">
            <a:solidFill>
              <a:srgbClr val="22C55E"/>
            </a:solidFill>
            <a:prstDash val="solid"/>
          </a:ln>
        </p:spPr>
      </p:sp>
      <p:sp>
        <p:nvSpPr>
          <p:cNvPr id="13" name="Text 11"/>
          <p:cNvSpPr/>
          <p:nvPr/>
        </p:nvSpPr>
        <p:spPr>
          <a:xfrm>
            <a:off x="822960" y="2340864"/>
            <a:ext cx="4480560" cy="292608"/>
          </a:xfrm>
          <a:prstGeom prst="rect">
            <a:avLst/>
          </a:prstGeom>
          <a:noFill/>
          <a:ln/>
        </p:spPr>
        <p:txBody>
          <a:bodyPr wrap="square" rtlCol="0" anchor="ctr"/>
          <a:lstStyle/>
          <a:p>
            <a:pPr indent="0" marL="0">
              <a:buNone/>
            </a:pPr>
            <a:r>
              <a:rPr lang="en-US" sz="1100" dirty="0">
                <a:solidFill>
                  <a:srgbClr val="1E293B"/>
                </a:solidFill>
              </a:rPr>
              <a:t>GCP Cloud Run + Terraform production deployment</a:t>
            </a:r>
            <a:endParaRPr lang="en-US" sz="1100" dirty="0"/>
          </a:p>
        </p:txBody>
      </p:sp>
      <p:sp>
        <p:nvSpPr>
          <p:cNvPr id="14" name="Shape 12"/>
          <p:cNvSpPr/>
          <p:nvPr/>
        </p:nvSpPr>
        <p:spPr>
          <a:xfrm>
            <a:off x="621792" y="2688336"/>
            <a:ext cx="109728" cy="109728"/>
          </a:xfrm>
          <a:prstGeom prst="oval">
            <a:avLst/>
          </a:prstGeom>
          <a:solidFill>
            <a:srgbClr val="22C55E"/>
          </a:solidFill>
          <a:ln w="12700">
            <a:solidFill>
              <a:srgbClr val="22C55E"/>
            </a:solidFill>
            <a:prstDash val="solid"/>
          </a:ln>
        </p:spPr>
      </p:sp>
      <p:sp>
        <p:nvSpPr>
          <p:cNvPr id="15" name="Text 13"/>
          <p:cNvSpPr/>
          <p:nvPr/>
        </p:nvSpPr>
        <p:spPr>
          <a:xfrm>
            <a:off x="822960" y="2651760"/>
            <a:ext cx="4480560" cy="292608"/>
          </a:xfrm>
          <a:prstGeom prst="rect">
            <a:avLst/>
          </a:prstGeom>
          <a:noFill/>
          <a:ln/>
        </p:spPr>
        <p:txBody>
          <a:bodyPr wrap="square" rtlCol="0" anchor="ctr"/>
          <a:lstStyle/>
          <a:p>
            <a:pPr indent="0" marL="0">
              <a:buNone/>
            </a:pPr>
            <a:r>
              <a:rPr lang="en-US" sz="1100" dirty="0">
                <a:solidFill>
                  <a:srgbClr val="1E293B"/>
                </a:solidFill>
              </a:rPr>
              <a:t>Tool Contract validation layer (jsonschema)</a:t>
            </a:r>
            <a:endParaRPr lang="en-US" sz="1100" dirty="0"/>
          </a:p>
        </p:txBody>
      </p:sp>
      <p:sp>
        <p:nvSpPr>
          <p:cNvPr id="16" name="Shape 14"/>
          <p:cNvSpPr/>
          <p:nvPr/>
        </p:nvSpPr>
        <p:spPr>
          <a:xfrm>
            <a:off x="621792" y="2999232"/>
            <a:ext cx="109728" cy="109728"/>
          </a:xfrm>
          <a:prstGeom prst="oval">
            <a:avLst/>
          </a:prstGeom>
          <a:solidFill>
            <a:srgbClr val="22C55E"/>
          </a:solidFill>
          <a:ln w="12700">
            <a:solidFill>
              <a:srgbClr val="22C55E"/>
            </a:solidFill>
            <a:prstDash val="solid"/>
          </a:ln>
        </p:spPr>
      </p:sp>
      <p:sp>
        <p:nvSpPr>
          <p:cNvPr id="17" name="Text 15"/>
          <p:cNvSpPr/>
          <p:nvPr/>
        </p:nvSpPr>
        <p:spPr>
          <a:xfrm>
            <a:off x="822960" y="2962656"/>
            <a:ext cx="4480560" cy="292608"/>
          </a:xfrm>
          <a:prstGeom prst="rect">
            <a:avLst/>
          </a:prstGeom>
          <a:noFill/>
          <a:ln/>
        </p:spPr>
        <p:txBody>
          <a:bodyPr wrap="square" rtlCol="0" anchor="ctr"/>
          <a:lstStyle/>
          <a:p>
            <a:pPr indent="0" marL="0">
              <a:buNone/>
            </a:pPr>
            <a:r>
              <a:rPr lang="en-US" sz="1100" dirty="0">
                <a:solidFill>
                  <a:srgbClr val="1E293B"/>
                </a:solidFill>
              </a:rPr>
              <a:t>Prompt file system refactor (backend/system_prompts/)</a:t>
            </a:r>
            <a:endParaRPr lang="en-US" sz="1100" dirty="0"/>
          </a:p>
        </p:txBody>
      </p:sp>
      <p:sp>
        <p:nvSpPr>
          <p:cNvPr id="18" name="Shape 16"/>
          <p:cNvSpPr/>
          <p:nvPr/>
        </p:nvSpPr>
        <p:spPr>
          <a:xfrm>
            <a:off x="621792" y="3310128"/>
            <a:ext cx="109728" cy="109728"/>
          </a:xfrm>
          <a:prstGeom prst="oval">
            <a:avLst/>
          </a:prstGeom>
          <a:solidFill>
            <a:srgbClr val="22C55E"/>
          </a:solidFill>
          <a:ln w="12700">
            <a:solidFill>
              <a:srgbClr val="22C55E"/>
            </a:solidFill>
            <a:prstDash val="solid"/>
          </a:ln>
        </p:spPr>
      </p:sp>
      <p:sp>
        <p:nvSpPr>
          <p:cNvPr id="19" name="Text 17"/>
          <p:cNvSpPr/>
          <p:nvPr/>
        </p:nvSpPr>
        <p:spPr>
          <a:xfrm>
            <a:off x="822960" y="3273552"/>
            <a:ext cx="4480560" cy="292608"/>
          </a:xfrm>
          <a:prstGeom prst="rect">
            <a:avLst/>
          </a:prstGeom>
          <a:noFill/>
          <a:ln/>
        </p:spPr>
        <p:txBody>
          <a:bodyPr wrap="square" rtlCol="0" anchor="ctr"/>
          <a:lstStyle/>
          <a:p>
            <a:pPr indent="0" marL="0">
              <a:buNone/>
            </a:pPr>
            <a:r>
              <a:rPr lang="en-US" sz="1100" dirty="0">
                <a:solidFill>
                  <a:srgbClr val="1E293B"/>
                </a:solidFill>
              </a:rPr>
              <a:t>Frontend: Next.js 14 · 20 routes · real-time streaming</a:t>
            </a:r>
            <a:endParaRPr lang="en-US" sz="1100" dirty="0"/>
          </a:p>
        </p:txBody>
      </p:sp>
      <p:sp>
        <p:nvSpPr>
          <p:cNvPr id="20" name="Shape 18"/>
          <p:cNvSpPr/>
          <p:nvPr/>
        </p:nvSpPr>
        <p:spPr>
          <a:xfrm>
            <a:off x="621792" y="3621024"/>
            <a:ext cx="109728" cy="109728"/>
          </a:xfrm>
          <a:prstGeom prst="oval">
            <a:avLst/>
          </a:prstGeom>
          <a:solidFill>
            <a:srgbClr val="22C55E"/>
          </a:solidFill>
          <a:ln w="12700">
            <a:solidFill>
              <a:srgbClr val="22C55E"/>
            </a:solidFill>
            <a:prstDash val="solid"/>
          </a:ln>
        </p:spPr>
      </p:sp>
      <p:sp>
        <p:nvSpPr>
          <p:cNvPr id="21" name="Text 19"/>
          <p:cNvSpPr/>
          <p:nvPr/>
        </p:nvSpPr>
        <p:spPr>
          <a:xfrm>
            <a:off x="822960" y="3584448"/>
            <a:ext cx="4480560" cy="292608"/>
          </a:xfrm>
          <a:prstGeom prst="rect">
            <a:avLst/>
          </a:prstGeom>
          <a:noFill/>
          <a:ln/>
        </p:spPr>
        <p:txBody>
          <a:bodyPr wrap="square" rtlCol="0" anchor="ctr"/>
          <a:lstStyle/>
          <a:p>
            <a:pPr indent="0" marL="0">
              <a:buNone/>
            </a:pPr>
            <a:r>
              <a:rPr lang="en-US" sz="1100" dirty="0">
                <a:solidFill>
                  <a:srgbClr val="1E293B"/>
                </a:solidFill>
              </a:rPr>
              <a:t>Auth: Google Sign-In → JWT · MCP per-service OAuth</a:t>
            </a:r>
            <a:endParaRPr lang="en-US" sz="1100" dirty="0"/>
          </a:p>
        </p:txBody>
      </p:sp>
      <p:sp>
        <p:nvSpPr>
          <p:cNvPr id="22" name="Shape 20"/>
          <p:cNvSpPr/>
          <p:nvPr/>
        </p:nvSpPr>
        <p:spPr>
          <a:xfrm>
            <a:off x="5577840" y="1234440"/>
            <a:ext cx="3154680" cy="2926080"/>
          </a:xfrm>
          <a:prstGeom prst="rect">
            <a:avLst/>
          </a:prstGeom>
          <a:solidFill>
            <a:srgbClr val="FFFFFF"/>
          </a:solidFill>
          <a:ln w="6350">
            <a:solidFill>
              <a:srgbClr val="E2E8F0"/>
            </a:solidFill>
            <a:prstDash val="solid"/>
          </a:ln>
        </p:spPr>
      </p:sp>
      <p:sp>
        <p:nvSpPr>
          <p:cNvPr id="23" name="Shape 21"/>
          <p:cNvSpPr/>
          <p:nvPr/>
        </p:nvSpPr>
        <p:spPr>
          <a:xfrm>
            <a:off x="5577840" y="1234440"/>
            <a:ext cx="54864" cy="2926080"/>
          </a:xfrm>
          <a:prstGeom prst="rect">
            <a:avLst/>
          </a:prstGeom>
          <a:solidFill>
            <a:srgbClr val="1A56DB"/>
          </a:solidFill>
          <a:ln w="12700">
            <a:solidFill>
              <a:srgbClr val="1A56DB"/>
            </a:solidFill>
            <a:prstDash val="solid"/>
          </a:ln>
        </p:spPr>
      </p:sp>
      <p:sp>
        <p:nvSpPr>
          <p:cNvPr id="24" name="Text 22"/>
          <p:cNvSpPr/>
          <p:nvPr/>
        </p:nvSpPr>
        <p:spPr>
          <a:xfrm>
            <a:off x="5760720" y="1325880"/>
            <a:ext cx="2834640" cy="274320"/>
          </a:xfrm>
          <a:prstGeom prst="rect">
            <a:avLst/>
          </a:prstGeom>
          <a:noFill/>
          <a:ln/>
        </p:spPr>
        <p:txBody>
          <a:bodyPr wrap="square" rtlCol="0" anchor="ctr"/>
          <a:lstStyle/>
          <a:p>
            <a:pPr indent="0" marL="0">
              <a:buNone/>
            </a:pPr>
            <a:r>
              <a:rPr lang="en-US" sz="1100" b="1" dirty="0">
                <a:solidFill>
                  <a:srgbClr val="1A56DB"/>
                </a:solidFill>
              </a:rPr>
              <a:t>🔜  PLANNED</a:t>
            </a:r>
            <a:endParaRPr lang="en-US" sz="1100" dirty="0"/>
          </a:p>
        </p:txBody>
      </p:sp>
      <p:sp>
        <p:nvSpPr>
          <p:cNvPr id="25" name="Text 23"/>
          <p:cNvSpPr/>
          <p:nvPr/>
        </p:nvSpPr>
        <p:spPr>
          <a:xfrm>
            <a:off x="5760720" y="1737360"/>
            <a:ext cx="2834640" cy="310896"/>
          </a:xfrm>
          <a:prstGeom prst="rect">
            <a:avLst/>
          </a:prstGeom>
          <a:noFill/>
          <a:ln/>
        </p:spPr>
        <p:txBody>
          <a:bodyPr wrap="square" rtlCol="0" anchor="ctr"/>
          <a:lstStyle/>
          <a:p>
            <a:pPr indent="0" marL="0">
              <a:buNone/>
            </a:pPr>
            <a:r>
              <a:rPr lang="en-US" sz="900" b="1" dirty="0">
                <a:solidFill>
                  <a:srgbClr val="94A3B8"/>
                </a:solidFill>
              </a:rPr>
              <a:t>In progress  </a:t>
            </a:r>
            <a:pPr indent="0" marL="0">
              <a:buNone/>
            </a:pPr>
            <a:r>
              <a:rPr lang="en-US" sz="1100" dirty="0">
                <a:solidFill>
                  <a:srgbClr val="1E293B"/>
                </a:solidFill>
              </a:rPr>
              <a:t>Rate limiting &amp; error hardening</a:t>
            </a:r>
            <a:endParaRPr lang="en-US" sz="900" dirty="0"/>
          </a:p>
        </p:txBody>
      </p:sp>
      <p:sp>
        <p:nvSpPr>
          <p:cNvPr id="26" name="Text 24"/>
          <p:cNvSpPr/>
          <p:nvPr/>
        </p:nvSpPr>
        <p:spPr>
          <a:xfrm>
            <a:off x="5760720" y="2084832"/>
            <a:ext cx="2834640" cy="310896"/>
          </a:xfrm>
          <a:prstGeom prst="rect">
            <a:avLst/>
          </a:prstGeom>
          <a:noFill/>
          <a:ln/>
        </p:spPr>
        <p:txBody>
          <a:bodyPr wrap="square" rtlCol="0" anchor="ctr"/>
          <a:lstStyle/>
          <a:p>
            <a:pPr indent="0" marL="0">
              <a:buNone/>
            </a:pPr>
            <a:r>
              <a:rPr lang="en-US" sz="900" b="1" dirty="0">
                <a:solidFill>
                  <a:srgbClr val="94A3B8"/>
                </a:solidFill>
              </a:rPr>
              <a:t>In progress  </a:t>
            </a:r>
            <a:pPr indent="0" marL="0">
              <a:buNone/>
            </a:pPr>
            <a:r>
              <a:rPr lang="en-US" sz="1100" dirty="0">
                <a:solidFill>
                  <a:srgbClr val="1E293B"/>
                </a:solidFill>
              </a:rPr>
              <a:t>Monitoring beyond app logs</a:t>
            </a:r>
            <a:endParaRPr lang="en-US" sz="900" dirty="0"/>
          </a:p>
        </p:txBody>
      </p:sp>
      <p:sp>
        <p:nvSpPr>
          <p:cNvPr id="27" name="Text 25"/>
          <p:cNvSpPr/>
          <p:nvPr/>
        </p:nvSpPr>
        <p:spPr>
          <a:xfrm>
            <a:off x="5760720" y="2432304"/>
            <a:ext cx="2834640" cy="310896"/>
          </a:xfrm>
          <a:prstGeom prst="rect">
            <a:avLst/>
          </a:prstGeom>
          <a:noFill/>
          <a:ln/>
        </p:spPr>
        <p:txBody>
          <a:bodyPr wrap="square" rtlCol="0" anchor="ctr"/>
          <a:lstStyle/>
          <a:p>
            <a:pPr indent="0" marL="0">
              <a:buNone/>
            </a:pPr>
            <a:r>
              <a:rPr lang="en-US" sz="900" b="1" dirty="0">
                <a:solidFill>
                  <a:srgbClr val="94A3B8"/>
                </a:solidFill>
              </a:rPr>
              <a:t>Q2 2026  </a:t>
            </a:r>
            <a:pPr indent="0" marL="0">
              <a:buNone/>
            </a:pPr>
            <a:r>
              <a:rPr lang="en-US" sz="1100" dirty="0">
                <a:solidFill>
                  <a:srgbClr val="1E293B"/>
                </a:solidFill>
              </a:rPr>
              <a:t>Slack integration</a:t>
            </a:r>
            <a:endParaRPr lang="en-US" sz="900" dirty="0"/>
          </a:p>
        </p:txBody>
      </p:sp>
      <p:sp>
        <p:nvSpPr>
          <p:cNvPr id="28" name="Text 26"/>
          <p:cNvSpPr/>
          <p:nvPr/>
        </p:nvSpPr>
        <p:spPr>
          <a:xfrm>
            <a:off x="5760720" y="2779776"/>
            <a:ext cx="2834640" cy="310896"/>
          </a:xfrm>
          <a:prstGeom prst="rect">
            <a:avLst/>
          </a:prstGeom>
          <a:noFill/>
          <a:ln/>
        </p:spPr>
        <p:txBody>
          <a:bodyPr wrap="square" rtlCol="0" anchor="ctr"/>
          <a:lstStyle/>
          <a:p>
            <a:pPr indent="0" marL="0">
              <a:buNone/>
            </a:pPr>
            <a:r>
              <a:rPr lang="en-US" sz="900" b="1" dirty="0">
                <a:solidFill>
                  <a:srgbClr val="94A3B8"/>
                </a:solidFill>
              </a:rPr>
              <a:t>Q3 2026  </a:t>
            </a:r>
            <a:pPr indent="0" marL="0">
              <a:buNone/>
            </a:pPr>
            <a:r>
              <a:rPr lang="en-US" sz="1100" dirty="0">
                <a:solidFill>
                  <a:srgbClr val="1E293B"/>
                </a:solidFill>
              </a:rPr>
              <a:t>Saved / reusable workflows</a:t>
            </a:r>
            <a:endParaRPr lang="en-US" sz="900" dirty="0"/>
          </a:p>
        </p:txBody>
      </p:sp>
      <p:sp>
        <p:nvSpPr>
          <p:cNvPr id="29" name="Text 27"/>
          <p:cNvSpPr/>
          <p:nvPr/>
        </p:nvSpPr>
        <p:spPr>
          <a:xfrm>
            <a:off x="5760720" y="3127248"/>
            <a:ext cx="2834640" cy="310896"/>
          </a:xfrm>
          <a:prstGeom prst="rect">
            <a:avLst/>
          </a:prstGeom>
          <a:noFill/>
          <a:ln/>
        </p:spPr>
        <p:txBody>
          <a:bodyPr wrap="square" rtlCol="0" anchor="ctr"/>
          <a:lstStyle/>
          <a:p>
            <a:pPr indent="0" marL="0">
              <a:buNone/>
            </a:pPr>
            <a:r>
              <a:rPr lang="en-US" sz="900" b="1" dirty="0">
                <a:solidFill>
                  <a:srgbClr val="94A3B8"/>
                </a:solidFill>
              </a:rPr>
              <a:t>Q4 2026  </a:t>
            </a:r>
            <a:pPr indent="0" marL="0">
              <a:buNone/>
            </a:pPr>
            <a:r>
              <a:rPr lang="en-US" sz="1100" dirty="0">
                <a:solidFill>
                  <a:srgbClr val="1E293B"/>
                </a:solidFill>
              </a:rPr>
              <a:t>iOS / Android mobile app</a:t>
            </a:r>
            <a:endParaRPr lang="en-US" sz="900" dirty="0"/>
          </a:p>
        </p:txBody>
      </p:sp>
      <p:sp>
        <p:nvSpPr>
          <p:cNvPr id="30" name="Text 28"/>
          <p:cNvSpPr/>
          <p:nvPr/>
        </p:nvSpPr>
        <p:spPr>
          <a:xfrm>
            <a:off x="5760720" y="3474720"/>
            <a:ext cx="2834640" cy="310896"/>
          </a:xfrm>
          <a:prstGeom prst="rect">
            <a:avLst/>
          </a:prstGeom>
          <a:noFill/>
          <a:ln/>
        </p:spPr>
        <p:txBody>
          <a:bodyPr wrap="square" rtlCol="0" anchor="ctr"/>
          <a:lstStyle/>
          <a:p>
            <a:pPr indent="0" marL="0">
              <a:buNone/>
            </a:pPr>
            <a:r>
              <a:rPr lang="en-US" sz="900" b="1" dirty="0">
                <a:solidFill>
                  <a:srgbClr val="94A3B8"/>
                </a:solidFill>
              </a:rPr>
              <a:t>Q1 2027  </a:t>
            </a:r>
            <a:pPr indent="0" marL="0">
              <a:buNone/>
            </a:pPr>
            <a:r>
              <a:rPr lang="en-US" sz="1100" dirty="0">
                <a:solidFill>
                  <a:srgbClr val="1E293B"/>
                </a:solidFill>
              </a:rPr>
              <a:t>Team collaboration</a:t>
            </a:r>
            <a:endParaRPr lang="en-US" sz="900" dirty="0"/>
          </a:p>
        </p:txBody>
      </p:sp>
      <p:sp>
        <p:nvSpPr>
          <p:cNvPr id="31" name="Shape 29"/>
          <p:cNvSpPr/>
          <p:nvPr/>
        </p:nvSpPr>
        <p:spPr>
          <a:xfrm>
            <a:off x="411480" y="4297680"/>
            <a:ext cx="8321040" cy="658368"/>
          </a:xfrm>
          <a:prstGeom prst="rect">
            <a:avLst/>
          </a:prstGeom>
          <a:solidFill>
            <a:srgbClr val="EFF6FF"/>
          </a:solidFill>
          <a:ln w="6350">
            <a:solidFill>
              <a:srgbClr val="E2E8F0"/>
            </a:solidFill>
            <a:prstDash val="solid"/>
          </a:ln>
        </p:spPr>
      </p:sp>
      <p:sp>
        <p:nvSpPr>
          <p:cNvPr id="32" name="Shape 30"/>
          <p:cNvSpPr/>
          <p:nvPr/>
        </p:nvSpPr>
        <p:spPr>
          <a:xfrm>
            <a:off x="411480" y="4297680"/>
            <a:ext cx="54864" cy="658368"/>
          </a:xfrm>
          <a:prstGeom prst="rect">
            <a:avLst/>
          </a:prstGeom>
          <a:solidFill>
            <a:srgbClr val="1A56DB"/>
          </a:solidFill>
          <a:ln w="12700">
            <a:solidFill>
              <a:srgbClr val="1A56DB"/>
            </a:solidFill>
            <a:prstDash val="solid"/>
          </a:ln>
        </p:spPr>
      </p:sp>
      <p:sp>
        <p:nvSpPr>
          <p:cNvPr id="33" name="Text 31"/>
          <p:cNvSpPr/>
          <p:nvPr/>
        </p:nvSpPr>
        <p:spPr>
          <a:xfrm>
            <a:off x="594360" y="4370832"/>
            <a:ext cx="7955280" cy="502920"/>
          </a:xfrm>
          <a:prstGeom prst="rect">
            <a:avLst/>
          </a:prstGeom>
          <a:noFill/>
          <a:ln/>
        </p:spPr>
        <p:txBody>
          <a:bodyPr wrap="square" rtlCol="0" anchor="ctr"/>
          <a:lstStyle/>
          <a:p>
            <a:pPr indent="0" marL="0">
              <a:buNone/>
            </a:pPr>
            <a:r>
              <a:rPr lang="en-US" sz="1050" dirty="0">
                <a:solidFill>
                  <a:srgbClr val="1E293B"/>
                </a:solidFill>
              </a:rPr>
              <a:t>Get started:  terraform output -raw cloud_run_url  ·  open /docs for live Swagger  ·  edit backend/system_prompts/*.md to iterate on agent behaviour</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F3D"/>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6B6D4"/>
          </a:solidFill>
          <a:ln w="12700">
            <a:solidFill>
              <a:srgbClr val="06B6D4"/>
            </a:solidFill>
            <a:prstDash val="solid"/>
          </a:ln>
        </p:spPr>
      </p:sp>
      <p:sp>
        <p:nvSpPr>
          <p:cNvPr id="3" name="Text 1"/>
          <p:cNvSpPr/>
          <p:nvPr/>
        </p:nvSpPr>
        <p:spPr>
          <a:xfrm>
            <a:off x="411480" y="274320"/>
            <a:ext cx="8321040" cy="566928"/>
          </a:xfrm>
          <a:prstGeom prst="rect">
            <a:avLst/>
          </a:prstGeom>
          <a:noFill/>
          <a:ln/>
        </p:spPr>
        <p:txBody>
          <a:bodyPr wrap="square" rtlCol="0" anchor="ctr"/>
          <a:lstStyle/>
          <a:p>
            <a:pPr indent="0" marL="0">
              <a:buNone/>
            </a:pPr>
            <a:r>
              <a:rPr lang="en-US" sz="3400" b="1" dirty="0">
                <a:solidFill>
                  <a:srgbClr val="FFFFFF"/>
                </a:solidFill>
              </a:rPr>
              <a:t>Sources</a:t>
            </a:r>
            <a:endParaRPr lang="en-US" sz="3400" dirty="0"/>
          </a:p>
        </p:txBody>
      </p:sp>
      <p:sp>
        <p:nvSpPr>
          <p:cNvPr id="4" name="Text 2"/>
          <p:cNvSpPr/>
          <p:nvPr/>
        </p:nvSpPr>
        <p:spPr>
          <a:xfrm>
            <a:off x="411480" y="841248"/>
            <a:ext cx="8321040" cy="274320"/>
          </a:xfrm>
          <a:prstGeom prst="rect">
            <a:avLst/>
          </a:prstGeom>
          <a:noFill/>
          <a:ln/>
        </p:spPr>
        <p:txBody>
          <a:bodyPr wrap="square" rtlCol="0" anchor="ctr"/>
          <a:lstStyle/>
          <a:p>
            <a:pPr indent="0" marL="0">
              <a:buNone/>
            </a:pPr>
            <a:r>
              <a:rPr lang="en-US" sz="1200" dirty="0">
                <a:solidFill>
                  <a:srgbClr val="9ECFFF"/>
                </a:solidFill>
              </a:rPr>
              <a:t>All content sourced directly from project documentation</a:t>
            </a:r>
            <a:endParaRPr lang="en-US" sz="1200" dirty="0"/>
          </a:p>
        </p:txBody>
      </p:sp>
      <p:sp>
        <p:nvSpPr>
          <p:cNvPr id="5" name="Shape 3"/>
          <p:cNvSpPr/>
          <p:nvPr/>
        </p:nvSpPr>
        <p:spPr>
          <a:xfrm>
            <a:off x="411480" y="1207008"/>
            <a:ext cx="4206240" cy="475488"/>
          </a:xfrm>
          <a:prstGeom prst="rect">
            <a:avLst/>
          </a:prstGeom>
          <a:solidFill>
            <a:srgbClr val="0D1F3A"/>
          </a:solidFill>
          <a:ln w="6350">
            <a:solidFill>
              <a:srgbClr val="1E3A5F"/>
            </a:solidFill>
            <a:prstDash val="solid"/>
          </a:ln>
        </p:spPr>
      </p:sp>
      <p:sp>
        <p:nvSpPr>
          <p:cNvPr id="6" name="Shape 4"/>
          <p:cNvSpPr/>
          <p:nvPr/>
        </p:nvSpPr>
        <p:spPr>
          <a:xfrm>
            <a:off x="411480" y="1207008"/>
            <a:ext cx="45720" cy="475488"/>
          </a:xfrm>
          <a:prstGeom prst="rect">
            <a:avLst/>
          </a:prstGeom>
          <a:solidFill>
            <a:srgbClr val="06B6D4"/>
          </a:solidFill>
          <a:ln w="12700">
            <a:solidFill>
              <a:srgbClr val="06B6D4"/>
            </a:solidFill>
            <a:prstDash val="solid"/>
          </a:ln>
        </p:spPr>
      </p:sp>
      <p:sp>
        <p:nvSpPr>
          <p:cNvPr id="7" name="Text 5"/>
          <p:cNvSpPr/>
          <p:nvPr/>
        </p:nvSpPr>
        <p:spPr>
          <a:xfrm>
            <a:off x="539496" y="1252728"/>
            <a:ext cx="3977640" cy="201168"/>
          </a:xfrm>
          <a:prstGeom prst="rect">
            <a:avLst/>
          </a:prstGeom>
          <a:noFill/>
          <a:ln/>
        </p:spPr>
        <p:txBody>
          <a:bodyPr wrap="square" rtlCol="0" anchor="ctr"/>
          <a:lstStyle/>
          <a:p>
            <a:pPr indent="0" marL="0">
              <a:buNone/>
            </a:pPr>
            <a:r>
              <a:rPr lang="en-US" sz="1000" b="1" dirty="0">
                <a:solidFill>
                  <a:srgbClr val="06B6D4"/>
                </a:solidFill>
                <a:latin typeface="Consolas" pitchFamily="34" charset="0"/>
                <a:ea typeface="Consolas" pitchFamily="34" charset="-122"/>
                <a:cs typeface="Consolas" pitchFamily="34" charset="-120"/>
              </a:rPr>
              <a:t>overview.md</a:t>
            </a:r>
            <a:endParaRPr lang="en-US" sz="1000" dirty="0"/>
          </a:p>
        </p:txBody>
      </p:sp>
      <p:sp>
        <p:nvSpPr>
          <p:cNvPr id="8" name="Text 6"/>
          <p:cNvSpPr/>
          <p:nvPr/>
        </p:nvSpPr>
        <p:spPr>
          <a:xfrm>
            <a:off x="539496" y="1453896"/>
            <a:ext cx="3977640" cy="182880"/>
          </a:xfrm>
          <a:prstGeom prst="rect">
            <a:avLst/>
          </a:prstGeom>
          <a:noFill/>
          <a:ln/>
        </p:spPr>
        <p:txBody>
          <a:bodyPr wrap="square" rtlCol="0" anchor="ctr"/>
          <a:lstStyle/>
          <a:p>
            <a:pPr indent="0" marL="0">
              <a:buNone/>
            </a:pPr>
            <a:r>
              <a:rPr lang="en-US" sz="900" dirty="0">
                <a:solidFill>
                  <a:srgbClr val="94A3B8"/>
                </a:solidFill>
              </a:rPr>
              <a:t>Product overview · agent architecture · capabilities</a:t>
            </a:r>
            <a:endParaRPr lang="en-US" sz="900" dirty="0"/>
          </a:p>
        </p:txBody>
      </p:sp>
      <p:sp>
        <p:nvSpPr>
          <p:cNvPr id="9" name="Shape 7"/>
          <p:cNvSpPr/>
          <p:nvPr/>
        </p:nvSpPr>
        <p:spPr>
          <a:xfrm>
            <a:off x="411480" y="1719072"/>
            <a:ext cx="4206240" cy="475488"/>
          </a:xfrm>
          <a:prstGeom prst="rect">
            <a:avLst/>
          </a:prstGeom>
          <a:solidFill>
            <a:srgbClr val="0A1628"/>
          </a:solidFill>
          <a:ln w="6350">
            <a:solidFill>
              <a:srgbClr val="1E3A5F"/>
            </a:solidFill>
            <a:prstDash val="solid"/>
          </a:ln>
        </p:spPr>
      </p:sp>
      <p:sp>
        <p:nvSpPr>
          <p:cNvPr id="10" name="Shape 8"/>
          <p:cNvSpPr/>
          <p:nvPr/>
        </p:nvSpPr>
        <p:spPr>
          <a:xfrm>
            <a:off x="411480" y="1719072"/>
            <a:ext cx="45720" cy="475488"/>
          </a:xfrm>
          <a:prstGeom prst="rect">
            <a:avLst/>
          </a:prstGeom>
          <a:solidFill>
            <a:srgbClr val="06B6D4"/>
          </a:solidFill>
          <a:ln w="12700">
            <a:solidFill>
              <a:srgbClr val="06B6D4"/>
            </a:solidFill>
            <a:prstDash val="solid"/>
          </a:ln>
        </p:spPr>
      </p:sp>
      <p:sp>
        <p:nvSpPr>
          <p:cNvPr id="11" name="Text 9"/>
          <p:cNvSpPr/>
          <p:nvPr/>
        </p:nvSpPr>
        <p:spPr>
          <a:xfrm>
            <a:off x="539496" y="1764792"/>
            <a:ext cx="3977640" cy="201168"/>
          </a:xfrm>
          <a:prstGeom prst="rect">
            <a:avLst/>
          </a:prstGeom>
          <a:noFill/>
          <a:ln/>
        </p:spPr>
        <p:txBody>
          <a:bodyPr wrap="square" rtlCol="0" anchor="ctr"/>
          <a:lstStyle/>
          <a:p>
            <a:pPr indent="0" marL="0">
              <a:buNone/>
            </a:pPr>
            <a:r>
              <a:rPr lang="en-US" sz="1000" b="1" dirty="0">
                <a:solidFill>
                  <a:srgbClr val="06B6D4"/>
                </a:solidFill>
                <a:latin typeface="Consolas" pitchFamily="34" charset="0"/>
                <a:ea typeface="Consolas" pitchFamily="34" charset="-122"/>
                <a:cs typeface="Consolas" pitchFamily="34" charset="-120"/>
              </a:rPr>
              <a:t>engineering-design.md</a:t>
            </a:r>
            <a:endParaRPr lang="en-US" sz="1000" dirty="0"/>
          </a:p>
        </p:txBody>
      </p:sp>
      <p:sp>
        <p:nvSpPr>
          <p:cNvPr id="12" name="Text 10"/>
          <p:cNvSpPr/>
          <p:nvPr/>
        </p:nvSpPr>
        <p:spPr>
          <a:xfrm>
            <a:off x="539496" y="1965960"/>
            <a:ext cx="3977640" cy="182880"/>
          </a:xfrm>
          <a:prstGeom prst="rect">
            <a:avLst/>
          </a:prstGeom>
          <a:noFill/>
          <a:ln/>
        </p:spPr>
        <p:txBody>
          <a:bodyPr wrap="square" rtlCol="0" anchor="ctr"/>
          <a:lstStyle/>
          <a:p>
            <a:pPr indent="0" marL="0">
              <a:buNone/>
            </a:pPr>
            <a:r>
              <a:rPr lang="en-US" sz="900" dirty="0">
                <a:solidFill>
                  <a:srgbClr val="94A3B8"/>
                </a:solidFill>
              </a:rPr>
              <a:t>Tech stack · directory structure · production config</a:t>
            </a:r>
            <a:endParaRPr lang="en-US" sz="900" dirty="0"/>
          </a:p>
        </p:txBody>
      </p:sp>
      <p:sp>
        <p:nvSpPr>
          <p:cNvPr id="13" name="Shape 11"/>
          <p:cNvSpPr/>
          <p:nvPr/>
        </p:nvSpPr>
        <p:spPr>
          <a:xfrm>
            <a:off x="411480" y="2231136"/>
            <a:ext cx="4206240" cy="475488"/>
          </a:xfrm>
          <a:prstGeom prst="rect">
            <a:avLst/>
          </a:prstGeom>
          <a:solidFill>
            <a:srgbClr val="0D1F3A"/>
          </a:solidFill>
          <a:ln w="6350">
            <a:solidFill>
              <a:srgbClr val="1E3A5F"/>
            </a:solidFill>
            <a:prstDash val="solid"/>
          </a:ln>
        </p:spPr>
      </p:sp>
      <p:sp>
        <p:nvSpPr>
          <p:cNvPr id="14" name="Shape 12"/>
          <p:cNvSpPr/>
          <p:nvPr/>
        </p:nvSpPr>
        <p:spPr>
          <a:xfrm>
            <a:off x="411480" y="2231136"/>
            <a:ext cx="45720" cy="475488"/>
          </a:xfrm>
          <a:prstGeom prst="rect">
            <a:avLst/>
          </a:prstGeom>
          <a:solidFill>
            <a:srgbClr val="06B6D4"/>
          </a:solidFill>
          <a:ln w="12700">
            <a:solidFill>
              <a:srgbClr val="06B6D4"/>
            </a:solidFill>
            <a:prstDash val="solid"/>
          </a:ln>
        </p:spPr>
      </p:sp>
      <p:sp>
        <p:nvSpPr>
          <p:cNvPr id="15" name="Text 13"/>
          <p:cNvSpPr/>
          <p:nvPr/>
        </p:nvSpPr>
        <p:spPr>
          <a:xfrm>
            <a:off x="539496" y="2276856"/>
            <a:ext cx="3977640" cy="201168"/>
          </a:xfrm>
          <a:prstGeom prst="rect">
            <a:avLst/>
          </a:prstGeom>
          <a:noFill/>
          <a:ln/>
        </p:spPr>
        <p:txBody>
          <a:bodyPr wrap="square" rtlCol="0" anchor="ctr"/>
          <a:lstStyle/>
          <a:p>
            <a:pPr indent="0" marL="0">
              <a:buNone/>
            </a:pPr>
            <a:r>
              <a:rPr lang="en-US" sz="1000" b="1" dirty="0">
                <a:solidFill>
                  <a:srgbClr val="06B6D4"/>
                </a:solidFill>
                <a:latin typeface="Consolas" pitchFamily="34" charset="0"/>
                <a:ea typeface="Consolas" pitchFamily="34" charset="-122"/>
                <a:cs typeface="Consolas" pitchFamily="34" charset="-120"/>
              </a:rPr>
              <a:t>agent-graph-flow.md</a:t>
            </a:r>
            <a:endParaRPr lang="en-US" sz="1000" dirty="0"/>
          </a:p>
        </p:txBody>
      </p:sp>
      <p:sp>
        <p:nvSpPr>
          <p:cNvPr id="16" name="Text 14"/>
          <p:cNvSpPr/>
          <p:nvPr/>
        </p:nvSpPr>
        <p:spPr>
          <a:xfrm>
            <a:off x="539496" y="2478024"/>
            <a:ext cx="3977640" cy="182880"/>
          </a:xfrm>
          <a:prstGeom prst="rect">
            <a:avLst/>
          </a:prstGeom>
          <a:noFill/>
          <a:ln/>
        </p:spPr>
        <p:txBody>
          <a:bodyPr wrap="square" rtlCol="0" anchor="ctr"/>
          <a:lstStyle/>
          <a:p>
            <a:pPr indent="0" marL="0">
              <a:buNone/>
            </a:pPr>
            <a:r>
              <a:rPr lang="en-US" sz="900" dirty="0">
                <a:solidFill>
                  <a:srgbClr val="94A3B8"/>
                </a:solidFill>
              </a:rPr>
              <a:t>LangGraph node routing · conditional edges</a:t>
            </a:r>
            <a:endParaRPr lang="en-US" sz="900" dirty="0"/>
          </a:p>
        </p:txBody>
      </p:sp>
      <p:sp>
        <p:nvSpPr>
          <p:cNvPr id="17" name="Shape 15"/>
          <p:cNvSpPr/>
          <p:nvPr/>
        </p:nvSpPr>
        <p:spPr>
          <a:xfrm>
            <a:off x="411480" y="2743200"/>
            <a:ext cx="4206240" cy="475488"/>
          </a:xfrm>
          <a:prstGeom prst="rect">
            <a:avLst/>
          </a:prstGeom>
          <a:solidFill>
            <a:srgbClr val="0A1628"/>
          </a:solidFill>
          <a:ln w="6350">
            <a:solidFill>
              <a:srgbClr val="1E3A5F"/>
            </a:solidFill>
            <a:prstDash val="solid"/>
          </a:ln>
        </p:spPr>
      </p:sp>
      <p:sp>
        <p:nvSpPr>
          <p:cNvPr id="18" name="Shape 16"/>
          <p:cNvSpPr/>
          <p:nvPr/>
        </p:nvSpPr>
        <p:spPr>
          <a:xfrm>
            <a:off x="411480" y="2743200"/>
            <a:ext cx="45720" cy="475488"/>
          </a:xfrm>
          <a:prstGeom prst="rect">
            <a:avLst/>
          </a:prstGeom>
          <a:solidFill>
            <a:srgbClr val="06B6D4"/>
          </a:solidFill>
          <a:ln w="12700">
            <a:solidFill>
              <a:srgbClr val="06B6D4"/>
            </a:solidFill>
            <a:prstDash val="solid"/>
          </a:ln>
        </p:spPr>
      </p:sp>
      <p:sp>
        <p:nvSpPr>
          <p:cNvPr id="19" name="Text 17"/>
          <p:cNvSpPr/>
          <p:nvPr/>
        </p:nvSpPr>
        <p:spPr>
          <a:xfrm>
            <a:off x="539496" y="2788920"/>
            <a:ext cx="3977640" cy="201168"/>
          </a:xfrm>
          <a:prstGeom prst="rect">
            <a:avLst/>
          </a:prstGeom>
          <a:noFill/>
          <a:ln/>
        </p:spPr>
        <p:txBody>
          <a:bodyPr wrap="square" rtlCol="0" anchor="ctr"/>
          <a:lstStyle/>
          <a:p>
            <a:pPr indent="0" marL="0">
              <a:buNone/>
            </a:pPr>
            <a:r>
              <a:rPr lang="en-US" sz="1000" b="1" dirty="0">
                <a:solidFill>
                  <a:srgbClr val="06B6D4"/>
                </a:solidFill>
                <a:latin typeface="Consolas" pitchFamily="34" charset="0"/>
                <a:ea typeface="Consolas" pitchFamily="34" charset="-122"/>
                <a:cs typeface="Consolas" pitchFamily="34" charset="-120"/>
              </a:rPr>
              <a:t>mcp-updates-summary.md</a:t>
            </a:r>
            <a:endParaRPr lang="en-US" sz="1000" dirty="0"/>
          </a:p>
        </p:txBody>
      </p:sp>
      <p:sp>
        <p:nvSpPr>
          <p:cNvPr id="20" name="Text 18"/>
          <p:cNvSpPr/>
          <p:nvPr/>
        </p:nvSpPr>
        <p:spPr>
          <a:xfrm>
            <a:off x="539496" y="2990088"/>
            <a:ext cx="3977640" cy="182880"/>
          </a:xfrm>
          <a:prstGeom prst="rect">
            <a:avLst/>
          </a:prstGeom>
          <a:noFill/>
          <a:ln/>
        </p:spPr>
        <p:txBody>
          <a:bodyPr wrap="square" rtlCol="0" anchor="ctr"/>
          <a:lstStyle/>
          <a:p>
            <a:pPr indent="0" marL="0">
              <a:buNone/>
            </a:pPr>
            <a:r>
              <a:rPr lang="en-US" sz="900" dirty="0">
                <a:solidFill>
                  <a:srgbClr val="94A3B8"/>
                </a:solidFill>
              </a:rPr>
              <a:t>FastMCP tool inventory · all 4 servers</a:t>
            </a:r>
            <a:endParaRPr lang="en-US" sz="900" dirty="0"/>
          </a:p>
        </p:txBody>
      </p:sp>
      <p:sp>
        <p:nvSpPr>
          <p:cNvPr id="21" name="Shape 19"/>
          <p:cNvSpPr/>
          <p:nvPr/>
        </p:nvSpPr>
        <p:spPr>
          <a:xfrm>
            <a:off x="411480" y="3255264"/>
            <a:ext cx="4206240" cy="475488"/>
          </a:xfrm>
          <a:prstGeom prst="rect">
            <a:avLst/>
          </a:prstGeom>
          <a:solidFill>
            <a:srgbClr val="0D1F3A"/>
          </a:solidFill>
          <a:ln w="6350">
            <a:solidFill>
              <a:srgbClr val="1E3A5F"/>
            </a:solidFill>
            <a:prstDash val="solid"/>
          </a:ln>
        </p:spPr>
      </p:sp>
      <p:sp>
        <p:nvSpPr>
          <p:cNvPr id="22" name="Shape 20"/>
          <p:cNvSpPr/>
          <p:nvPr/>
        </p:nvSpPr>
        <p:spPr>
          <a:xfrm>
            <a:off x="411480" y="3255264"/>
            <a:ext cx="45720" cy="475488"/>
          </a:xfrm>
          <a:prstGeom prst="rect">
            <a:avLst/>
          </a:prstGeom>
          <a:solidFill>
            <a:srgbClr val="06B6D4"/>
          </a:solidFill>
          <a:ln w="12700">
            <a:solidFill>
              <a:srgbClr val="06B6D4"/>
            </a:solidFill>
            <a:prstDash val="solid"/>
          </a:ln>
        </p:spPr>
      </p:sp>
      <p:sp>
        <p:nvSpPr>
          <p:cNvPr id="23" name="Text 21"/>
          <p:cNvSpPr/>
          <p:nvPr/>
        </p:nvSpPr>
        <p:spPr>
          <a:xfrm>
            <a:off x="539496" y="3300984"/>
            <a:ext cx="3977640" cy="201168"/>
          </a:xfrm>
          <a:prstGeom prst="rect">
            <a:avLst/>
          </a:prstGeom>
          <a:noFill/>
          <a:ln/>
        </p:spPr>
        <p:txBody>
          <a:bodyPr wrap="square" rtlCol="0" anchor="ctr"/>
          <a:lstStyle/>
          <a:p>
            <a:pPr indent="0" marL="0">
              <a:buNone/>
            </a:pPr>
            <a:r>
              <a:rPr lang="en-US" sz="1000" b="1" dirty="0">
                <a:solidFill>
                  <a:srgbClr val="06B6D4"/>
                </a:solidFill>
                <a:latin typeface="Consolas" pitchFamily="34" charset="0"/>
                <a:ea typeface="Consolas" pitchFamily="34" charset="-122"/>
                <a:cs typeface="Consolas" pitchFamily="34" charset="-120"/>
              </a:rPr>
              <a:t>api_documentation.md</a:t>
            </a:r>
            <a:endParaRPr lang="en-US" sz="1000" dirty="0"/>
          </a:p>
        </p:txBody>
      </p:sp>
      <p:sp>
        <p:nvSpPr>
          <p:cNvPr id="24" name="Text 22"/>
          <p:cNvSpPr/>
          <p:nvPr/>
        </p:nvSpPr>
        <p:spPr>
          <a:xfrm>
            <a:off x="539496" y="3502152"/>
            <a:ext cx="3977640" cy="182880"/>
          </a:xfrm>
          <a:prstGeom prst="rect">
            <a:avLst/>
          </a:prstGeom>
          <a:noFill/>
          <a:ln/>
        </p:spPr>
        <p:txBody>
          <a:bodyPr wrap="square" rtlCol="0" anchor="ctr"/>
          <a:lstStyle/>
          <a:p>
            <a:pPr indent="0" marL="0">
              <a:buNone/>
            </a:pPr>
            <a:r>
              <a:rPr lang="en-US" sz="900" dirty="0">
                <a:solidFill>
                  <a:srgbClr val="94A3B8"/>
                </a:solidFill>
              </a:rPr>
              <a:t>Auth flow · REST routes · request/response schemas</a:t>
            </a:r>
            <a:endParaRPr lang="en-US" sz="900" dirty="0"/>
          </a:p>
        </p:txBody>
      </p:sp>
      <p:sp>
        <p:nvSpPr>
          <p:cNvPr id="25" name="Shape 23"/>
          <p:cNvSpPr/>
          <p:nvPr/>
        </p:nvSpPr>
        <p:spPr>
          <a:xfrm>
            <a:off x="411480" y="3767328"/>
            <a:ext cx="4206240" cy="475488"/>
          </a:xfrm>
          <a:prstGeom prst="rect">
            <a:avLst/>
          </a:prstGeom>
          <a:solidFill>
            <a:srgbClr val="0A1628"/>
          </a:solidFill>
          <a:ln w="6350">
            <a:solidFill>
              <a:srgbClr val="1E3A5F"/>
            </a:solidFill>
            <a:prstDash val="solid"/>
          </a:ln>
        </p:spPr>
      </p:sp>
      <p:sp>
        <p:nvSpPr>
          <p:cNvPr id="26" name="Shape 24"/>
          <p:cNvSpPr/>
          <p:nvPr/>
        </p:nvSpPr>
        <p:spPr>
          <a:xfrm>
            <a:off x="411480" y="3767328"/>
            <a:ext cx="45720" cy="475488"/>
          </a:xfrm>
          <a:prstGeom prst="rect">
            <a:avLst/>
          </a:prstGeom>
          <a:solidFill>
            <a:srgbClr val="06B6D4"/>
          </a:solidFill>
          <a:ln w="12700">
            <a:solidFill>
              <a:srgbClr val="06B6D4"/>
            </a:solidFill>
            <a:prstDash val="solid"/>
          </a:ln>
        </p:spPr>
      </p:sp>
      <p:sp>
        <p:nvSpPr>
          <p:cNvPr id="27" name="Text 25"/>
          <p:cNvSpPr/>
          <p:nvPr/>
        </p:nvSpPr>
        <p:spPr>
          <a:xfrm>
            <a:off x="539496" y="3813048"/>
            <a:ext cx="3977640" cy="201168"/>
          </a:xfrm>
          <a:prstGeom prst="rect">
            <a:avLst/>
          </a:prstGeom>
          <a:noFill/>
          <a:ln/>
        </p:spPr>
        <p:txBody>
          <a:bodyPr wrap="square" rtlCol="0" anchor="ctr"/>
          <a:lstStyle/>
          <a:p>
            <a:pPr indent="0" marL="0">
              <a:buNone/>
            </a:pPr>
            <a:r>
              <a:rPr lang="en-US" sz="1000" b="1" dirty="0">
                <a:solidFill>
                  <a:srgbClr val="06B6D4"/>
                </a:solidFill>
                <a:latin typeface="Consolas" pitchFamily="34" charset="0"/>
                <a:ea typeface="Consolas" pitchFamily="34" charset="-122"/>
                <a:cs typeface="Consolas" pitchFamily="34" charset="-120"/>
              </a:rPr>
              <a:t>frontend-design.md</a:t>
            </a:r>
            <a:endParaRPr lang="en-US" sz="1000" dirty="0"/>
          </a:p>
        </p:txBody>
      </p:sp>
      <p:sp>
        <p:nvSpPr>
          <p:cNvPr id="28" name="Text 26"/>
          <p:cNvSpPr/>
          <p:nvPr/>
        </p:nvSpPr>
        <p:spPr>
          <a:xfrm>
            <a:off x="539496" y="4014216"/>
            <a:ext cx="3977640" cy="182880"/>
          </a:xfrm>
          <a:prstGeom prst="rect">
            <a:avLst/>
          </a:prstGeom>
          <a:noFill/>
          <a:ln/>
        </p:spPr>
        <p:txBody>
          <a:bodyPr wrap="square" rtlCol="0" anchor="ctr"/>
          <a:lstStyle/>
          <a:p>
            <a:pPr indent="0" marL="0">
              <a:buNone/>
            </a:pPr>
            <a:r>
              <a:rPr lang="en-US" sz="900" dirty="0">
                <a:solidFill>
                  <a:srgbClr val="94A3B8"/>
                </a:solidFill>
              </a:rPr>
              <a:t>20 routes · UI components · page specs</a:t>
            </a:r>
            <a:endParaRPr lang="en-US" sz="900" dirty="0"/>
          </a:p>
        </p:txBody>
      </p:sp>
      <p:sp>
        <p:nvSpPr>
          <p:cNvPr id="29" name="Shape 27"/>
          <p:cNvSpPr/>
          <p:nvPr/>
        </p:nvSpPr>
        <p:spPr>
          <a:xfrm>
            <a:off x="4800600" y="1207008"/>
            <a:ext cx="4206240" cy="475488"/>
          </a:xfrm>
          <a:prstGeom prst="rect">
            <a:avLst/>
          </a:prstGeom>
          <a:solidFill>
            <a:srgbClr val="0D1F3A"/>
          </a:solidFill>
          <a:ln w="6350">
            <a:solidFill>
              <a:srgbClr val="1E3A5F"/>
            </a:solidFill>
            <a:prstDash val="solid"/>
          </a:ln>
        </p:spPr>
      </p:sp>
      <p:sp>
        <p:nvSpPr>
          <p:cNvPr id="30" name="Shape 28"/>
          <p:cNvSpPr/>
          <p:nvPr/>
        </p:nvSpPr>
        <p:spPr>
          <a:xfrm>
            <a:off x="4800600" y="1207008"/>
            <a:ext cx="45720" cy="475488"/>
          </a:xfrm>
          <a:prstGeom prst="rect">
            <a:avLst/>
          </a:prstGeom>
          <a:solidFill>
            <a:srgbClr val="06B6D4"/>
          </a:solidFill>
          <a:ln w="12700">
            <a:solidFill>
              <a:srgbClr val="06B6D4"/>
            </a:solidFill>
            <a:prstDash val="solid"/>
          </a:ln>
        </p:spPr>
      </p:sp>
      <p:sp>
        <p:nvSpPr>
          <p:cNvPr id="31" name="Text 29"/>
          <p:cNvSpPr/>
          <p:nvPr/>
        </p:nvSpPr>
        <p:spPr>
          <a:xfrm>
            <a:off x="4928616" y="1252728"/>
            <a:ext cx="3977640" cy="201168"/>
          </a:xfrm>
          <a:prstGeom prst="rect">
            <a:avLst/>
          </a:prstGeom>
          <a:noFill/>
          <a:ln/>
        </p:spPr>
        <p:txBody>
          <a:bodyPr wrap="square" rtlCol="0" anchor="ctr"/>
          <a:lstStyle/>
          <a:p>
            <a:pPr indent="0" marL="0">
              <a:buNone/>
            </a:pPr>
            <a:r>
              <a:rPr lang="en-US" sz="1000" b="1" dirty="0">
                <a:solidFill>
                  <a:srgbClr val="06B6D4"/>
                </a:solidFill>
                <a:latin typeface="Consolas" pitchFamily="34" charset="0"/>
                <a:ea typeface="Consolas" pitchFamily="34" charset="-122"/>
                <a:cs typeface="Consolas" pitchFamily="34" charset="-120"/>
              </a:rPr>
              <a:t>prompt-refactoring-guide.md</a:t>
            </a:r>
            <a:endParaRPr lang="en-US" sz="1000" dirty="0"/>
          </a:p>
        </p:txBody>
      </p:sp>
      <p:sp>
        <p:nvSpPr>
          <p:cNvPr id="32" name="Text 30"/>
          <p:cNvSpPr/>
          <p:nvPr/>
        </p:nvSpPr>
        <p:spPr>
          <a:xfrm>
            <a:off x="4928616" y="1453896"/>
            <a:ext cx="3977640" cy="182880"/>
          </a:xfrm>
          <a:prstGeom prst="rect">
            <a:avLst/>
          </a:prstGeom>
          <a:noFill/>
          <a:ln/>
        </p:spPr>
        <p:txBody>
          <a:bodyPr wrap="square" rtlCol="0" anchor="ctr"/>
          <a:lstStyle/>
          <a:p>
            <a:pPr indent="0" marL="0">
              <a:buNone/>
            </a:pPr>
            <a:r>
              <a:rPr lang="en-US" sz="900" dirty="0">
                <a:solidFill>
                  <a:srgbClr val="94A3B8"/>
                </a:solidFill>
              </a:rPr>
              <a:t>system_prompts/ folder · dynamic loading</a:t>
            </a:r>
            <a:endParaRPr lang="en-US" sz="900" dirty="0"/>
          </a:p>
        </p:txBody>
      </p:sp>
      <p:sp>
        <p:nvSpPr>
          <p:cNvPr id="33" name="Shape 31"/>
          <p:cNvSpPr/>
          <p:nvPr/>
        </p:nvSpPr>
        <p:spPr>
          <a:xfrm>
            <a:off x="4800600" y="1719072"/>
            <a:ext cx="4206240" cy="475488"/>
          </a:xfrm>
          <a:prstGeom prst="rect">
            <a:avLst/>
          </a:prstGeom>
          <a:solidFill>
            <a:srgbClr val="0A1628"/>
          </a:solidFill>
          <a:ln w="6350">
            <a:solidFill>
              <a:srgbClr val="1E3A5F"/>
            </a:solidFill>
            <a:prstDash val="solid"/>
          </a:ln>
        </p:spPr>
      </p:sp>
      <p:sp>
        <p:nvSpPr>
          <p:cNvPr id="34" name="Shape 32"/>
          <p:cNvSpPr/>
          <p:nvPr/>
        </p:nvSpPr>
        <p:spPr>
          <a:xfrm>
            <a:off x="4800600" y="1719072"/>
            <a:ext cx="45720" cy="475488"/>
          </a:xfrm>
          <a:prstGeom prst="rect">
            <a:avLst/>
          </a:prstGeom>
          <a:solidFill>
            <a:srgbClr val="06B6D4"/>
          </a:solidFill>
          <a:ln w="12700">
            <a:solidFill>
              <a:srgbClr val="06B6D4"/>
            </a:solidFill>
            <a:prstDash val="solid"/>
          </a:ln>
        </p:spPr>
      </p:sp>
      <p:sp>
        <p:nvSpPr>
          <p:cNvPr id="35" name="Text 33"/>
          <p:cNvSpPr/>
          <p:nvPr/>
        </p:nvSpPr>
        <p:spPr>
          <a:xfrm>
            <a:off x="4928616" y="1764792"/>
            <a:ext cx="3977640" cy="201168"/>
          </a:xfrm>
          <a:prstGeom prst="rect">
            <a:avLst/>
          </a:prstGeom>
          <a:noFill/>
          <a:ln/>
        </p:spPr>
        <p:txBody>
          <a:bodyPr wrap="square" rtlCol="0" anchor="ctr"/>
          <a:lstStyle/>
          <a:p>
            <a:pPr indent="0" marL="0">
              <a:buNone/>
            </a:pPr>
            <a:r>
              <a:rPr lang="en-US" sz="1000" b="1" dirty="0">
                <a:solidFill>
                  <a:srgbClr val="06B6D4"/>
                </a:solidFill>
                <a:latin typeface="Consolas" pitchFamily="34" charset="0"/>
                <a:ea typeface="Consolas" pitchFamily="34" charset="-122"/>
                <a:cs typeface="Consolas" pitchFamily="34" charset="-120"/>
              </a:rPr>
              <a:t>gcp-cloud-run.md</a:t>
            </a:r>
            <a:endParaRPr lang="en-US" sz="1000" dirty="0"/>
          </a:p>
        </p:txBody>
      </p:sp>
      <p:sp>
        <p:nvSpPr>
          <p:cNvPr id="36" name="Text 34"/>
          <p:cNvSpPr/>
          <p:nvPr/>
        </p:nvSpPr>
        <p:spPr>
          <a:xfrm>
            <a:off x="4928616" y="1965960"/>
            <a:ext cx="3977640" cy="182880"/>
          </a:xfrm>
          <a:prstGeom prst="rect">
            <a:avLst/>
          </a:prstGeom>
          <a:noFill/>
          <a:ln/>
        </p:spPr>
        <p:txBody>
          <a:bodyPr wrap="square" rtlCol="0" anchor="ctr"/>
          <a:lstStyle/>
          <a:p>
            <a:pPr indent="0" marL="0">
              <a:buNone/>
            </a:pPr>
            <a:r>
              <a:rPr lang="en-US" sz="900" dirty="0">
                <a:solidFill>
                  <a:srgbClr val="94A3B8"/>
                </a:solidFill>
              </a:rPr>
              <a:t>GCP architecture · Terraform · deploy runbook</a:t>
            </a:r>
            <a:endParaRPr lang="en-US" sz="900" dirty="0"/>
          </a:p>
        </p:txBody>
      </p:sp>
      <p:sp>
        <p:nvSpPr>
          <p:cNvPr id="37" name="Shape 35"/>
          <p:cNvSpPr/>
          <p:nvPr/>
        </p:nvSpPr>
        <p:spPr>
          <a:xfrm>
            <a:off x="4800600" y="2231136"/>
            <a:ext cx="4206240" cy="475488"/>
          </a:xfrm>
          <a:prstGeom prst="rect">
            <a:avLst/>
          </a:prstGeom>
          <a:solidFill>
            <a:srgbClr val="0D1F3A"/>
          </a:solidFill>
          <a:ln w="6350">
            <a:solidFill>
              <a:srgbClr val="1E3A5F"/>
            </a:solidFill>
            <a:prstDash val="solid"/>
          </a:ln>
        </p:spPr>
      </p:sp>
      <p:sp>
        <p:nvSpPr>
          <p:cNvPr id="38" name="Shape 36"/>
          <p:cNvSpPr/>
          <p:nvPr/>
        </p:nvSpPr>
        <p:spPr>
          <a:xfrm>
            <a:off x="4800600" y="2231136"/>
            <a:ext cx="45720" cy="475488"/>
          </a:xfrm>
          <a:prstGeom prst="rect">
            <a:avLst/>
          </a:prstGeom>
          <a:solidFill>
            <a:srgbClr val="06B6D4"/>
          </a:solidFill>
          <a:ln w="12700">
            <a:solidFill>
              <a:srgbClr val="06B6D4"/>
            </a:solidFill>
            <a:prstDash val="solid"/>
          </a:ln>
        </p:spPr>
      </p:sp>
      <p:sp>
        <p:nvSpPr>
          <p:cNvPr id="39" name="Text 37"/>
          <p:cNvSpPr/>
          <p:nvPr/>
        </p:nvSpPr>
        <p:spPr>
          <a:xfrm>
            <a:off x="4928616" y="2276856"/>
            <a:ext cx="3977640" cy="201168"/>
          </a:xfrm>
          <a:prstGeom prst="rect">
            <a:avLst/>
          </a:prstGeom>
          <a:noFill/>
          <a:ln/>
        </p:spPr>
        <p:txBody>
          <a:bodyPr wrap="square" rtlCol="0" anchor="ctr"/>
          <a:lstStyle/>
          <a:p>
            <a:pPr indent="0" marL="0">
              <a:buNone/>
            </a:pPr>
            <a:r>
              <a:rPr lang="en-US" sz="1000" b="1" dirty="0">
                <a:solidFill>
                  <a:srgbClr val="06B6D4"/>
                </a:solidFill>
                <a:latin typeface="Consolas" pitchFamily="34" charset="0"/>
                <a:ea typeface="Consolas" pitchFamily="34" charset="-122"/>
                <a:cs typeface="Consolas" pitchFamily="34" charset="-120"/>
              </a:rPr>
              <a:t>tool-bug-fix.md</a:t>
            </a:r>
            <a:endParaRPr lang="en-US" sz="1000" dirty="0"/>
          </a:p>
        </p:txBody>
      </p:sp>
      <p:sp>
        <p:nvSpPr>
          <p:cNvPr id="40" name="Text 38"/>
          <p:cNvSpPr/>
          <p:nvPr/>
        </p:nvSpPr>
        <p:spPr>
          <a:xfrm>
            <a:off x="4928616" y="2478024"/>
            <a:ext cx="3977640" cy="182880"/>
          </a:xfrm>
          <a:prstGeom prst="rect">
            <a:avLst/>
          </a:prstGeom>
          <a:noFill/>
          <a:ln/>
        </p:spPr>
        <p:txBody>
          <a:bodyPr wrap="square" rtlCol="0" anchor="ctr"/>
          <a:lstStyle/>
          <a:p>
            <a:pPr indent="0" marL="0">
              <a:buNone/>
            </a:pPr>
            <a:r>
              <a:rPr lang="en-US" sz="900" dirty="0">
                <a:solidFill>
                  <a:srgbClr val="94A3B8"/>
                </a:solidFill>
              </a:rPr>
              <a:t>Tool Contract design · validation gate</a:t>
            </a:r>
            <a:endParaRPr lang="en-US" sz="900" dirty="0"/>
          </a:p>
        </p:txBody>
      </p:sp>
      <p:sp>
        <p:nvSpPr>
          <p:cNvPr id="41" name="Shape 39"/>
          <p:cNvSpPr/>
          <p:nvPr/>
        </p:nvSpPr>
        <p:spPr>
          <a:xfrm>
            <a:off x="4800600" y="2743200"/>
            <a:ext cx="4206240" cy="475488"/>
          </a:xfrm>
          <a:prstGeom prst="rect">
            <a:avLst/>
          </a:prstGeom>
          <a:solidFill>
            <a:srgbClr val="0A1628"/>
          </a:solidFill>
          <a:ln w="6350">
            <a:solidFill>
              <a:srgbClr val="1E3A5F"/>
            </a:solidFill>
            <a:prstDash val="solid"/>
          </a:ln>
        </p:spPr>
      </p:sp>
      <p:sp>
        <p:nvSpPr>
          <p:cNvPr id="42" name="Shape 40"/>
          <p:cNvSpPr/>
          <p:nvPr/>
        </p:nvSpPr>
        <p:spPr>
          <a:xfrm>
            <a:off x="4800600" y="2743200"/>
            <a:ext cx="45720" cy="475488"/>
          </a:xfrm>
          <a:prstGeom prst="rect">
            <a:avLst/>
          </a:prstGeom>
          <a:solidFill>
            <a:srgbClr val="06B6D4"/>
          </a:solidFill>
          <a:ln w="12700">
            <a:solidFill>
              <a:srgbClr val="06B6D4"/>
            </a:solidFill>
            <a:prstDash val="solid"/>
          </a:ln>
        </p:spPr>
      </p:sp>
      <p:sp>
        <p:nvSpPr>
          <p:cNvPr id="43" name="Text 41"/>
          <p:cNvSpPr/>
          <p:nvPr/>
        </p:nvSpPr>
        <p:spPr>
          <a:xfrm>
            <a:off x="4928616" y="2788920"/>
            <a:ext cx="3977640" cy="201168"/>
          </a:xfrm>
          <a:prstGeom prst="rect">
            <a:avLst/>
          </a:prstGeom>
          <a:noFill/>
          <a:ln/>
        </p:spPr>
        <p:txBody>
          <a:bodyPr wrap="square" rtlCol="0" anchor="ctr"/>
          <a:lstStyle/>
          <a:p>
            <a:pPr indent="0" marL="0">
              <a:buNone/>
            </a:pPr>
            <a:r>
              <a:rPr lang="en-US" sz="1000" b="1" dirty="0">
                <a:solidFill>
                  <a:srgbClr val="06B6D4"/>
                </a:solidFill>
                <a:latin typeface="Consolas" pitchFamily="34" charset="0"/>
                <a:ea typeface="Consolas" pitchFamily="34" charset="-122"/>
                <a:cs typeface="Consolas" pitchFamily="34" charset="-120"/>
              </a:rPr>
              <a:t>response-agent-design.md</a:t>
            </a:r>
            <a:endParaRPr lang="en-US" sz="1000" dirty="0"/>
          </a:p>
        </p:txBody>
      </p:sp>
      <p:sp>
        <p:nvSpPr>
          <p:cNvPr id="44" name="Text 42"/>
          <p:cNvSpPr/>
          <p:nvPr/>
        </p:nvSpPr>
        <p:spPr>
          <a:xfrm>
            <a:off x="4928616" y="2990088"/>
            <a:ext cx="3977640" cy="182880"/>
          </a:xfrm>
          <a:prstGeom prst="rect">
            <a:avLst/>
          </a:prstGeom>
          <a:noFill/>
          <a:ln/>
        </p:spPr>
        <p:txBody>
          <a:bodyPr wrap="square" rtlCol="0" anchor="ctr"/>
          <a:lstStyle/>
          <a:p>
            <a:pPr indent="0" marL="0">
              <a:buNone/>
            </a:pPr>
            <a:r>
              <a:rPr lang="en-US" sz="900" dirty="0">
                <a:solidFill>
                  <a:srgbClr val="94A3B8"/>
                </a:solidFill>
              </a:rPr>
              <a:t>ResponseAgent rationale · updated agent flow</a:t>
            </a:r>
            <a:endParaRPr lang="en-US" sz="900" dirty="0"/>
          </a:p>
        </p:txBody>
      </p:sp>
      <p:sp>
        <p:nvSpPr>
          <p:cNvPr id="45" name="Shape 43"/>
          <p:cNvSpPr/>
          <p:nvPr/>
        </p:nvSpPr>
        <p:spPr>
          <a:xfrm>
            <a:off x="4800600" y="3255264"/>
            <a:ext cx="4206240" cy="475488"/>
          </a:xfrm>
          <a:prstGeom prst="rect">
            <a:avLst/>
          </a:prstGeom>
          <a:solidFill>
            <a:srgbClr val="0D1F3A"/>
          </a:solidFill>
          <a:ln w="6350">
            <a:solidFill>
              <a:srgbClr val="1E3A5F"/>
            </a:solidFill>
            <a:prstDash val="solid"/>
          </a:ln>
        </p:spPr>
      </p:sp>
      <p:sp>
        <p:nvSpPr>
          <p:cNvPr id="46" name="Shape 44"/>
          <p:cNvSpPr/>
          <p:nvPr/>
        </p:nvSpPr>
        <p:spPr>
          <a:xfrm>
            <a:off x="4800600" y="3255264"/>
            <a:ext cx="45720" cy="475488"/>
          </a:xfrm>
          <a:prstGeom prst="rect">
            <a:avLst/>
          </a:prstGeom>
          <a:solidFill>
            <a:srgbClr val="06B6D4"/>
          </a:solidFill>
          <a:ln w="12700">
            <a:solidFill>
              <a:srgbClr val="06B6D4"/>
            </a:solidFill>
            <a:prstDash val="solid"/>
          </a:ln>
        </p:spPr>
      </p:sp>
      <p:sp>
        <p:nvSpPr>
          <p:cNvPr id="47" name="Text 45"/>
          <p:cNvSpPr/>
          <p:nvPr/>
        </p:nvSpPr>
        <p:spPr>
          <a:xfrm>
            <a:off x="4928616" y="3300984"/>
            <a:ext cx="3977640" cy="201168"/>
          </a:xfrm>
          <a:prstGeom prst="rect">
            <a:avLst/>
          </a:prstGeom>
          <a:noFill/>
          <a:ln/>
        </p:spPr>
        <p:txBody>
          <a:bodyPr wrap="square" rtlCol="0" anchor="ctr"/>
          <a:lstStyle/>
          <a:p>
            <a:pPr indent="0" marL="0">
              <a:buNone/>
            </a:pPr>
            <a:r>
              <a:rPr lang="en-US" sz="1000" b="1" dirty="0">
                <a:solidFill>
                  <a:srgbClr val="06B6D4"/>
                </a:solidFill>
                <a:latin typeface="Consolas" pitchFamily="34" charset="0"/>
                <a:ea typeface="Consolas" pitchFamily="34" charset="-122"/>
                <a:cs typeface="Consolas" pitchFamily="34" charset="-120"/>
              </a:rPr>
              <a:t>recent-updates-summary.md</a:t>
            </a:r>
            <a:endParaRPr lang="en-US" sz="1000" dirty="0"/>
          </a:p>
        </p:txBody>
      </p:sp>
      <p:sp>
        <p:nvSpPr>
          <p:cNvPr id="48" name="Text 46"/>
          <p:cNvSpPr/>
          <p:nvPr/>
        </p:nvSpPr>
        <p:spPr>
          <a:xfrm>
            <a:off x="4928616" y="3502152"/>
            <a:ext cx="3977640" cy="182880"/>
          </a:xfrm>
          <a:prstGeom prst="rect">
            <a:avLst/>
          </a:prstGeom>
          <a:noFill/>
          <a:ln/>
        </p:spPr>
        <p:txBody>
          <a:bodyPr wrap="square" rtlCol="0" anchor="ctr"/>
          <a:lstStyle/>
          <a:p>
            <a:pPr indent="0" marL="0">
              <a:buNone/>
            </a:pPr>
            <a:r>
              <a:rPr lang="en-US" sz="900" dirty="0">
                <a:solidFill>
                  <a:srgbClr val="94A3B8"/>
                </a:solidFill>
              </a:rPr>
              <a:t>Backend refactoring · GCP notes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Personal AI Agent — Technical Overview</dc:title>
  <dc:subject>PptxGenJS Presentation</dc:subject>
  <dc:creator>PptxGenJS</dc:creator>
  <cp:lastModifiedBy>PptxGenJS</cp:lastModifiedBy>
  <cp:revision>1</cp:revision>
  <dcterms:created xsi:type="dcterms:W3CDTF">2026-04-27T14:17:33Z</dcterms:created>
  <dcterms:modified xsi:type="dcterms:W3CDTF">2026-04-27T14:17:33Z</dcterms:modified>
</cp:coreProperties>
</file>